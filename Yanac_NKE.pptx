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5"/>
  </p:notesMasterIdLst>
  <p:sldIdLst>
    <p:sldId id="256" r:id="rId2"/>
    <p:sldId id="257" r:id="rId3"/>
    <p:sldId id="264" r:id="rId4"/>
    <p:sldId id="265" r:id="rId5"/>
    <p:sldId id="266" r:id="rId6"/>
    <p:sldId id="267" r:id="rId7"/>
    <p:sldId id="268" r:id="rId8"/>
    <p:sldId id="273" r:id="rId9"/>
    <p:sldId id="274" r:id="rId10"/>
    <p:sldId id="271" r:id="rId11"/>
    <p:sldId id="269" r:id="rId12"/>
    <p:sldId id="272" r:id="rId13"/>
    <p:sldId id="270"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F5A"/>
    <a:srgbClr val="F78D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968" autoAdjust="0"/>
  </p:normalViewPr>
  <p:slideViewPr>
    <p:cSldViewPr snapToGrid="0" showGuides="1">
      <p:cViewPr varScale="1">
        <p:scale>
          <a:sx n="123" d="100"/>
          <a:sy n="123" d="100"/>
        </p:scale>
        <p:origin x="1662" y="9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Kulcsszavak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Oroszország</c:v>
                </c:pt>
                <c:pt idx="1">
                  <c:v>Kína</c:v>
                </c:pt>
                <c:pt idx="2">
                  <c:v>Ransomware</c:v>
                </c:pt>
                <c:pt idx="3">
                  <c:v>AI</c:v>
                </c:pt>
                <c:pt idx="4">
                  <c:v>USA</c:v>
                </c:pt>
              </c:strCache>
            </c:strRef>
          </c:cat>
          <c:val>
            <c:numRef>
              <c:f>Sheet1!$B$1:$B$5</c:f>
              <c:numCache>
                <c:formatCode>General</c:formatCode>
                <c:ptCount val="5"/>
                <c:pt idx="0">
                  <c:v>232</c:v>
                </c:pt>
                <c:pt idx="1">
                  <c:v>223</c:v>
                </c:pt>
                <c:pt idx="2">
                  <c:v>177</c:v>
                </c:pt>
                <c:pt idx="3">
                  <c:v>177</c:v>
                </c:pt>
                <c:pt idx="4">
                  <c:v>128</c:v>
                </c:pt>
              </c:numCache>
            </c:numRef>
          </c:val>
          <c:extLst>
            <c:ext xmlns:c16="http://schemas.microsoft.com/office/drawing/2014/chart" uri="{C3380CC4-5D6E-409C-BE32-E72D297353CC}">
              <c16:uniqueId val="{00000000-51BA-41DC-925D-19F9741450BB}"/>
            </c:ext>
          </c:extLst>
        </c:ser>
        <c:dLbls>
          <c:showLegendKey val="0"/>
          <c:showVal val="0"/>
          <c:showCatName val="0"/>
          <c:showSerName val="0"/>
          <c:showPercent val="0"/>
          <c:showBubbleSize val="0"/>
        </c:dLbls>
        <c:gapWidth val="219"/>
        <c:overlap val="-27"/>
        <c:axId val="909430479"/>
        <c:axId val="909441039"/>
      </c:barChart>
      <c:catAx>
        <c:axId val="90943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41039"/>
        <c:crosses val="autoZero"/>
        <c:auto val="1"/>
        <c:lblAlgn val="ctr"/>
        <c:lblOffset val="100"/>
        <c:noMultiLvlLbl val="0"/>
      </c:catAx>
      <c:valAx>
        <c:axId val="90944103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943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solidFill>
        <a:schemeClr val="tx1">
          <a:lumMod val="15000"/>
          <a:lumOff val="85000"/>
        </a:schemeClr>
      </a:solidFill>
      <a:roun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APT Csoportok</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Sheet1!$A$38:$A$42</c:f>
              <c:strCache>
                <c:ptCount val="5"/>
                <c:pt idx="0">
                  <c:v>APT28</c:v>
                </c:pt>
                <c:pt idx="1">
                  <c:v>APT43</c:v>
                </c:pt>
                <c:pt idx="2">
                  <c:v>APT29</c:v>
                </c:pt>
                <c:pt idx="3">
                  <c:v>APT41</c:v>
                </c:pt>
                <c:pt idx="4">
                  <c:v>APT31</c:v>
                </c:pt>
              </c:strCache>
            </c:strRef>
          </c:cat>
          <c:val>
            <c:numRef>
              <c:f>Sheet1!$B$38:$B$42</c:f>
              <c:numCache>
                <c:formatCode>General</c:formatCode>
                <c:ptCount val="5"/>
                <c:pt idx="0">
                  <c:v>52</c:v>
                </c:pt>
                <c:pt idx="1">
                  <c:v>26</c:v>
                </c:pt>
                <c:pt idx="2">
                  <c:v>24</c:v>
                </c:pt>
                <c:pt idx="3">
                  <c:v>14</c:v>
                </c:pt>
                <c:pt idx="4">
                  <c:v>9</c:v>
                </c:pt>
              </c:numCache>
            </c:numRef>
          </c:val>
          <c:extLst>
            <c:ext xmlns:c16="http://schemas.microsoft.com/office/drawing/2014/chart" uri="{C3380CC4-5D6E-409C-BE32-E72D297353CC}">
              <c16:uniqueId val="{00000000-EC72-49A6-AFD1-E5493E9F143E}"/>
            </c:ext>
          </c:extLst>
        </c:ser>
        <c:dLbls>
          <c:showLegendKey val="0"/>
          <c:showVal val="0"/>
          <c:showCatName val="0"/>
          <c:showSerName val="0"/>
          <c:showPercent val="0"/>
          <c:showBubbleSize val="0"/>
        </c:dLbls>
        <c:gapWidth val="219"/>
        <c:overlap val="-27"/>
        <c:axId val="793182063"/>
        <c:axId val="793179663"/>
      </c:barChart>
      <c:catAx>
        <c:axId val="7931820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79663"/>
        <c:crosses val="autoZero"/>
        <c:auto val="1"/>
        <c:lblAlgn val="ctr"/>
        <c:lblOffset val="100"/>
        <c:noMultiLvlLbl val="0"/>
      </c:catAx>
      <c:valAx>
        <c:axId val="79317966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318206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Legolvasottab</a:t>
            </a:r>
            <a:r>
              <a:rPr lang="hu-HU" baseline="0"/>
              <a:t> cikkek</a:t>
            </a:r>
            <a:endParaRPr lang="en-GB"/>
          </a:p>
        </c:rich>
      </c:tx>
      <c:layout>
        <c:manualLayout>
          <c:xMode val="edge"/>
          <c:yMode val="edge"/>
          <c:x val="0"/>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Sheet1!$A$1:$A$5</c:f>
              <c:strCache>
                <c:ptCount val="5"/>
                <c:pt idx="0">
                  <c:v>Editors’ Pick</c:v>
                </c:pt>
                <c:pt idx="1">
                  <c:v>Kínai offenzív kiberképzésekkel kapcsolatos adatszivárgás</c:v>
                </c:pt>
                <c:pt idx="2">
                  <c:v>Orosz kémhálózat Argentínában</c:v>
                </c:pt>
                <c:pt idx="3">
                  <c:v>70 000 kormányzati ID kompromittálódott a Discord incidensben</c:v>
                </c:pt>
                <c:pt idx="4">
                  <c:v>Elindult az Európai Sérülékenységi Adatbázis (EUVD)</c:v>
                </c:pt>
              </c:strCache>
            </c:strRef>
          </c:cat>
          <c:val>
            <c:numRef>
              <c:f>Sheet1!$B$1:$B$5</c:f>
              <c:numCache>
                <c:formatCode>General</c:formatCode>
                <c:ptCount val="5"/>
                <c:pt idx="0">
                  <c:v>618</c:v>
                </c:pt>
                <c:pt idx="1">
                  <c:v>329</c:v>
                </c:pt>
                <c:pt idx="2">
                  <c:v>237</c:v>
                </c:pt>
                <c:pt idx="3">
                  <c:v>214</c:v>
                </c:pt>
                <c:pt idx="4">
                  <c:v>147</c:v>
                </c:pt>
              </c:numCache>
            </c:numRef>
          </c:val>
          <c:extLst>
            <c:ext xmlns:c16="http://schemas.microsoft.com/office/drawing/2014/chart" uri="{C3380CC4-5D6E-409C-BE32-E72D297353CC}">
              <c16:uniqueId val="{00000000-1757-4512-B002-1D4FCF1C5846}"/>
            </c:ext>
          </c:extLst>
        </c:ser>
        <c:dLbls>
          <c:showLegendKey val="0"/>
          <c:showVal val="0"/>
          <c:showCatName val="0"/>
          <c:showSerName val="0"/>
          <c:showPercent val="0"/>
          <c:showBubbleSize val="0"/>
        </c:dLbls>
        <c:gapWidth val="219"/>
        <c:overlap val="-27"/>
        <c:axId val="335860479"/>
        <c:axId val="335854719"/>
      </c:barChart>
      <c:catAx>
        <c:axId val="3358604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54719"/>
        <c:crosses val="autoZero"/>
        <c:auto val="1"/>
        <c:lblAlgn val="ctr"/>
        <c:lblOffset val="100"/>
        <c:noMultiLvlLbl val="0"/>
      </c:catAx>
      <c:valAx>
        <c:axId val="3358547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358604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hu-HU"/>
              <a:t>Aggregált tartalom</a:t>
            </a:r>
            <a:endParaRPr lang="en-GB"/>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GB"/>
        </a:p>
      </c:txPr>
    </c:title>
    <c:autoTitleDeleted val="0"/>
    <c:plotArea>
      <c:layout/>
      <c:barChart>
        <c:barDir val="col"/>
        <c:grouping val="clustered"/>
        <c:varyColors val="0"/>
        <c:ser>
          <c:idx val="0"/>
          <c:order val="0"/>
          <c:spPr>
            <a:solidFill>
              <a:srgbClr val="FF3F5A"/>
            </a:solidFill>
            <a:ln>
              <a:noFill/>
            </a:ln>
            <a:effectLst/>
          </c:spPr>
          <c:invertIfNegative val="0"/>
          <c:cat>
            <c:strRef>
              <c:f>Sheet1!$A$30:$A$32</c:f>
              <c:strCache>
                <c:ptCount val="3"/>
                <c:pt idx="0">
                  <c:v>Security</c:v>
                </c:pt>
                <c:pt idx="1">
                  <c:v>Vulns</c:v>
                </c:pt>
                <c:pt idx="2">
                  <c:v>News</c:v>
                </c:pt>
              </c:strCache>
            </c:strRef>
          </c:cat>
          <c:val>
            <c:numRef>
              <c:f>Sheet1!$B$30:$B$32</c:f>
              <c:numCache>
                <c:formatCode>General</c:formatCode>
                <c:ptCount val="3"/>
                <c:pt idx="0">
                  <c:v>8822</c:v>
                </c:pt>
                <c:pt idx="1">
                  <c:v>8675</c:v>
                </c:pt>
                <c:pt idx="2">
                  <c:v>6288</c:v>
                </c:pt>
              </c:numCache>
            </c:numRef>
          </c:val>
          <c:extLst>
            <c:ext xmlns:c16="http://schemas.microsoft.com/office/drawing/2014/chart" uri="{C3380CC4-5D6E-409C-BE32-E72D297353CC}">
              <c16:uniqueId val="{00000000-1B2A-40D4-8A48-D98228031ECB}"/>
            </c:ext>
          </c:extLst>
        </c:ser>
        <c:dLbls>
          <c:showLegendKey val="0"/>
          <c:showVal val="0"/>
          <c:showCatName val="0"/>
          <c:showSerName val="0"/>
          <c:showPercent val="0"/>
          <c:showBubbleSize val="0"/>
        </c:dLbls>
        <c:gapWidth val="219"/>
        <c:overlap val="-27"/>
        <c:axId val="519679343"/>
        <c:axId val="519682223"/>
      </c:barChart>
      <c:catAx>
        <c:axId val="51967934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82223"/>
        <c:crosses val="autoZero"/>
        <c:auto val="1"/>
        <c:lblAlgn val="ctr"/>
        <c:lblOffset val="100"/>
        <c:noMultiLvlLbl val="0"/>
      </c:catAx>
      <c:valAx>
        <c:axId val="5196822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1967934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7AC11F-7089-49B3-92D4-B9D8BF3AAAA9}" type="datetimeFigureOut">
              <a:rPr lang="hu-HU" smtClean="0"/>
              <a:t>2026. 04. 17.</a:t>
            </a:fld>
            <a:endParaRPr lang="hu-H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hu-H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4E179E-53CC-44C3-B266-BA8C753902EB}" type="slidenum">
              <a:rPr lang="hu-HU" smtClean="0"/>
              <a:t>‹#›</a:t>
            </a:fld>
            <a:endParaRPr lang="hu-HU"/>
          </a:p>
        </p:txBody>
      </p:sp>
    </p:spTree>
    <p:extLst>
      <p:ext uri="{BB962C8B-B14F-4D97-AF65-F5344CB8AC3E}">
        <p14:creationId xmlns:p14="http://schemas.microsoft.com/office/powerpoint/2010/main" val="394274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Y: https://www.freepik.com/premium-photo/fire-alphabet-letter-y-isolated-black-background_23683441.htm</a:t>
            </a:r>
          </a:p>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1</a:t>
            </a:fld>
            <a:endParaRPr lang="hu-HU"/>
          </a:p>
        </p:txBody>
      </p:sp>
    </p:spTree>
    <p:extLst>
      <p:ext uri="{BB962C8B-B14F-4D97-AF65-F5344CB8AC3E}">
        <p14:creationId xmlns:p14="http://schemas.microsoft.com/office/powerpoint/2010/main" val="2963355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b="1" dirty="0"/>
          </a:p>
          <a:p>
            <a:r>
              <a:rPr lang="hu-HU" b="1" dirty="0"/>
              <a:t>https://hackeslangos.show/</a:t>
            </a:r>
          </a:p>
          <a:p>
            <a:r>
              <a:rPr lang="hu-HU" b="1" dirty="0"/>
              <a:t>HnL321 - Kiégés - Beszélgetés </a:t>
            </a:r>
            <a:r>
              <a:rPr lang="hu-HU" b="1" dirty="0" err="1"/>
              <a:t>Krasznay</a:t>
            </a:r>
            <a:r>
              <a:rPr lang="hu-HU" b="1" dirty="0"/>
              <a:t> Csabával</a:t>
            </a:r>
          </a:p>
          <a:p>
            <a:r>
              <a:rPr lang="hu-HU" b="1" dirty="0"/>
              <a:t>2024-03-15</a:t>
            </a:r>
          </a:p>
          <a:p>
            <a:endParaRPr lang="hu-HU" b="1" dirty="0"/>
          </a:p>
          <a:p>
            <a:r>
              <a:rPr lang="hu-HU" b="1" dirty="0"/>
              <a:t>"Egy </a:t>
            </a:r>
            <a:r>
              <a:rPr lang="hu-HU" b="1" dirty="0" err="1"/>
              <a:t>securityban</a:t>
            </a:r>
            <a:r>
              <a:rPr lang="hu-HU" b="1" dirty="0"/>
              <a:t> nagyon, nagyon, nagyon fontos, hogy ami ma történt [...] arról beszéljünk. Mert az a legértékesebb szerintem."</a:t>
            </a:r>
          </a:p>
          <a:p>
            <a:r>
              <a:rPr lang="hu-HU" b="1" dirty="0"/>
              <a:t>30:57</a:t>
            </a:r>
          </a:p>
          <a:p>
            <a:r>
              <a:rPr lang="hu-HU" b="1" dirty="0"/>
              <a:t>"Például ez is hiányzik a magyar hírmédiából. [...] a </a:t>
            </a:r>
            <a:r>
              <a:rPr lang="hu-HU" b="1" dirty="0" err="1"/>
              <a:t>cybersecurity</a:t>
            </a:r>
            <a:r>
              <a:rPr lang="hu-HU" b="1" dirty="0"/>
              <a:t>-s hírek, amik megjelennek, azok vagy nagyon le vannak maradva, vagy nagyon magas szintűek, vagy egyszerűen nem azt válogatják ki, ami szerintem igazából érdekes. [...] nincs egy normális IT-</a:t>
            </a:r>
            <a:r>
              <a:rPr lang="hu-HU" b="1" dirty="0" err="1"/>
              <a:t>val</a:t>
            </a:r>
            <a:r>
              <a:rPr lang="hu-HU" b="1" dirty="0"/>
              <a:t> foglalkozó magyar nyelvű portál"</a:t>
            </a:r>
          </a:p>
          <a:p>
            <a:r>
              <a:rPr lang="hu-HU" b="1" dirty="0"/>
              <a:t>32:02</a:t>
            </a:r>
          </a:p>
          <a:p>
            <a:endParaRPr lang="hu-HU" b="1" dirty="0"/>
          </a:p>
          <a:p>
            <a:r>
              <a:rPr lang="hu-HU" b="1" dirty="0"/>
              <a:t>------------------</a:t>
            </a:r>
          </a:p>
          <a:p>
            <a:r>
              <a:rPr lang="hu-HU" b="1" dirty="0"/>
              <a:t>Kémkedett a Facebook a Snapchat felhasználói után</a:t>
            </a:r>
          </a:p>
          <a:p>
            <a:r>
              <a:rPr lang="hu-HU" b="1" dirty="0"/>
              <a:t>HWSW: 2024. MÁRCIUS 27. 11:40</a:t>
            </a:r>
          </a:p>
          <a:p>
            <a:r>
              <a:rPr lang="hu-HU" b="1" dirty="0"/>
              <a:t>https://www.hwsw.hu/hirek/67456/meta-facebook-snapchat-forgalom-halozat-titkositas-adatgyujtes-ghostbusters.html</a:t>
            </a:r>
          </a:p>
          <a:p>
            <a:r>
              <a:rPr lang="hu-HU" b="1" dirty="0"/>
              <a:t>A Facebook más alkalmazások forgalma után is kémkedik</a:t>
            </a:r>
          </a:p>
          <a:p>
            <a:r>
              <a:rPr lang="hu-HU" b="1" dirty="0" err="1"/>
              <a:t>Yanac</a:t>
            </a:r>
            <a:r>
              <a:rPr lang="hu-HU" b="1" dirty="0"/>
              <a:t>: 2024/03/27 </a:t>
            </a:r>
            <a:r>
              <a:rPr lang="hu-HU" b="1" dirty="0" err="1"/>
              <a:t>at</a:t>
            </a:r>
            <a:r>
              <a:rPr lang="hu-HU" b="1" dirty="0"/>
              <a:t> 8:00 </a:t>
            </a:r>
            <a:r>
              <a:rPr lang="hu-HU" b="1" dirty="0" err="1"/>
              <a:t>pm</a:t>
            </a:r>
            <a:endParaRPr lang="hu-HU" b="1" dirty="0"/>
          </a:p>
          <a:p>
            <a:r>
              <a:rPr lang="hu-HU" b="1" dirty="0"/>
              <a:t>https://yanac.hu/2024/03/27/a-facebook-mas-alkalmazasok-forgalma-utan-is-kemkedik/</a:t>
            </a:r>
          </a:p>
          <a:p>
            <a:r>
              <a:rPr lang="hu-HU" b="1" dirty="0"/>
              <a:t>------------------</a:t>
            </a:r>
          </a:p>
          <a:p>
            <a:r>
              <a:rPr lang="hu-HU" b="1" dirty="0"/>
              <a:t>Csalóoldalakat terjeszt a Google MI-vel támogatott keresője</a:t>
            </a:r>
          </a:p>
          <a:p>
            <a:r>
              <a:rPr lang="hu-HU" b="1" dirty="0"/>
              <a:t>HWSW: 2024. MÁRCIUS 26. 14:22</a:t>
            </a:r>
          </a:p>
          <a:p>
            <a:r>
              <a:rPr lang="hu-HU" b="1" dirty="0"/>
              <a:t>https://www.hwsw.hu/hirek/67452/google-searchgenerativeexperience-sge-scam-csalas.html</a:t>
            </a:r>
          </a:p>
          <a:p>
            <a:r>
              <a:rPr lang="hu-HU" b="1" dirty="0"/>
              <a:t>A Google új, MI támogatott keresője káros oldalakat reklámoz</a:t>
            </a:r>
          </a:p>
          <a:p>
            <a:r>
              <a:rPr lang="hu-HU" b="1" dirty="0" err="1"/>
              <a:t>Yanac</a:t>
            </a:r>
            <a:r>
              <a:rPr lang="hu-HU" b="1" dirty="0"/>
              <a:t>: 2024/03/25 </a:t>
            </a:r>
            <a:r>
              <a:rPr lang="hu-HU" b="1" dirty="0" err="1"/>
              <a:t>at</a:t>
            </a:r>
            <a:r>
              <a:rPr lang="hu-HU" b="1" dirty="0"/>
              <a:t> 4:57 </a:t>
            </a:r>
            <a:r>
              <a:rPr lang="hu-HU" b="1" dirty="0" err="1"/>
              <a:t>pm</a:t>
            </a:r>
            <a:endParaRPr lang="hu-HU" b="1" dirty="0"/>
          </a:p>
          <a:p>
            <a:r>
              <a:rPr lang="hu-HU" b="1" dirty="0"/>
              <a:t>------------------</a:t>
            </a:r>
          </a:p>
          <a:p>
            <a:r>
              <a:rPr lang="hu-HU" b="1" dirty="0"/>
              <a:t>Facebookon taroltak a </a:t>
            </a:r>
            <a:r>
              <a:rPr lang="hu-HU" b="1" dirty="0" err="1"/>
              <a:t>Midjourney</a:t>
            </a:r>
            <a:r>
              <a:rPr lang="hu-HU" b="1" dirty="0"/>
              <a:t> nevével visszaélő csalók</a:t>
            </a:r>
          </a:p>
          <a:p>
            <a:r>
              <a:rPr lang="hu-HU" b="1" dirty="0"/>
              <a:t>HWSW: 2024. ÁPRILIS 9. 13:00</a:t>
            </a:r>
          </a:p>
          <a:p>
            <a:r>
              <a:rPr lang="hu-HU" b="1" dirty="0"/>
              <a:t>https://www.hwsw.hu/hirek/67496/midjourney-facebook-kamu-hirdetesek-atveres.html</a:t>
            </a:r>
          </a:p>
          <a:p>
            <a:r>
              <a:rPr lang="hu-HU" b="1" dirty="0"/>
              <a:t>Több hamis </a:t>
            </a:r>
            <a:r>
              <a:rPr lang="hu-HU" b="1" dirty="0" err="1"/>
              <a:t>MidJourney</a:t>
            </a:r>
            <a:r>
              <a:rPr lang="hu-HU" b="1" dirty="0"/>
              <a:t> MI oldal a Facebookon 1,2 millió embernek hirdetett </a:t>
            </a:r>
            <a:r>
              <a:rPr lang="hu-HU" b="1" dirty="0" err="1"/>
              <a:t>malware</a:t>
            </a:r>
            <a:r>
              <a:rPr lang="hu-HU" b="1" dirty="0"/>
              <a:t>-t</a:t>
            </a:r>
          </a:p>
          <a:p>
            <a:r>
              <a:rPr lang="hu-HU" b="1" dirty="0" err="1"/>
              <a:t>Yanac</a:t>
            </a:r>
            <a:r>
              <a:rPr lang="hu-HU" b="1" dirty="0"/>
              <a:t>: 2024/04/08 </a:t>
            </a:r>
            <a:r>
              <a:rPr lang="hu-HU" b="1" dirty="0" err="1"/>
              <a:t>at</a:t>
            </a:r>
            <a:r>
              <a:rPr lang="hu-HU" b="1" dirty="0"/>
              <a:t> 18:56</a:t>
            </a:r>
          </a:p>
          <a:p>
            <a:r>
              <a:rPr lang="hu-HU" b="1" dirty="0"/>
              <a:t>------------------</a:t>
            </a:r>
          </a:p>
          <a:p>
            <a:r>
              <a:rPr lang="hu-HU" b="1" dirty="0"/>
              <a:t>Feltörték a webes biztonságot oktató OWASP szerverét</a:t>
            </a:r>
          </a:p>
          <a:p>
            <a:r>
              <a:rPr lang="hu-HU" b="1" dirty="0"/>
              <a:t>prog.hu 2024.04.04.</a:t>
            </a:r>
          </a:p>
          <a:p>
            <a:r>
              <a:rPr lang="hu-HU" b="1" dirty="0"/>
              <a:t>https://prog.hu/hirek/6658/owasp-hack-oneletrajz-lopas-adatszivargas-web-biztonsag</a:t>
            </a:r>
          </a:p>
          <a:p>
            <a:r>
              <a:rPr lang="hu-HU" b="1" dirty="0"/>
              <a:t>OWASP adatszivárgás (2006 – 2014)</a:t>
            </a:r>
          </a:p>
          <a:p>
            <a:r>
              <a:rPr lang="hu-HU" b="1" dirty="0" err="1"/>
              <a:t>Yanac</a:t>
            </a:r>
            <a:r>
              <a:rPr lang="hu-HU" b="1" dirty="0"/>
              <a:t>: 2024/04/04 </a:t>
            </a:r>
            <a:r>
              <a:rPr lang="hu-HU" b="1" dirty="0" err="1"/>
              <a:t>at</a:t>
            </a:r>
            <a:r>
              <a:rPr lang="hu-HU" b="1" dirty="0"/>
              <a:t> 19:13</a:t>
            </a:r>
          </a:p>
          <a:p>
            <a:r>
              <a:rPr lang="hu-HU" b="1" dirty="0"/>
              <a:t>------------------</a:t>
            </a:r>
          </a:p>
        </p:txBody>
      </p:sp>
      <p:sp>
        <p:nvSpPr>
          <p:cNvPr id="4" name="Slide Number Placeholder 3"/>
          <p:cNvSpPr>
            <a:spLocks noGrp="1"/>
          </p:cNvSpPr>
          <p:nvPr>
            <p:ph type="sldNum" sz="quarter" idx="5"/>
          </p:nvPr>
        </p:nvSpPr>
        <p:spPr/>
        <p:txBody>
          <a:bodyPr/>
          <a:lstStyle/>
          <a:p>
            <a:fld id="{F74E179E-53CC-44C3-B266-BA8C753902EB}" type="slidenum">
              <a:rPr lang="hu-HU" smtClean="0"/>
              <a:t>4</a:t>
            </a:fld>
            <a:endParaRPr lang="hu-HU"/>
          </a:p>
        </p:txBody>
      </p:sp>
    </p:spTree>
    <p:extLst>
      <p:ext uri="{BB962C8B-B14F-4D97-AF65-F5344CB8AC3E}">
        <p14:creationId xmlns:p14="http://schemas.microsoft.com/office/powerpoint/2010/main" val="14615624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5</a:t>
            </a:fld>
            <a:endParaRPr lang="hu-HU"/>
          </a:p>
        </p:txBody>
      </p:sp>
    </p:spTree>
    <p:extLst>
      <p:ext uri="{BB962C8B-B14F-4D97-AF65-F5344CB8AC3E}">
        <p14:creationId xmlns:p14="http://schemas.microsoft.com/office/powerpoint/2010/main" val="2543083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u-HU" dirty="0"/>
          </a:p>
        </p:txBody>
      </p:sp>
      <p:sp>
        <p:nvSpPr>
          <p:cNvPr id="4" name="Slide Number Placeholder 3"/>
          <p:cNvSpPr>
            <a:spLocks noGrp="1"/>
          </p:cNvSpPr>
          <p:nvPr>
            <p:ph type="sldNum" sz="quarter" idx="5"/>
          </p:nvPr>
        </p:nvSpPr>
        <p:spPr/>
        <p:txBody>
          <a:bodyPr/>
          <a:lstStyle/>
          <a:p>
            <a:fld id="{F74E179E-53CC-44C3-B266-BA8C753902EB}" type="slidenum">
              <a:rPr lang="hu-HU" smtClean="0"/>
              <a:t>6</a:t>
            </a:fld>
            <a:endParaRPr lang="hu-HU"/>
          </a:p>
        </p:txBody>
      </p:sp>
    </p:spTree>
    <p:extLst>
      <p:ext uri="{BB962C8B-B14F-4D97-AF65-F5344CB8AC3E}">
        <p14:creationId xmlns:p14="http://schemas.microsoft.com/office/powerpoint/2010/main" val="4189755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7</a:t>
            </a:fld>
            <a:endParaRPr lang="hu-HU"/>
          </a:p>
        </p:txBody>
      </p:sp>
    </p:spTree>
    <p:extLst>
      <p:ext uri="{BB962C8B-B14F-4D97-AF65-F5344CB8AC3E}">
        <p14:creationId xmlns:p14="http://schemas.microsoft.com/office/powerpoint/2010/main" val="14206227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F74E179E-53CC-44C3-B266-BA8C753902EB}" type="slidenum">
              <a:rPr lang="hu-HU" smtClean="0"/>
              <a:t>8</a:t>
            </a:fld>
            <a:endParaRPr lang="hu-HU"/>
          </a:p>
        </p:txBody>
      </p:sp>
    </p:spTree>
    <p:extLst>
      <p:ext uri="{BB962C8B-B14F-4D97-AF65-F5344CB8AC3E}">
        <p14:creationId xmlns:p14="http://schemas.microsoft.com/office/powerpoint/2010/main" val="168919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B66F3-25CA-B7C0-E6C1-153ADEF8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13E19D-FCEF-8734-E869-C1903E0C5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D8E9D8-F917-FB6C-90F1-E294934CF0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4A4C3BB-92E5-C70D-7993-FD9F0C41BE0F}"/>
              </a:ext>
            </a:extLst>
          </p:cNvPr>
          <p:cNvSpPr>
            <a:spLocks noGrp="1"/>
          </p:cNvSpPr>
          <p:nvPr>
            <p:ph type="sldNum" sz="quarter" idx="5"/>
          </p:nvPr>
        </p:nvSpPr>
        <p:spPr/>
        <p:txBody>
          <a:bodyPr/>
          <a:lstStyle/>
          <a:p>
            <a:fld id="{F74E179E-53CC-44C3-B266-BA8C753902EB}" type="slidenum">
              <a:rPr lang="hu-HU" smtClean="0"/>
              <a:t>9</a:t>
            </a:fld>
            <a:endParaRPr lang="hu-HU"/>
          </a:p>
        </p:txBody>
      </p:sp>
    </p:spTree>
    <p:extLst>
      <p:ext uri="{BB962C8B-B14F-4D97-AF65-F5344CB8AC3E}">
        <p14:creationId xmlns:p14="http://schemas.microsoft.com/office/powerpoint/2010/main" val="1045112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dirty="0"/>
              <a:t>? - https://www.freepik.com/premium-photo/fire-alphabet-question-mark-isolated-black-background_23682027.htm#page=2&amp;query=FIRE&amp;position=32&amp;from_view=author&amp;uuid=a48ed73a-a3ec-4063-ab27-5a739e530915</a:t>
            </a:r>
          </a:p>
        </p:txBody>
      </p:sp>
      <p:sp>
        <p:nvSpPr>
          <p:cNvPr id="4" name="Slide Number Placeholder 3"/>
          <p:cNvSpPr>
            <a:spLocks noGrp="1"/>
          </p:cNvSpPr>
          <p:nvPr>
            <p:ph type="sldNum" sz="quarter" idx="5"/>
          </p:nvPr>
        </p:nvSpPr>
        <p:spPr/>
        <p:txBody>
          <a:bodyPr/>
          <a:lstStyle/>
          <a:p>
            <a:fld id="{F74E179E-53CC-44C3-B266-BA8C753902EB}" type="slidenum">
              <a:rPr lang="hu-HU" smtClean="0"/>
              <a:t>13</a:t>
            </a:fld>
            <a:endParaRPr lang="hu-HU"/>
          </a:p>
        </p:txBody>
      </p:sp>
    </p:spTree>
    <p:extLst>
      <p:ext uri="{BB962C8B-B14F-4D97-AF65-F5344CB8AC3E}">
        <p14:creationId xmlns:p14="http://schemas.microsoft.com/office/powerpoint/2010/main" val="36732114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93914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610546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996333FD-3F07-4EEA-99DD-37AEE0CFF0CB}" type="datetimeFigureOut">
              <a:rPr lang="hu-HU" smtClean="0"/>
              <a:t>2026. 04. 17.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653155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96333FD-3F07-4EEA-99DD-37AEE0CFF0CB}" type="datetimeFigureOut">
              <a:rPr lang="hu-HU" smtClean="0"/>
              <a:t>2026. 04. 17.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1356874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96333FD-3F07-4EEA-99DD-37AEE0CFF0CB}" type="datetimeFigureOut">
              <a:rPr lang="hu-HU" smtClean="0"/>
              <a:t>2026. 04. 17.</a:t>
            </a:fld>
            <a:endParaRPr lang="hu-HU"/>
          </a:p>
        </p:txBody>
      </p:sp>
      <p:sp>
        <p:nvSpPr>
          <p:cNvPr id="8" name="Footer Placeholder 7"/>
          <p:cNvSpPr>
            <a:spLocks noGrp="1"/>
          </p:cNvSpPr>
          <p:nvPr>
            <p:ph type="ftr" sz="quarter" idx="11"/>
          </p:nvPr>
        </p:nvSpPr>
        <p:spPr/>
        <p:txBody>
          <a:bodyPr/>
          <a:lstStyle/>
          <a:p>
            <a:endParaRPr lang="hu-HU"/>
          </a:p>
        </p:txBody>
      </p:sp>
      <p:sp>
        <p:nvSpPr>
          <p:cNvPr id="9" name="Slide Number Placeholder 8"/>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253964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96333FD-3F07-4EEA-99DD-37AEE0CFF0CB}" type="datetimeFigureOut">
              <a:rPr lang="hu-HU" smtClean="0"/>
              <a:t>2026. 04. 17.</a:t>
            </a:fld>
            <a:endParaRPr lang="hu-HU"/>
          </a:p>
        </p:txBody>
      </p:sp>
      <p:sp>
        <p:nvSpPr>
          <p:cNvPr id="4" name="Footer Placeholder 3"/>
          <p:cNvSpPr>
            <a:spLocks noGrp="1"/>
          </p:cNvSpPr>
          <p:nvPr>
            <p:ph type="ftr" sz="quarter" idx="11"/>
          </p:nvPr>
        </p:nvSpPr>
        <p:spPr/>
        <p:txBody>
          <a:bodyPr/>
          <a:lstStyle/>
          <a:p>
            <a:endParaRPr lang="hu-HU"/>
          </a:p>
        </p:txBody>
      </p:sp>
      <p:sp>
        <p:nvSpPr>
          <p:cNvPr id="5" name="Slide Number Placeholder 4"/>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9071034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6333FD-3F07-4EEA-99DD-37AEE0CFF0CB}" type="datetimeFigureOut">
              <a:rPr lang="hu-HU" smtClean="0"/>
              <a:t>2026. 04. 17.</a:t>
            </a:fld>
            <a:endParaRPr lang="hu-HU"/>
          </a:p>
        </p:txBody>
      </p:sp>
      <p:sp>
        <p:nvSpPr>
          <p:cNvPr id="3" name="Footer Placeholder 2"/>
          <p:cNvSpPr>
            <a:spLocks noGrp="1"/>
          </p:cNvSpPr>
          <p:nvPr>
            <p:ph type="ftr" sz="quarter" idx="11"/>
          </p:nvPr>
        </p:nvSpPr>
        <p:spPr/>
        <p:txBody>
          <a:bodyPr/>
          <a:lstStyle/>
          <a:p>
            <a:endParaRPr lang="hu-HU"/>
          </a:p>
        </p:txBody>
      </p:sp>
      <p:sp>
        <p:nvSpPr>
          <p:cNvPr id="4" name="Slide Number Placeholder 3"/>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104780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55746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996333FD-3F07-4EEA-99DD-37AEE0CFF0CB}" type="datetimeFigureOut">
              <a:rPr lang="hu-HU" smtClean="0"/>
              <a:t>2026. 04. 17.</a:t>
            </a:fld>
            <a:endParaRPr lang="hu-HU"/>
          </a:p>
        </p:txBody>
      </p:sp>
      <p:sp>
        <p:nvSpPr>
          <p:cNvPr id="6" name="Footer Placeholder 5"/>
          <p:cNvSpPr>
            <a:spLocks noGrp="1"/>
          </p:cNvSpPr>
          <p:nvPr>
            <p:ph type="ftr" sz="quarter" idx="11"/>
          </p:nvPr>
        </p:nvSpPr>
        <p:spPr/>
        <p:txBody>
          <a:bodyPr/>
          <a:lstStyle/>
          <a:p>
            <a:endParaRPr lang="hu-HU"/>
          </a:p>
        </p:txBody>
      </p:sp>
      <p:sp>
        <p:nvSpPr>
          <p:cNvPr id="7" name="Slide Number Placeholder 6"/>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24900184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4113899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96333FD-3F07-4EEA-99DD-37AEE0CFF0CB}" type="datetimeFigureOut">
              <a:rPr lang="hu-HU" smtClean="0"/>
              <a:t>2026. 04. 17.</a:t>
            </a:fld>
            <a:endParaRPr lang="hu-HU"/>
          </a:p>
        </p:txBody>
      </p:sp>
      <p:sp>
        <p:nvSpPr>
          <p:cNvPr id="5" name="Footer Placeholder 4"/>
          <p:cNvSpPr>
            <a:spLocks noGrp="1"/>
          </p:cNvSpPr>
          <p:nvPr>
            <p:ph type="ftr" sz="quarter" idx="11"/>
          </p:nvPr>
        </p:nvSpPr>
        <p:spPr/>
        <p:txBody>
          <a:bodyPr/>
          <a:lstStyle/>
          <a:p>
            <a:endParaRPr lang="hu-HU"/>
          </a:p>
        </p:txBody>
      </p:sp>
      <p:sp>
        <p:nvSpPr>
          <p:cNvPr id="6" name="Slide Number Placeholder 5"/>
          <p:cNvSpPr>
            <a:spLocks noGrp="1"/>
          </p:cNvSpPr>
          <p:nvPr>
            <p:ph type="sldNum" sz="quarter" idx="12"/>
          </p:nvPr>
        </p:nvSpPr>
        <p:spPr/>
        <p:txBody>
          <a:bodyPr/>
          <a:lstStyle/>
          <a:p>
            <a:fld id="{FC57AC21-DDF3-4BEC-8A6A-627E9CFD85BE}" type="slidenum">
              <a:rPr lang="hu-HU" smtClean="0"/>
              <a:t>‹#›</a:t>
            </a:fld>
            <a:endParaRPr lang="hu-HU"/>
          </a:p>
        </p:txBody>
      </p:sp>
    </p:spTree>
    <p:extLst>
      <p:ext uri="{BB962C8B-B14F-4D97-AF65-F5344CB8AC3E}">
        <p14:creationId xmlns:p14="http://schemas.microsoft.com/office/powerpoint/2010/main" val="35030592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996333FD-3F07-4EEA-99DD-37AEE0CFF0CB}" type="datetimeFigureOut">
              <a:rPr lang="hu-HU" smtClean="0"/>
              <a:t>2026. 04. 17.</a:t>
            </a:fld>
            <a:endParaRPr lang="hu-H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hu-H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FC57AC21-DDF3-4BEC-8A6A-627E9CFD85BE}" type="slidenum">
              <a:rPr lang="hu-HU" smtClean="0"/>
              <a:t>‹#›</a:t>
            </a:fld>
            <a:endParaRPr lang="hu-HU"/>
          </a:p>
        </p:txBody>
      </p:sp>
    </p:spTree>
    <p:extLst>
      <p:ext uri="{BB962C8B-B14F-4D97-AF65-F5344CB8AC3E}">
        <p14:creationId xmlns:p14="http://schemas.microsoft.com/office/powerpoint/2010/main" val="699695596"/>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chart" Target="../charts/chart3.xml"/><Relationship Id="rId5" Type="http://schemas.openxmlformats.org/officeDocument/2006/relationships/chart" Target="../charts/chart2.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jpeg"/><Relationship Id="rId4" Type="http://schemas.openxmlformats.org/officeDocument/2006/relationships/hyperlink" Target="https://yanac.hu/TAG/SECONSYS/"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2.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82078B8-0300-540B-D02B-93313D01A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5EA290C-E9F0-889C-1823-64B142F312DD}"/>
              </a:ext>
            </a:extLst>
          </p:cNvPr>
          <p:cNvSpPr txBox="1"/>
          <p:nvPr/>
        </p:nvSpPr>
        <p:spPr>
          <a:xfrm>
            <a:off x="1457759" y="2727655"/>
            <a:ext cx="4777783" cy="769441"/>
          </a:xfrm>
          <a:prstGeom prst="rect">
            <a:avLst/>
          </a:prstGeom>
          <a:noFill/>
        </p:spPr>
        <p:txBody>
          <a:bodyPr wrap="none" rtlCol="0">
            <a:spAutoFit/>
          </a:bodyPr>
          <a:lstStyle/>
          <a:p>
            <a:r>
              <a:rPr lang="hu-HU" sz="4400" dirty="0">
                <a:highlight>
                  <a:srgbClr val="FF3F5A"/>
                </a:highlight>
              </a:rPr>
              <a:t>YANAC Egyszerűen</a:t>
            </a:r>
          </a:p>
        </p:txBody>
      </p:sp>
      <p:sp>
        <p:nvSpPr>
          <p:cNvPr id="9" name="TextBox 8">
            <a:extLst>
              <a:ext uri="{FF2B5EF4-FFF2-40B4-BE49-F238E27FC236}">
                <a16:creationId xmlns:a16="http://schemas.microsoft.com/office/drawing/2014/main" id="{F97E8B59-AFD8-DF2A-4BD5-2C8B9CC2E877}"/>
              </a:ext>
            </a:extLst>
          </p:cNvPr>
          <p:cNvSpPr txBox="1"/>
          <p:nvPr/>
        </p:nvSpPr>
        <p:spPr>
          <a:xfrm>
            <a:off x="6027906" y="3429000"/>
            <a:ext cx="2535053" cy="769441"/>
          </a:xfrm>
          <a:prstGeom prst="rect">
            <a:avLst/>
          </a:prstGeom>
          <a:noFill/>
        </p:spPr>
        <p:txBody>
          <a:bodyPr wrap="none" rtlCol="0">
            <a:spAutoFit/>
          </a:bodyPr>
          <a:lstStyle/>
          <a:p>
            <a:r>
              <a:rPr lang="hu-HU" sz="4400" dirty="0">
                <a:highlight>
                  <a:srgbClr val="FF3F5A"/>
                </a:highlight>
              </a:rPr>
              <a:t>Biró Péter</a:t>
            </a:r>
          </a:p>
        </p:txBody>
      </p:sp>
    </p:spTree>
    <p:extLst>
      <p:ext uri="{BB962C8B-B14F-4D97-AF65-F5344CB8AC3E}">
        <p14:creationId xmlns:p14="http://schemas.microsoft.com/office/powerpoint/2010/main" val="32804303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409523" cy="769441"/>
          </a:xfrm>
          <a:prstGeom prst="rect">
            <a:avLst/>
          </a:prstGeom>
          <a:noFill/>
        </p:spPr>
        <p:txBody>
          <a:bodyPr wrap="none" rtlCol="0">
            <a:spAutoFit/>
          </a:bodyPr>
          <a:lstStyle/>
          <a:p>
            <a:r>
              <a:rPr lang="hu-HU" sz="4400" dirty="0">
                <a:highlight>
                  <a:srgbClr val="FF3F5A"/>
                </a:highlight>
              </a:rPr>
              <a:t>Mi, Ki, Mikor?</a:t>
            </a:r>
          </a:p>
        </p:txBody>
      </p:sp>
      <p:pic>
        <p:nvPicPr>
          <p:cNvPr id="13" name="Graphic 12" descr="User outline">
            <a:extLst>
              <a:ext uri="{FF2B5EF4-FFF2-40B4-BE49-F238E27FC236}">
                <a16:creationId xmlns:a16="http://schemas.microsoft.com/office/drawing/2014/main" id="{67C9F85D-EDB8-54E7-CA6A-58C95B56D0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05217"/>
            <a:ext cx="1335932" cy="1335932"/>
          </a:xfrm>
          <a:prstGeom prst="rect">
            <a:avLst/>
          </a:prstGeom>
        </p:spPr>
      </p:pic>
      <p:pic>
        <p:nvPicPr>
          <p:cNvPr id="14" name="Graphic 13" descr="User outline">
            <a:extLst>
              <a:ext uri="{FF2B5EF4-FFF2-40B4-BE49-F238E27FC236}">
                <a16:creationId xmlns:a16="http://schemas.microsoft.com/office/drawing/2014/main" id="{35C2B229-ECF8-377D-1BD6-56B67D075E2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132366"/>
            <a:ext cx="1335932" cy="1335932"/>
          </a:xfrm>
          <a:prstGeom prst="rect">
            <a:avLst/>
          </a:prstGeom>
        </p:spPr>
      </p:pic>
      <p:pic>
        <p:nvPicPr>
          <p:cNvPr id="15" name="Graphic 14" descr="User outline">
            <a:extLst>
              <a:ext uri="{FF2B5EF4-FFF2-40B4-BE49-F238E27FC236}">
                <a16:creationId xmlns:a16="http://schemas.microsoft.com/office/drawing/2014/main" id="{9F0759AA-41BA-F1DD-A616-39AE990B526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36023" y="205217"/>
            <a:ext cx="1335932" cy="1335932"/>
          </a:xfrm>
          <a:prstGeom prst="rect">
            <a:avLst/>
          </a:prstGeom>
        </p:spPr>
      </p:pic>
      <p:sp>
        <p:nvSpPr>
          <p:cNvPr id="16" name="TextBox 15">
            <a:extLst>
              <a:ext uri="{FF2B5EF4-FFF2-40B4-BE49-F238E27FC236}">
                <a16:creationId xmlns:a16="http://schemas.microsoft.com/office/drawing/2014/main" id="{1113C8FE-3359-5AD5-7867-A448A5D01868}"/>
              </a:ext>
            </a:extLst>
          </p:cNvPr>
          <p:cNvSpPr txBox="1"/>
          <p:nvPr/>
        </p:nvSpPr>
        <p:spPr>
          <a:xfrm>
            <a:off x="7155519" y="1619905"/>
            <a:ext cx="1315360" cy="523220"/>
          </a:xfrm>
          <a:prstGeom prst="rect">
            <a:avLst/>
          </a:prstGeom>
          <a:noFill/>
        </p:spPr>
        <p:txBody>
          <a:bodyPr wrap="none" rtlCol="0">
            <a:spAutoFit/>
          </a:bodyPr>
          <a:lstStyle/>
          <a:p>
            <a:r>
              <a:rPr lang="hu-HU" sz="2800" dirty="0">
                <a:highlight>
                  <a:srgbClr val="FF3F5A"/>
                </a:highlight>
              </a:rPr>
              <a:t>SZULEJ</a:t>
            </a:r>
          </a:p>
        </p:txBody>
      </p:sp>
      <p:sp>
        <p:nvSpPr>
          <p:cNvPr id="17" name="TextBox 16">
            <a:extLst>
              <a:ext uri="{FF2B5EF4-FFF2-40B4-BE49-F238E27FC236}">
                <a16:creationId xmlns:a16="http://schemas.microsoft.com/office/drawing/2014/main" id="{76B6EF6C-F48A-6A44-A009-DE72D5BA34F5}"/>
              </a:ext>
            </a:extLst>
          </p:cNvPr>
          <p:cNvSpPr txBox="1"/>
          <p:nvPr/>
        </p:nvSpPr>
        <p:spPr>
          <a:xfrm>
            <a:off x="8507985" y="1619905"/>
            <a:ext cx="2009333" cy="523220"/>
          </a:xfrm>
          <a:prstGeom prst="rect">
            <a:avLst/>
          </a:prstGeom>
          <a:noFill/>
        </p:spPr>
        <p:txBody>
          <a:bodyPr wrap="none" rtlCol="0">
            <a:spAutoFit/>
          </a:bodyPr>
          <a:lstStyle/>
          <a:p>
            <a:r>
              <a:rPr lang="hu-HU" sz="2800" dirty="0">
                <a:highlight>
                  <a:srgbClr val="FF3F5A"/>
                </a:highlight>
              </a:rPr>
              <a:t>GERONIMO</a:t>
            </a:r>
          </a:p>
        </p:txBody>
      </p:sp>
      <p:sp>
        <p:nvSpPr>
          <p:cNvPr id="18" name="TextBox 17">
            <a:extLst>
              <a:ext uri="{FF2B5EF4-FFF2-40B4-BE49-F238E27FC236}">
                <a16:creationId xmlns:a16="http://schemas.microsoft.com/office/drawing/2014/main" id="{4173BFBA-5C0B-9769-C7C3-F500A70516E4}"/>
              </a:ext>
            </a:extLst>
          </p:cNvPr>
          <p:cNvSpPr txBox="1"/>
          <p:nvPr/>
        </p:nvSpPr>
        <p:spPr>
          <a:xfrm>
            <a:off x="10517318" y="1619905"/>
            <a:ext cx="973343" cy="523220"/>
          </a:xfrm>
          <a:prstGeom prst="rect">
            <a:avLst/>
          </a:prstGeom>
          <a:noFill/>
        </p:spPr>
        <p:txBody>
          <a:bodyPr wrap="none" rtlCol="0">
            <a:spAutoFit/>
          </a:bodyPr>
          <a:lstStyle/>
          <a:p>
            <a:r>
              <a:rPr lang="hu-HU" sz="2800" dirty="0">
                <a:highlight>
                  <a:srgbClr val="FF3F5A"/>
                </a:highlight>
              </a:rPr>
              <a:t>BIBO</a:t>
            </a:r>
          </a:p>
        </p:txBody>
      </p:sp>
      <p:pic>
        <p:nvPicPr>
          <p:cNvPr id="20" name="Picture 19">
            <a:extLst>
              <a:ext uri="{FF2B5EF4-FFF2-40B4-BE49-F238E27FC236}">
                <a16:creationId xmlns:a16="http://schemas.microsoft.com/office/drawing/2014/main" id="{08AA3A18-2740-D24F-2712-7AD10EA8AEBE}"/>
              </a:ext>
            </a:extLst>
          </p:cNvPr>
          <p:cNvPicPr>
            <a:picLocks noChangeAspect="1"/>
          </p:cNvPicPr>
          <p:nvPr/>
        </p:nvPicPr>
        <p:blipFill>
          <a:blip r:embed="rId5"/>
          <a:stretch>
            <a:fillRect/>
          </a:stretch>
        </p:blipFill>
        <p:spPr>
          <a:xfrm>
            <a:off x="6465251" y="5011555"/>
            <a:ext cx="5479080" cy="1641228"/>
          </a:xfrm>
          <a:prstGeom prst="rect">
            <a:avLst/>
          </a:prstGeom>
        </p:spPr>
      </p:pic>
      <p:sp>
        <p:nvSpPr>
          <p:cNvPr id="21" name="TextBox 20">
            <a:extLst>
              <a:ext uri="{FF2B5EF4-FFF2-40B4-BE49-F238E27FC236}">
                <a16:creationId xmlns:a16="http://schemas.microsoft.com/office/drawing/2014/main" id="{C442A483-32C0-BFFA-1EE2-BF02F494A293}"/>
              </a:ext>
            </a:extLst>
          </p:cNvPr>
          <p:cNvSpPr txBox="1"/>
          <p:nvPr/>
        </p:nvSpPr>
        <p:spPr>
          <a:xfrm>
            <a:off x="672573" y="3888170"/>
            <a:ext cx="2400850" cy="2246769"/>
          </a:xfrm>
          <a:prstGeom prst="rect">
            <a:avLst/>
          </a:prstGeom>
          <a:noFill/>
        </p:spPr>
        <p:txBody>
          <a:bodyPr wrap="none" rtlCol="0">
            <a:spAutoFit/>
          </a:bodyPr>
          <a:lstStyle/>
          <a:p>
            <a:r>
              <a:rPr lang="hu-HU" sz="2800" dirty="0">
                <a:highlight>
                  <a:srgbClr val="FF3F5A"/>
                </a:highlight>
              </a:rPr>
              <a:t>Y</a:t>
            </a:r>
            <a:r>
              <a:rPr lang="hu-HU" sz="2800" dirty="0">
                <a:highlight>
                  <a:srgbClr val="000000"/>
                </a:highlight>
              </a:rPr>
              <a:t>ET</a:t>
            </a:r>
          </a:p>
          <a:p>
            <a:r>
              <a:rPr lang="hu-HU" sz="2800" dirty="0">
                <a:highlight>
                  <a:srgbClr val="FF3F5A"/>
                </a:highlight>
              </a:rPr>
              <a:t>A</a:t>
            </a:r>
            <a:r>
              <a:rPr lang="hu-HU" sz="2800" dirty="0">
                <a:highlight>
                  <a:srgbClr val="000000"/>
                </a:highlight>
              </a:rPr>
              <a:t>NOTHER</a:t>
            </a:r>
          </a:p>
          <a:p>
            <a:r>
              <a:rPr lang="hu-HU" sz="2800" dirty="0">
                <a:highlight>
                  <a:srgbClr val="FF3F5A"/>
                </a:highlight>
              </a:rPr>
              <a:t>N</a:t>
            </a:r>
            <a:r>
              <a:rPr lang="hu-HU" sz="2800" dirty="0">
                <a:highlight>
                  <a:srgbClr val="000000"/>
                </a:highlight>
              </a:rPr>
              <a:t>EWS</a:t>
            </a:r>
          </a:p>
          <a:p>
            <a:r>
              <a:rPr lang="hu-HU" sz="2800" dirty="0">
                <a:highlight>
                  <a:srgbClr val="FF3F5A"/>
                </a:highlight>
              </a:rPr>
              <a:t>A</a:t>
            </a:r>
            <a:r>
              <a:rPr lang="hu-HU" sz="2800" dirty="0">
                <a:highlight>
                  <a:srgbClr val="000000"/>
                </a:highlight>
              </a:rPr>
              <a:t>GGREGATOR</a:t>
            </a:r>
          </a:p>
          <a:p>
            <a:r>
              <a:rPr lang="hu-HU" sz="2800" dirty="0">
                <a:highlight>
                  <a:srgbClr val="FF3F5A"/>
                </a:highlight>
              </a:rPr>
              <a:t>C</a:t>
            </a:r>
            <a:r>
              <a:rPr lang="hu-HU" sz="2800" dirty="0">
                <a:highlight>
                  <a:srgbClr val="000000"/>
                </a:highlight>
              </a:rPr>
              <a:t>HANNEL</a:t>
            </a:r>
          </a:p>
        </p:txBody>
      </p:sp>
      <p:pic>
        <p:nvPicPr>
          <p:cNvPr id="22" name="Graphic 21" descr="User outline">
            <a:extLst>
              <a:ext uri="{FF2B5EF4-FFF2-40B4-BE49-F238E27FC236}">
                <a16:creationId xmlns:a16="http://schemas.microsoft.com/office/drawing/2014/main" id="{9835ACA5-CE4C-ED18-5867-60A3884B1C6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172053" y="2245468"/>
            <a:ext cx="1335932" cy="1335932"/>
          </a:xfrm>
          <a:prstGeom prst="rect">
            <a:avLst/>
          </a:prstGeom>
        </p:spPr>
      </p:pic>
      <p:sp>
        <p:nvSpPr>
          <p:cNvPr id="23" name="TextBox 22">
            <a:extLst>
              <a:ext uri="{FF2B5EF4-FFF2-40B4-BE49-F238E27FC236}">
                <a16:creationId xmlns:a16="http://schemas.microsoft.com/office/drawing/2014/main" id="{CF611A13-F090-6E1D-FABA-8B723A203440}"/>
              </a:ext>
            </a:extLst>
          </p:cNvPr>
          <p:cNvSpPr txBox="1"/>
          <p:nvPr/>
        </p:nvSpPr>
        <p:spPr>
          <a:xfrm>
            <a:off x="8844685" y="3507756"/>
            <a:ext cx="1531573" cy="523220"/>
          </a:xfrm>
          <a:prstGeom prst="rect">
            <a:avLst/>
          </a:prstGeom>
          <a:noFill/>
        </p:spPr>
        <p:txBody>
          <a:bodyPr wrap="none" rtlCol="0">
            <a:spAutoFit/>
          </a:bodyPr>
          <a:lstStyle/>
          <a:p>
            <a:r>
              <a:rPr lang="hu-HU" sz="2800" dirty="0" err="1">
                <a:highlight>
                  <a:srgbClr val="FF3F5A"/>
                </a:highlight>
              </a:rPr>
              <a:t>TrainedR</a:t>
            </a:r>
            <a:endParaRPr lang="hu-HU" sz="2800" dirty="0">
              <a:highlight>
                <a:srgbClr val="FF3F5A"/>
              </a:highlight>
            </a:endParaRPr>
          </a:p>
        </p:txBody>
      </p:sp>
      <p:pic>
        <p:nvPicPr>
          <p:cNvPr id="2" name="Graphic 1" descr="User outline">
            <a:extLst>
              <a:ext uri="{FF2B5EF4-FFF2-40B4-BE49-F238E27FC236}">
                <a16:creationId xmlns:a16="http://schemas.microsoft.com/office/drawing/2014/main" id="{CB4660EE-764E-8932-3425-45FDAE75F54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44685" y="2275878"/>
            <a:ext cx="1335932" cy="1335932"/>
          </a:xfrm>
          <a:prstGeom prst="rect">
            <a:avLst/>
          </a:prstGeom>
        </p:spPr>
      </p:pic>
      <p:sp>
        <p:nvSpPr>
          <p:cNvPr id="3" name="TextBox 2">
            <a:extLst>
              <a:ext uri="{FF2B5EF4-FFF2-40B4-BE49-F238E27FC236}">
                <a16:creationId xmlns:a16="http://schemas.microsoft.com/office/drawing/2014/main" id="{C36B7B89-B5BA-A50C-70D1-B80162FAB1FD}"/>
              </a:ext>
            </a:extLst>
          </p:cNvPr>
          <p:cNvSpPr txBox="1"/>
          <p:nvPr/>
        </p:nvSpPr>
        <p:spPr>
          <a:xfrm>
            <a:off x="7172053" y="3489331"/>
            <a:ext cx="1255472" cy="523220"/>
          </a:xfrm>
          <a:prstGeom prst="rect">
            <a:avLst/>
          </a:prstGeom>
          <a:noFill/>
        </p:spPr>
        <p:txBody>
          <a:bodyPr wrap="none" rtlCol="0">
            <a:spAutoFit/>
          </a:bodyPr>
          <a:lstStyle/>
          <a:p>
            <a:r>
              <a:rPr lang="hu-HU" sz="2800" dirty="0">
                <a:highlight>
                  <a:srgbClr val="FF3F5A"/>
                </a:highlight>
              </a:rPr>
              <a:t>gh0o5t</a:t>
            </a:r>
          </a:p>
        </p:txBody>
      </p:sp>
    </p:spTree>
    <p:extLst>
      <p:ext uri="{BB962C8B-B14F-4D97-AF65-F5344CB8AC3E}">
        <p14:creationId xmlns:p14="http://schemas.microsoft.com/office/powerpoint/2010/main" val="21654555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717137" cy="769441"/>
          </a:xfrm>
          <a:prstGeom prst="rect">
            <a:avLst/>
          </a:prstGeom>
          <a:noFill/>
        </p:spPr>
        <p:txBody>
          <a:bodyPr wrap="none" rtlCol="0">
            <a:spAutoFit/>
          </a:bodyPr>
          <a:lstStyle/>
          <a:p>
            <a:r>
              <a:rPr lang="hu-HU" sz="4400" dirty="0">
                <a:highlight>
                  <a:srgbClr val="FF3F5A"/>
                </a:highlight>
              </a:rPr>
              <a:t>Miért?</a:t>
            </a:r>
          </a:p>
        </p:txBody>
      </p:sp>
      <p:sp>
        <p:nvSpPr>
          <p:cNvPr id="7" name="TextBox 6">
            <a:extLst>
              <a:ext uri="{FF2B5EF4-FFF2-40B4-BE49-F238E27FC236}">
                <a16:creationId xmlns:a16="http://schemas.microsoft.com/office/drawing/2014/main" id="{AFD8D801-DABE-47A3-D2A3-EB907CAC8E51}"/>
              </a:ext>
            </a:extLst>
          </p:cNvPr>
          <p:cNvSpPr txBox="1"/>
          <p:nvPr/>
        </p:nvSpPr>
        <p:spPr>
          <a:xfrm>
            <a:off x="0" y="4714876"/>
            <a:ext cx="6096000" cy="2585323"/>
          </a:xfrm>
          <a:prstGeom prst="rect">
            <a:avLst/>
          </a:prstGeom>
          <a:noFill/>
        </p:spPr>
        <p:txBody>
          <a:bodyPr wrap="square" rtlCol="0">
            <a:spAutoFit/>
          </a:bodyPr>
          <a:lstStyle/>
          <a:p>
            <a:pPr fontAlgn="base"/>
            <a:r>
              <a:rPr lang="hu-HU" dirty="0"/>
              <a:t>Mi, a YANAC alapítói úgy éreztük, hogy hazánkban nem érhető el olyan aggregátor szolgáltatás, amely csak informatikára, IT biztonságra és technológiára koncentrálna. Napról napra azon fáradozunk, hogy megtaláljuk azt az időszerű, megbízható információforrást, amelyet a mindennapi munkánkhoz felhasználhatunk. Ez az ötlet hívta életre a YANAC-ot.</a:t>
            </a:r>
          </a:p>
          <a:p>
            <a:br>
              <a:rPr lang="hu-HU" dirty="0">
                <a:highlight>
                  <a:srgbClr val="121212"/>
                </a:highlight>
              </a:rPr>
            </a:br>
            <a:endParaRPr lang="en-US" b="0" i="0" dirty="0">
              <a:solidFill>
                <a:srgbClr val="E4E4E7"/>
              </a:solidFill>
              <a:effectLst/>
              <a:highlight>
                <a:srgbClr val="121212"/>
              </a:highlight>
              <a:latin typeface="inherit"/>
            </a:endParaRPr>
          </a:p>
        </p:txBody>
      </p:sp>
      <p:sp>
        <p:nvSpPr>
          <p:cNvPr id="2" name="TextBox 1">
            <a:extLst>
              <a:ext uri="{FF2B5EF4-FFF2-40B4-BE49-F238E27FC236}">
                <a16:creationId xmlns:a16="http://schemas.microsoft.com/office/drawing/2014/main" id="{303AEDEA-7DD2-E8C6-E551-5FF08B0D010D}"/>
              </a:ext>
            </a:extLst>
          </p:cNvPr>
          <p:cNvSpPr txBox="1"/>
          <p:nvPr/>
        </p:nvSpPr>
        <p:spPr>
          <a:xfrm>
            <a:off x="6373662" y="370214"/>
            <a:ext cx="5707075" cy="2800767"/>
          </a:xfrm>
          <a:prstGeom prst="rect">
            <a:avLst/>
          </a:prstGeom>
          <a:noFill/>
        </p:spPr>
        <p:txBody>
          <a:bodyPr wrap="none" rtlCol="0">
            <a:spAutoFit/>
          </a:bodyPr>
          <a:lstStyle/>
          <a:p>
            <a:r>
              <a:rPr lang="hu-HU" sz="4400" dirty="0">
                <a:highlight>
                  <a:srgbClr val="FF3F5A"/>
                </a:highlight>
              </a:rPr>
              <a:t>KIBER HELYZETKÉP</a:t>
            </a:r>
          </a:p>
          <a:p>
            <a:pPr marL="571500" indent="-571500">
              <a:buFontTx/>
              <a:buChar char="-"/>
            </a:pPr>
            <a:r>
              <a:rPr lang="hu-HU" sz="4400" dirty="0">
                <a:highlight>
                  <a:srgbClr val="000000"/>
                </a:highlight>
              </a:rPr>
              <a:t>TÁMADÁSOK</a:t>
            </a:r>
          </a:p>
          <a:p>
            <a:pPr marL="571500" indent="-571500">
              <a:buFontTx/>
              <a:buChar char="-"/>
            </a:pPr>
            <a:r>
              <a:rPr lang="hu-HU" sz="4400" dirty="0">
                <a:highlight>
                  <a:srgbClr val="000000"/>
                </a:highlight>
              </a:rPr>
              <a:t>SÉRÜLÉKENYSÉGEK</a:t>
            </a:r>
          </a:p>
          <a:p>
            <a:pPr marL="571500" indent="-571500">
              <a:buFontTx/>
              <a:buChar char="-"/>
            </a:pPr>
            <a:r>
              <a:rPr lang="hu-HU" sz="4400" dirty="0">
                <a:highlight>
                  <a:srgbClr val="000000"/>
                </a:highlight>
              </a:rPr>
              <a:t>CSOPORTOK</a:t>
            </a:r>
          </a:p>
        </p:txBody>
      </p:sp>
      <p:sp>
        <p:nvSpPr>
          <p:cNvPr id="3" name="TextBox 2">
            <a:extLst>
              <a:ext uri="{FF2B5EF4-FFF2-40B4-BE49-F238E27FC236}">
                <a16:creationId xmlns:a16="http://schemas.microsoft.com/office/drawing/2014/main" id="{610BA797-637D-C451-7A6F-5B56AF5D66F2}"/>
              </a:ext>
            </a:extLst>
          </p:cNvPr>
          <p:cNvSpPr txBox="1"/>
          <p:nvPr/>
        </p:nvSpPr>
        <p:spPr>
          <a:xfrm>
            <a:off x="6373662" y="3429237"/>
            <a:ext cx="5108963" cy="3477875"/>
          </a:xfrm>
          <a:prstGeom prst="rect">
            <a:avLst/>
          </a:prstGeom>
          <a:noFill/>
        </p:spPr>
        <p:txBody>
          <a:bodyPr wrap="none" rtlCol="0">
            <a:spAutoFit/>
          </a:bodyPr>
          <a:lstStyle/>
          <a:p>
            <a:r>
              <a:rPr lang="hu-HU" sz="4400" dirty="0">
                <a:highlight>
                  <a:srgbClr val="FF3F5A"/>
                </a:highlight>
              </a:rPr>
              <a:t>TÁJÉKOZTATÁS</a:t>
            </a:r>
          </a:p>
          <a:p>
            <a:pPr marL="571500" indent="-571500">
              <a:buFontTx/>
              <a:buChar char="-"/>
            </a:pPr>
            <a:r>
              <a:rPr lang="hu-HU" sz="4400" dirty="0">
                <a:highlight>
                  <a:srgbClr val="000000"/>
                </a:highlight>
              </a:rPr>
              <a:t>MAGYAR NYELVŰ </a:t>
            </a:r>
            <a:br>
              <a:rPr lang="hu-HU" sz="4400" dirty="0">
                <a:highlight>
                  <a:srgbClr val="000000"/>
                </a:highlight>
              </a:rPr>
            </a:br>
            <a:r>
              <a:rPr lang="hu-HU" sz="4400" dirty="0">
                <a:highlight>
                  <a:srgbClr val="000000"/>
                </a:highlight>
              </a:rPr>
              <a:t>CIKKEK</a:t>
            </a:r>
          </a:p>
          <a:p>
            <a:pPr marL="571500" indent="-571500">
              <a:buFontTx/>
              <a:buChar char="-"/>
            </a:pPr>
            <a:r>
              <a:rPr lang="hu-HU" sz="4400" dirty="0">
                <a:highlight>
                  <a:srgbClr val="000000"/>
                </a:highlight>
              </a:rPr>
              <a:t>ELEMZÉSEK</a:t>
            </a:r>
          </a:p>
          <a:p>
            <a:pPr marL="571500" indent="-571500">
              <a:buFontTx/>
              <a:buChar char="-"/>
            </a:pPr>
            <a:r>
              <a:rPr lang="hu-HU" sz="4400" dirty="0">
                <a:highlight>
                  <a:srgbClr val="000000"/>
                </a:highlight>
              </a:rPr>
              <a:t>ÖSSZEFOGLALÓK</a:t>
            </a:r>
          </a:p>
        </p:txBody>
      </p:sp>
    </p:spTree>
    <p:extLst>
      <p:ext uri="{BB962C8B-B14F-4D97-AF65-F5344CB8AC3E}">
        <p14:creationId xmlns:p14="http://schemas.microsoft.com/office/powerpoint/2010/main" val="353771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429046" cy="769441"/>
          </a:xfrm>
          <a:prstGeom prst="rect">
            <a:avLst/>
          </a:prstGeom>
          <a:noFill/>
        </p:spPr>
        <p:txBody>
          <a:bodyPr wrap="none" rtlCol="0">
            <a:spAutoFit/>
          </a:bodyPr>
          <a:lstStyle/>
          <a:p>
            <a:r>
              <a:rPr lang="hu-HU" sz="4400" dirty="0">
                <a:highlight>
                  <a:srgbClr val="FF3F5A"/>
                </a:highlight>
              </a:rPr>
              <a:t>Sajtó</a:t>
            </a:r>
          </a:p>
        </p:txBody>
      </p:sp>
      <p:sp>
        <p:nvSpPr>
          <p:cNvPr id="2" name="TextBox 1">
            <a:extLst>
              <a:ext uri="{FF2B5EF4-FFF2-40B4-BE49-F238E27FC236}">
                <a16:creationId xmlns:a16="http://schemas.microsoft.com/office/drawing/2014/main" id="{4AE0F143-6631-7692-CD35-DB8A588F3B31}"/>
              </a:ext>
            </a:extLst>
          </p:cNvPr>
          <p:cNvSpPr txBox="1"/>
          <p:nvPr/>
        </p:nvSpPr>
        <p:spPr>
          <a:xfrm>
            <a:off x="0" y="1875418"/>
            <a:ext cx="12106456" cy="2308324"/>
          </a:xfrm>
          <a:prstGeom prst="rect">
            <a:avLst/>
          </a:prstGeom>
          <a:noFill/>
        </p:spPr>
        <p:txBody>
          <a:bodyPr wrap="none" rtlCol="0">
            <a:spAutoFit/>
          </a:bodyPr>
          <a:lstStyle/>
          <a:p>
            <a:r>
              <a:rPr lang="hu-HU" sz="4400" dirty="0">
                <a:highlight>
                  <a:srgbClr val="FF3F5A"/>
                </a:highlight>
              </a:rPr>
              <a:t>HnL321 - Kiégés - Beszélgetés </a:t>
            </a:r>
            <a:r>
              <a:rPr lang="hu-HU" sz="4400" dirty="0" err="1">
                <a:highlight>
                  <a:srgbClr val="FF3F5A"/>
                </a:highlight>
              </a:rPr>
              <a:t>Krasznay</a:t>
            </a:r>
            <a:r>
              <a:rPr lang="hu-HU" sz="4400" dirty="0">
                <a:highlight>
                  <a:srgbClr val="FF3F5A"/>
                </a:highlight>
              </a:rPr>
              <a:t> Csabával</a:t>
            </a:r>
          </a:p>
          <a:p>
            <a:r>
              <a:rPr lang="hu-HU" sz="2000" dirty="0">
                <a:highlight>
                  <a:srgbClr val="000000"/>
                </a:highlight>
              </a:rPr>
              <a:t>"Egy </a:t>
            </a:r>
            <a:r>
              <a:rPr lang="hu-HU" sz="2000" dirty="0" err="1">
                <a:highlight>
                  <a:srgbClr val="000000"/>
                </a:highlight>
              </a:rPr>
              <a:t>securityban</a:t>
            </a:r>
            <a:r>
              <a:rPr lang="hu-HU" sz="2000" dirty="0">
                <a:highlight>
                  <a:srgbClr val="000000"/>
                </a:highlight>
              </a:rPr>
              <a:t> nagyon, nagyon, nagyon fontos, hogy ami ma történt [...] arról beszéljünk. </a:t>
            </a:r>
            <a:br>
              <a:rPr lang="hu-HU" sz="2000" dirty="0">
                <a:highlight>
                  <a:srgbClr val="000000"/>
                </a:highlight>
              </a:rPr>
            </a:br>
            <a:r>
              <a:rPr lang="hu-HU" sz="2000" dirty="0">
                <a:highlight>
                  <a:srgbClr val="000000"/>
                </a:highlight>
              </a:rPr>
              <a:t>Mert az a legértékesebb szerintem.„  .- 30:57</a:t>
            </a:r>
          </a:p>
          <a:p>
            <a:r>
              <a:rPr lang="hu-HU" sz="2000" dirty="0">
                <a:highlight>
                  <a:srgbClr val="000000"/>
                </a:highlight>
              </a:rPr>
              <a:t>"Például ez is hiányzik a magyar hírmédiából. [...] a </a:t>
            </a:r>
            <a:r>
              <a:rPr lang="hu-HU" sz="2000" dirty="0" err="1">
                <a:highlight>
                  <a:srgbClr val="000000"/>
                </a:highlight>
              </a:rPr>
              <a:t>cybersecurity</a:t>
            </a:r>
            <a:r>
              <a:rPr lang="hu-HU" sz="2000" dirty="0">
                <a:highlight>
                  <a:srgbClr val="000000"/>
                </a:highlight>
              </a:rPr>
              <a:t>-s hírek, amik megjelennek, </a:t>
            </a:r>
            <a:br>
              <a:rPr lang="hu-HU" sz="2000" dirty="0">
                <a:highlight>
                  <a:srgbClr val="000000"/>
                </a:highlight>
              </a:rPr>
            </a:br>
            <a:r>
              <a:rPr lang="hu-HU" sz="2000" dirty="0">
                <a:highlight>
                  <a:srgbClr val="000000"/>
                </a:highlight>
              </a:rPr>
              <a:t>azok vagy nagyon le vannak maradva, vagy nagyon magas szintűek, vagy egyszerűen nem azt válogatják ki, </a:t>
            </a:r>
            <a:br>
              <a:rPr lang="hu-HU" sz="2000" dirty="0">
                <a:highlight>
                  <a:srgbClr val="000000"/>
                </a:highlight>
              </a:rPr>
            </a:br>
            <a:r>
              <a:rPr lang="hu-HU" sz="2000" dirty="0">
                <a:highlight>
                  <a:srgbClr val="000000"/>
                </a:highlight>
              </a:rPr>
              <a:t>ami szerintem igazából érdekes. [...] nincs egy normális IT-</a:t>
            </a:r>
            <a:r>
              <a:rPr lang="hu-HU" sz="2000" dirty="0" err="1">
                <a:highlight>
                  <a:srgbClr val="000000"/>
                </a:highlight>
              </a:rPr>
              <a:t>val</a:t>
            </a:r>
            <a:r>
              <a:rPr lang="hu-HU" sz="2000" dirty="0">
                <a:highlight>
                  <a:srgbClr val="000000"/>
                </a:highlight>
              </a:rPr>
              <a:t> foglalkozó magyar nyelvű portál„ - 32:02</a:t>
            </a:r>
          </a:p>
        </p:txBody>
      </p:sp>
      <p:sp>
        <p:nvSpPr>
          <p:cNvPr id="3" name="TextBox 2">
            <a:extLst>
              <a:ext uri="{FF2B5EF4-FFF2-40B4-BE49-F238E27FC236}">
                <a16:creationId xmlns:a16="http://schemas.microsoft.com/office/drawing/2014/main" id="{78E87EC4-CDF9-9290-57CA-9AC58131BB50}"/>
              </a:ext>
            </a:extLst>
          </p:cNvPr>
          <p:cNvSpPr txBox="1"/>
          <p:nvPr/>
        </p:nvSpPr>
        <p:spPr>
          <a:xfrm>
            <a:off x="0" y="4919505"/>
            <a:ext cx="5374933" cy="923330"/>
          </a:xfrm>
          <a:prstGeom prst="rect">
            <a:avLst/>
          </a:prstGeom>
          <a:noFill/>
        </p:spPr>
        <p:txBody>
          <a:bodyPr wrap="none" rtlCol="0">
            <a:spAutoFit/>
          </a:bodyPr>
          <a:lstStyle/>
          <a:p>
            <a:r>
              <a:rPr lang="hu-HU" dirty="0">
                <a:highlight>
                  <a:srgbClr val="FF3F5A"/>
                </a:highlight>
              </a:rPr>
              <a:t>Kémkedett a Facebook a Snapchat felhasználói után</a:t>
            </a:r>
          </a:p>
          <a:p>
            <a:r>
              <a:rPr lang="hu-HU" dirty="0"/>
              <a:t>HWSW: 2024. MÁRCIUS 27. 11:40</a:t>
            </a:r>
          </a:p>
          <a:p>
            <a:r>
              <a:rPr lang="en-US" dirty="0" err="1"/>
              <a:t>Yanac</a:t>
            </a:r>
            <a:r>
              <a:rPr lang="en-US" dirty="0"/>
              <a:t>: 2024</a:t>
            </a:r>
            <a:r>
              <a:rPr lang="hu-HU" dirty="0"/>
              <a:t>. MÁRCIUS 27.</a:t>
            </a:r>
            <a:r>
              <a:rPr lang="en-US" dirty="0"/>
              <a:t> </a:t>
            </a:r>
            <a:r>
              <a:rPr lang="hu-HU" dirty="0"/>
              <a:t>20:</a:t>
            </a:r>
            <a:r>
              <a:rPr lang="en-US" dirty="0"/>
              <a:t>00</a:t>
            </a:r>
            <a:endParaRPr lang="hu-HU" dirty="0"/>
          </a:p>
        </p:txBody>
      </p:sp>
      <p:sp>
        <p:nvSpPr>
          <p:cNvPr id="4" name="TextBox 3">
            <a:extLst>
              <a:ext uri="{FF2B5EF4-FFF2-40B4-BE49-F238E27FC236}">
                <a16:creationId xmlns:a16="http://schemas.microsoft.com/office/drawing/2014/main" id="{FF3F2B22-8022-2073-278F-D42825761C46}"/>
              </a:ext>
            </a:extLst>
          </p:cNvPr>
          <p:cNvSpPr txBox="1"/>
          <p:nvPr/>
        </p:nvSpPr>
        <p:spPr>
          <a:xfrm>
            <a:off x="5230" y="5934670"/>
            <a:ext cx="6090770" cy="923330"/>
          </a:xfrm>
          <a:prstGeom prst="rect">
            <a:avLst/>
          </a:prstGeom>
          <a:noFill/>
        </p:spPr>
        <p:txBody>
          <a:bodyPr wrap="none" rtlCol="0">
            <a:spAutoFit/>
          </a:bodyPr>
          <a:lstStyle/>
          <a:p>
            <a:r>
              <a:rPr lang="hu-HU" dirty="0">
                <a:highlight>
                  <a:srgbClr val="FF3F5A"/>
                </a:highlight>
              </a:rPr>
              <a:t>Csalóoldalakat terjeszt a Google MI-vel támogatott keresője</a:t>
            </a:r>
          </a:p>
          <a:p>
            <a:r>
              <a:rPr lang="hu-HU" dirty="0"/>
              <a:t>HWSW: 2024. MÁRCIUS 26. 14:22</a:t>
            </a:r>
          </a:p>
          <a:p>
            <a:r>
              <a:rPr lang="en-US" dirty="0" err="1"/>
              <a:t>Yanac</a:t>
            </a:r>
            <a:r>
              <a:rPr lang="en-US" dirty="0"/>
              <a:t>: 2024</a:t>
            </a:r>
            <a:r>
              <a:rPr lang="hu-HU" dirty="0"/>
              <a:t>. MÁRCIUS 25. 16</a:t>
            </a:r>
            <a:r>
              <a:rPr lang="en-US" dirty="0"/>
              <a:t>:57</a:t>
            </a:r>
            <a:endParaRPr lang="hu-HU" dirty="0"/>
          </a:p>
        </p:txBody>
      </p:sp>
      <p:sp>
        <p:nvSpPr>
          <p:cNvPr id="7" name="TextBox 6">
            <a:extLst>
              <a:ext uri="{FF2B5EF4-FFF2-40B4-BE49-F238E27FC236}">
                <a16:creationId xmlns:a16="http://schemas.microsoft.com/office/drawing/2014/main" id="{D0CEAB35-3F35-CE48-EC28-DF675BF353CD}"/>
              </a:ext>
            </a:extLst>
          </p:cNvPr>
          <p:cNvSpPr txBox="1"/>
          <p:nvPr/>
        </p:nvSpPr>
        <p:spPr>
          <a:xfrm>
            <a:off x="6198509" y="4919505"/>
            <a:ext cx="6011774" cy="923330"/>
          </a:xfrm>
          <a:prstGeom prst="rect">
            <a:avLst/>
          </a:prstGeom>
          <a:noFill/>
        </p:spPr>
        <p:txBody>
          <a:bodyPr wrap="none" rtlCol="0">
            <a:spAutoFit/>
          </a:bodyPr>
          <a:lstStyle/>
          <a:p>
            <a:r>
              <a:rPr lang="hu-HU" dirty="0">
                <a:highlight>
                  <a:srgbClr val="FF3F5A"/>
                </a:highlight>
              </a:rPr>
              <a:t>Facebookon taroltak a </a:t>
            </a:r>
            <a:r>
              <a:rPr lang="hu-HU" dirty="0" err="1">
                <a:highlight>
                  <a:srgbClr val="FF3F5A"/>
                </a:highlight>
              </a:rPr>
              <a:t>Midjourney</a:t>
            </a:r>
            <a:r>
              <a:rPr lang="hu-HU" dirty="0">
                <a:highlight>
                  <a:srgbClr val="FF3F5A"/>
                </a:highlight>
              </a:rPr>
              <a:t> nevével visszaélő csalók</a:t>
            </a:r>
          </a:p>
          <a:p>
            <a:r>
              <a:rPr lang="hu-HU" dirty="0"/>
              <a:t>HWSW : 2024. ÁPRILIS 9. 13:00</a:t>
            </a:r>
          </a:p>
          <a:p>
            <a:r>
              <a:rPr lang="en-US" dirty="0" err="1"/>
              <a:t>Yanac</a:t>
            </a:r>
            <a:r>
              <a:rPr lang="en-US" dirty="0"/>
              <a:t>: 2024</a:t>
            </a:r>
            <a:r>
              <a:rPr lang="hu-HU" dirty="0"/>
              <a:t>. ÁPRILIS 8. </a:t>
            </a:r>
            <a:r>
              <a:rPr lang="en-US" dirty="0"/>
              <a:t>18:56</a:t>
            </a:r>
            <a:endParaRPr lang="hu-HU" dirty="0"/>
          </a:p>
        </p:txBody>
      </p:sp>
      <p:sp>
        <p:nvSpPr>
          <p:cNvPr id="8" name="TextBox 7">
            <a:extLst>
              <a:ext uri="{FF2B5EF4-FFF2-40B4-BE49-F238E27FC236}">
                <a16:creationId xmlns:a16="http://schemas.microsoft.com/office/drawing/2014/main" id="{CE005597-5D8A-0A8F-655C-9E6B0FF16B82}"/>
              </a:ext>
            </a:extLst>
          </p:cNvPr>
          <p:cNvSpPr txBox="1"/>
          <p:nvPr/>
        </p:nvSpPr>
        <p:spPr>
          <a:xfrm>
            <a:off x="6198509" y="5934670"/>
            <a:ext cx="5592237" cy="923330"/>
          </a:xfrm>
          <a:prstGeom prst="rect">
            <a:avLst/>
          </a:prstGeom>
          <a:noFill/>
        </p:spPr>
        <p:txBody>
          <a:bodyPr wrap="none" rtlCol="0">
            <a:spAutoFit/>
          </a:bodyPr>
          <a:lstStyle/>
          <a:p>
            <a:r>
              <a:rPr lang="hu-HU" dirty="0">
                <a:highlight>
                  <a:srgbClr val="FF3F5A"/>
                </a:highlight>
              </a:rPr>
              <a:t>Feltörték a webes biztonságot oktató OWASP szerverét</a:t>
            </a:r>
          </a:p>
          <a:p>
            <a:r>
              <a:rPr lang="hu-HU" dirty="0"/>
              <a:t>prog.hu 2024. ÁPRILIS  04.</a:t>
            </a:r>
          </a:p>
          <a:p>
            <a:r>
              <a:rPr lang="en-US" dirty="0" err="1"/>
              <a:t>Yanac</a:t>
            </a:r>
            <a:r>
              <a:rPr lang="en-US" dirty="0"/>
              <a:t>: 2024</a:t>
            </a:r>
            <a:r>
              <a:rPr lang="hu-HU" dirty="0"/>
              <a:t>. ÁPRILIS  04.</a:t>
            </a:r>
            <a:r>
              <a:rPr lang="en-US" dirty="0"/>
              <a:t> 19:13</a:t>
            </a:r>
            <a:endParaRPr lang="hu-HU" dirty="0"/>
          </a:p>
        </p:txBody>
      </p:sp>
    </p:spTree>
    <p:extLst>
      <p:ext uri="{BB962C8B-B14F-4D97-AF65-F5344CB8AC3E}">
        <p14:creationId xmlns:p14="http://schemas.microsoft.com/office/powerpoint/2010/main" val="1533744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310569" cy="769441"/>
          </a:xfrm>
          <a:prstGeom prst="rect">
            <a:avLst/>
          </a:prstGeom>
          <a:noFill/>
        </p:spPr>
        <p:txBody>
          <a:bodyPr wrap="none" rtlCol="0">
            <a:spAutoFit/>
          </a:bodyPr>
          <a:lstStyle/>
          <a:p>
            <a:r>
              <a:rPr lang="hu-HU" sz="4400" dirty="0">
                <a:highlight>
                  <a:srgbClr val="FF3F5A"/>
                </a:highlight>
              </a:rPr>
              <a:t>Hogyan?</a:t>
            </a:r>
          </a:p>
        </p:txBody>
      </p:sp>
      <p:sp>
        <p:nvSpPr>
          <p:cNvPr id="2" name="TextBox 1">
            <a:extLst>
              <a:ext uri="{FF2B5EF4-FFF2-40B4-BE49-F238E27FC236}">
                <a16:creationId xmlns:a16="http://schemas.microsoft.com/office/drawing/2014/main" id="{4242BBF1-C240-D988-6E5A-6E9C0B7C07B0}"/>
              </a:ext>
            </a:extLst>
          </p:cNvPr>
          <p:cNvSpPr txBox="1"/>
          <p:nvPr/>
        </p:nvSpPr>
        <p:spPr>
          <a:xfrm>
            <a:off x="475707" y="3791546"/>
            <a:ext cx="2180212" cy="1477328"/>
          </a:xfrm>
          <a:prstGeom prst="rect">
            <a:avLst/>
          </a:prstGeom>
          <a:noFill/>
        </p:spPr>
        <p:txBody>
          <a:bodyPr wrap="none" rtlCol="0">
            <a:spAutoFit/>
          </a:bodyPr>
          <a:lstStyle/>
          <a:p>
            <a:r>
              <a:rPr lang="hu-HU" dirty="0">
                <a:highlight>
                  <a:srgbClr val="FF3F5A"/>
                </a:highlight>
              </a:rPr>
              <a:t>GERONIMO</a:t>
            </a:r>
          </a:p>
          <a:p>
            <a:pPr marL="285750" indent="-285750">
              <a:buFontTx/>
              <a:buChar char="-"/>
            </a:pPr>
            <a:r>
              <a:rPr lang="hu-HU" dirty="0">
                <a:highlight>
                  <a:srgbClr val="000000"/>
                </a:highlight>
              </a:rPr>
              <a:t>5538 POSZT</a:t>
            </a:r>
          </a:p>
          <a:p>
            <a:pPr marL="285750" indent="-285750">
              <a:buFontTx/>
              <a:buChar char="-"/>
            </a:pPr>
            <a:r>
              <a:rPr lang="hu-HU" dirty="0">
                <a:highlight>
                  <a:srgbClr val="000000"/>
                </a:highlight>
              </a:rPr>
              <a:t>HETI 5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FORRÁSKUTATÁS</a:t>
            </a:r>
          </a:p>
        </p:txBody>
      </p:sp>
      <p:sp>
        <p:nvSpPr>
          <p:cNvPr id="4" name="TextBox 3">
            <a:extLst>
              <a:ext uri="{FF2B5EF4-FFF2-40B4-BE49-F238E27FC236}">
                <a16:creationId xmlns:a16="http://schemas.microsoft.com/office/drawing/2014/main" id="{E1F1AD26-128E-D8CB-AE9F-9C2684D001B5}"/>
              </a:ext>
            </a:extLst>
          </p:cNvPr>
          <p:cNvSpPr txBox="1"/>
          <p:nvPr/>
        </p:nvSpPr>
        <p:spPr>
          <a:xfrm>
            <a:off x="7320737" y="918644"/>
            <a:ext cx="2180212" cy="1754326"/>
          </a:xfrm>
          <a:prstGeom prst="rect">
            <a:avLst/>
          </a:prstGeom>
          <a:noFill/>
        </p:spPr>
        <p:txBody>
          <a:bodyPr wrap="none" rtlCol="0">
            <a:spAutoFit/>
          </a:bodyPr>
          <a:lstStyle/>
          <a:p>
            <a:r>
              <a:rPr lang="hu-HU" dirty="0">
                <a:highlight>
                  <a:srgbClr val="FF3F5A"/>
                </a:highlight>
              </a:rPr>
              <a:t>BIBÓ</a:t>
            </a:r>
          </a:p>
          <a:p>
            <a:pPr marL="285750" indent="-285750">
              <a:buFontTx/>
              <a:buChar char="-"/>
            </a:pPr>
            <a:r>
              <a:rPr lang="hu-HU" dirty="0">
                <a:highlight>
                  <a:srgbClr val="000000"/>
                </a:highlight>
              </a:rPr>
              <a:t>731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FORRÁSKUTATÁS</a:t>
            </a:r>
          </a:p>
          <a:p>
            <a:pPr marL="285750" indent="-285750">
              <a:buFontTx/>
              <a:buChar char="-"/>
            </a:pPr>
            <a:r>
              <a:rPr lang="hu-HU" dirty="0">
                <a:highlight>
                  <a:srgbClr val="000000"/>
                </a:highlight>
              </a:rPr>
              <a:t>INFRA</a:t>
            </a:r>
          </a:p>
        </p:txBody>
      </p:sp>
      <p:sp>
        <p:nvSpPr>
          <p:cNvPr id="7" name="TextBox 6">
            <a:extLst>
              <a:ext uri="{FF2B5EF4-FFF2-40B4-BE49-F238E27FC236}">
                <a16:creationId xmlns:a16="http://schemas.microsoft.com/office/drawing/2014/main" id="{DB2BB8CC-FCB3-51B6-3777-0628DFF42581}"/>
              </a:ext>
            </a:extLst>
          </p:cNvPr>
          <p:cNvSpPr txBox="1"/>
          <p:nvPr/>
        </p:nvSpPr>
        <p:spPr>
          <a:xfrm>
            <a:off x="7320737" y="3791546"/>
            <a:ext cx="1893467" cy="1477328"/>
          </a:xfrm>
          <a:prstGeom prst="rect">
            <a:avLst/>
          </a:prstGeom>
          <a:noFill/>
        </p:spPr>
        <p:txBody>
          <a:bodyPr wrap="none" rtlCol="0">
            <a:spAutoFit/>
          </a:bodyPr>
          <a:lstStyle/>
          <a:p>
            <a:r>
              <a:rPr lang="hu-HU" dirty="0">
                <a:highlight>
                  <a:srgbClr val="FF3F5A"/>
                </a:highlight>
              </a:rPr>
              <a:t>SZULEJ</a:t>
            </a:r>
          </a:p>
          <a:p>
            <a:pPr marL="285750" indent="-285750">
              <a:buFontTx/>
              <a:buChar char="-"/>
            </a:pPr>
            <a:r>
              <a:rPr lang="hu-HU" dirty="0">
                <a:highlight>
                  <a:srgbClr val="000000"/>
                </a:highlight>
              </a:rPr>
              <a:t>63 POSZT</a:t>
            </a:r>
          </a:p>
          <a:p>
            <a:pPr marL="285750" indent="-285750">
              <a:buFontTx/>
              <a:buChar char="-"/>
            </a:pPr>
            <a:r>
              <a:rPr lang="hu-HU" dirty="0">
                <a:highlight>
                  <a:srgbClr val="000000"/>
                </a:highlight>
              </a:rPr>
              <a:t>HAVI 1 NAP</a:t>
            </a:r>
          </a:p>
          <a:p>
            <a:pPr marL="285750" indent="-285750">
              <a:buFontTx/>
              <a:buChar char="-"/>
            </a:pPr>
            <a:r>
              <a:rPr lang="hu-HU" dirty="0">
                <a:highlight>
                  <a:srgbClr val="000000"/>
                </a:highlight>
              </a:rPr>
              <a:t>TUDATOSÍTÁS</a:t>
            </a:r>
          </a:p>
          <a:p>
            <a:pPr marL="285750" indent="-285750">
              <a:buFontTx/>
              <a:buChar char="-"/>
            </a:pPr>
            <a:r>
              <a:rPr lang="hu-HU" dirty="0">
                <a:highlight>
                  <a:srgbClr val="000000"/>
                </a:highlight>
              </a:rPr>
              <a:t>TIPPEK</a:t>
            </a:r>
          </a:p>
        </p:txBody>
      </p:sp>
      <p:sp>
        <p:nvSpPr>
          <p:cNvPr id="8" name="TextBox 7">
            <a:extLst>
              <a:ext uri="{FF2B5EF4-FFF2-40B4-BE49-F238E27FC236}">
                <a16:creationId xmlns:a16="http://schemas.microsoft.com/office/drawing/2014/main" id="{4D105572-6627-22FF-B67B-83B2B9F8C053}"/>
              </a:ext>
            </a:extLst>
          </p:cNvPr>
          <p:cNvSpPr txBox="1"/>
          <p:nvPr/>
        </p:nvSpPr>
        <p:spPr>
          <a:xfrm>
            <a:off x="3389601" y="3791546"/>
            <a:ext cx="1866217" cy="1477328"/>
          </a:xfrm>
          <a:prstGeom prst="rect">
            <a:avLst/>
          </a:prstGeom>
          <a:noFill/>
        </p:spPr>
        <p:txBody>
          <a:bodyPr wrap="none" rtlCol="0">
            <a:spAutoFit/>
          </a:bodyPr>
          <a:lstStyle/>
          <a:p>
            <a:r>
              <a:rPr lang="hu-HU" dirty="0" err="1">
                <a:highlight>
                  <a:srgbClr val="FF3F5A"/>
                </a:highlight>
              </a:rPr>
              <a:t>TrainedR</a:t>
            </a:r>
            <a:endParaRPr lang="hu-HU" dirty="0">
              <a:highlight>
                <a:srgbClr val="FF3F5A"/>
              </a:highlight>
            </a:endParaRPr>
          </a:p>
          <a:p>
            <a:pPr marL="285750" indent="-285750">
              <a:buFontTx/>
              <a:buChar char="-"/>
            </a:pPr>
            <a:r>
              <a:rPr lang="hu-HU" dirty="0">
                <a:highlight>
                  <a:srgbClr val="000000"/>
                </a:highlight>
              </a:rPr>
              <a:t>941 POSZT</a:t>
            </a:r>
          </a:p>
          <a:p>
            <a:pPr marL="285750" indent="-285750">
              <a:buFontTx/>
              <a:buChar char="-"/>
            </a:pPr>
            <a:r>
              <a:rPr lang="hu-HU" dirty="0">
                <a:highlight>
                  <a:srgbClr val="000000"/>
                </a:highlight>
              </a:rPr>
              <a:t>HETI 1-2 NAP</a:t>
            </a:r>
          </a:p>
          <a:p>
            <a:pPr marL="285750" indent="-285750">
              <a:buFontTx/>
              <a:buChar char="-"/>
            </a:pPr>
            <a:r>
              <a:rPr lang="hu-HU" dirty="0">
                <a:highlight>
                  <a:srgbClr val="000000"/>
                </a:highlight>
              </a:rPr>
              <a:t>SZERKESZTÉS</a:t>
            </a:r>
          </a:p>
          <a:p>
            <a:pPr marL="285750" indent="-285750">
              <a:buFontTx/>
              <a:buChar char="-"/>
            </a:pPr>
            <a:r>
              <a:rPr lang="hu-HU" dirty="0">
                <a:highlight>
                  <a:srgbClr val="000000"/>
                </a:highlight>
              </a:rPr>
              <a:t>STRATÉGIA</a:t>
            </a:r>
          </a:p>
        </p:txBody>
      </p:sp>
      <p:sp>
        <p:nvSpPr>
          <p:cNvPr id="9" name="TextBox 8">
            <a:extLst>
              <a:ext uri="{FF2B5EF4-FFF2-40B4-BE49-F238E27FC236}">
                <a16:creationId xmlns:a16="http://schemas.microsoft.com/office/drawing/2014/main" id="{392DED48-28E1-F052-027F-F4FEA007D2A7}"/>
              </a:ext>
            </a:extLst>
          </p:cNvPr>
          <p:cNvSpPr txBox="1"/>
          <p:nvPr/>
        </p:nvSpPr>
        <p:spPr>
          <a:xfrm>
            <a:off x="3924530" y="1866125"/>
            <a:ext cx="1553823" cy="1200329"/>
          </a:xfrm>
          <a:prstGeom prst="rect">
            <a:avLst/>
          </a:prstGeom>
          <a:noFill/>
        </p:spPr>
        <p:txBody>
          <a:bodyPr wrap="none" rtlCol="0">
            <a:spAutoFit/>
          </a:bodyPr>
          <a:lstStyle/>
          <a:p>
            <a:r>
              <a:rPr lang="hu-HU" dirty="0">
                <a:highlight>
                  <a:srgbClr val="FF3F5A"/>
                </a:highlight>
              </a:rPr>
              <a:t>gh0o5t</a:t>
            </a:r>
          </a:p>
          <a:p>
            <a:pPr marL="285750" indent="-285750">
              <a:buFontTx/>
              <a:buChar char="-"/>
            </a:pPr>
            <a:r>
              <a:rPr lang="hu-HU" dirty="0">
                <a:highlight>
                  <a:srgbClr val="000000"/>
                </a:highlight>
              </a:rPr>
              <a:t>BACK-END</a:t>
            </a:r>
          </a:p>
          <a:p>
            <a:pPr marL="285750" indent="-285750">
              <a:buFontTx/>
              <a:buChar char="-"/>
            </a:pPr>
            <a:r>
              <a:rPr lang="hu-HU" dirty="0">
                <a:highlight>
                  <a:srgbClr val="000000"/>
                </a:highlight>
              </a:rPr>
              <a:t>OPENCTI</a:t>
            </a:r>
          </a:p>
          <a:p>
            <a:pPr marL="285750" indent="-285750">
              <a:buFontTx/>
              <a:buChar char="-"/>
            </a:pPr>
            <a:r>
              <a:rPr lang="hu-HU" dirty="0">
                <a:highlight>
                  <a:srgbClr val="000000"/>
                </a:highlight>
              </a:rPr>
              <a:t>INFRA</a:t>
            </a:r>
          </a:p>
        </p:txBody>
      </p:sp>
    </p:spTree>
    <p:extLst>
      <p:ext uri="{BB962C8B-B14F-4D97-AF65-F5344CB8AC3E}">
        <p14:creationId xmlns:p14="http://schemas.microsoft.com/office/powerpoint/2010/main" val="10067900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2219325" cy="769441"/>
          </a:xfrm>
          <a:prstGeom prst="rect">
            <a:avLst/>
          </a:prstGeom>
          <a:noFill/>
        </p:spPr>
        <p:txBody>
          <a:bodyPr wrap="none" rtlCol="0">
            <a:spAutoFit/>
          </a:bodyPr>
          <a:lstStyle/>
          <a:p>
            <a:r>
              <a:rPr lang="hu-HU" sz="4400" dirty="0">
                <a:highlight>
                  <a:srgbClr val="FF3F5A"/>
                </a:highlight>
              </a:rPr>
              <a:t>Mennyi?</a:t>
            </a:r>
          </a:p>
        </p:txBody>
      </p:sp>
      <p:pic>
        <p:nvPicPr>
          <p:cNvPr id="4" name="Picture 3">
            <a:extLst>
              <a:ext uri="{FF2B5EF4-FFF2-40B4-BE49-F238E27FC236}">
                <a16:creationId xmlns:a16="http://schemas.microsoft.com/office/drawing/2014/main" id="{893355B3-F559-3E93-4D91-E8D27286030F}"/>
              </a:ext>
            </a:extLst>
          </p:cNvPr>
          <p:cNvPicPr>
            <a:picLocks noChangeAspect="1"/>
          </p:cNvPicPr>
          <p:nvPr/>
        </p:nvPicPr>
        <p:blipFill>
          <a:blip r:embed="rId4"/>
          <a:stretch>
            <a:fillRect/>
          </a:stretch>
        </p:blipFill>
        <p:spPr>
          <a:xfrm>
            <a:off x="5399727" y="3642917"/>
            <a:ext cx="6792273" cy="3215083"/>
          </a:xfrm>
          <a:prstGeom prst="rect">
            <a:avLst/>
          </a:prstGeom>
        </p:spPr>
      </p:pic>
      <p:pic>
        <p:nvPicPr>
          <p:cNvPr id="8" name="Picture 7">
            <a:extLst>
              <a:ext uri="{FF2B5EF4-FFF2-40B4-BE49-F238E27FC236}">
                <a16:creationId xmlns:a16="http://schemas.microsoft.com/office/drawing/2014/main" id="{D6705985-3E09-6157-0A44-24AF983EE7D9}"/>
              </a:ext>
            </a:extLst>
          </p:cNvPr>
          <p:cNvPicPr>
            <a:picLocks noChangeAspect="1"/>
          </p:cNvPicPr>
          <p:nvPr/>
        </p:nvPicPr>
        <p:blipFill>
          <a:blip r:embed="rId5"/>
          <a:stretch>
            <a:fillRect/>
          </a:stretch>
        </p:blipFill>
        <p:spPr>
          <a:xfrm>
            <a:off x="5399727" y="0"/>
            <a:ext cx="6792273" cy="3215083"/>
          </a:xfrm>
          <a:prstGeom prst="rect">
            <a:avLst/>
          </a:prstGeom>
        </p:spPr>
      </p:pic>
      <p:pic>
        <p:nvPicPr>
          <p:cNvPr id="10" name="Picture 9">
            <a:extLst>
              <a:ext uri="{FF2B5EF4-FFF2-40B4-BE49-F238E27FC236}">
                <a16:creationId xmlns:a16="http://schemas.microsoft.com/office/drawing/2014/main" id="{A0BA7FD2-C86F-1F74-BB64-405C8CD46A44}"/>
              </a:ext>
            </a:extLst>
          </p:cNvPr>
          <p:cNvPicPr>
            <a:picLocks noChangeAspect="1"/>
          </p:cNvPicPr>
          <p:nvPr/>
        </p:nvPicPr>
        <p:blipFill>
          <a:blip r:embed="rId6"/>
          <a:stretch>
            <a:fillRect/>
          </a:stretch>
        </p:blipFill>
        <p:spPr>
          <a:xfrm>
            <a:off x="0" y="3642917"/>
            <a:ext cx="5344271" cy="3215083"/>
          </a:xfrm>
          <a:prstGeom prst="rect">
            <a:avLst/>
          </a:prstGeom>
        </p:spPr>
      </p:pic>
      <p:sp>
        <p:nvSpPr>
          <p:cNvPr id="14" name="TextBox 13">
            <a:extLst>
              <a:ext uri="{FF2B5EF4-FFF2-40B4-BE49-F238E27FC236}">
                <a16:creationId xmlns:a16="http://schemas.microsoft.com/office/drawing/2014/main" id="{DAFF1E2B-5509-1DC4-BA45-B01D7060FF86}"/>
              </a:ext>
            </a:extLst>
          </p:cNvPr>
          <p:cNvSpPr txBox="1"/>
          <p:nvPr/>
        </p:nvSpPr>
        <p:spPr>
          <a:xfrm>
            <a:off x="1907814" y="1308989"/>
            <a:ext cx="2838211" cy="1754326"/>
          </a:xfrm>
          <a:prstGeom prst="rect">
            <a:avLst/>
          </a:prstGeom>
          <a:noFill/>
        </p:spPr>
        <p:txBody>
          <a:bodyPr wrap="square">
            <a:spAutoFit/>
          </a:bodyPr>
          <a:lstStyle/>
          <a:p>
            <a:r>
              <a:rPr lang="hu-HU" dirty="0">
                <a:highlight>
                  <a:srgbClr val="FF3F5A"/>
                </a:highlight>
              </a:rPr>
              <a:t>TOP 3 KATEGÓRIA</a:t>
            </a:r>
          </a:p>
          <a:p>
            <a:pPr marL="285750" indent="-285750">
              <a:buFontTx/>
              <a:buChar char="-"/>
            </a:pPr>
            <a:r>
              <a:rPr lang="hu-HU" dirty="0"/>
              <a:t>EDITORS’ PICK</a:t>
            </a:r>
          </a:p>
          <a:p>
            <a:pPr marL="285750" indent="-285750">
              <a:buFontTx/>
              <a:buChar char="-"/>
            </a:pPr>
            <a:r>
              <a:rPr lang="hu-HU" dirty="0"/>
              <a:t>SÉRÜLÉKENYSÉGEK</a:t>
            </a:r>
          </a:p>
          <a:p>
            <a:pPr marL="285750" indent="-285750">
              <a:buFontTx/>
              <a:buChar char="-"/>
            </a:pPr>
            <a:r>
              <a:rPr lang="hu-HU" dirty="0"/>
              <a:t>HÍREK</a:t>
            </a:r>
          </a:p>
          <a:p>
            <a:pPr marL="285750" indent="-285750">
              <a:buFontTx/>
              <a:buChar char="-"/>
            </a:pPr>
            <a:endParaRPr lang="hu-HU" dirty="0"/>
          </a:p>
          <a:p>
            <a:r>
              <a:rPr lang="hu-HU" dirty="0"/>
              <a:t>15.310 OLDALLETÖLTÉS</a:t>
            </a:r>
          </a:p>
        </p:txBody>
      </p:sp>
      <p:sp>
        <p:nvSpPr>
          <p:cNvPr id="16" name="TextBox 15">
            <a:extLst>
              <a:ext uri="{FF2B5EF4-FFF2-40B4-BE49-F238E27FC236}">
                <a16:creationId xmlns:a16="http://schemas.microsoft.com/office/drawing/2014/main" id="{02961A0F-5B4C-A885-33FE-CF2D6EA868D5}"/>
              </a:ext>
            </a:extLst>
          </p:cNvPr>
          <p:cNvSpPr txBox="1"/>
          <p:nvPr/>
        </p:nvSpPr>
        <p:spPr>
          <a:xfrm>
            <a:off x="1872998" y="2386293"/>
            <a:ext cx="6094378" cy="369332"/>
          </a:xfrm>
          <a:prstGeom prst="rect">
            <a:avLst/>
          </a:prstGeom>
          <a:noFill/>
        </p:spPr>
        <p:txBody>
          <a:bodyPr wrap="square">
            <a:spAutoFit/>
          </a:bodyPr>
          <a:lstStyle/>
          <a:p>
            <a:r>
              <a:rPr lang="hu-HU" sz="1800" b="0" i="0" u="none" strike="noStrike" baseline="0" dirty="0">
                <a:highlight>
                  <a:srgbClr val="FF3F5A"/>
                </a:highlight>
              </a:rPr>
              <a:t>2023. okt. 1.–2024. ápr. 5.</a:t>
            </a:r>
            <a:endParaRPr lang="hu-HU" dirty="0">
              <a:highlight>
                <a:srgbClr val="FF3F5A"/>
              </a:highlight>
            </a:endParaRPr>
          </a:p>
        </p:txBody>
      </p:sp>
    </p:spTree>
    <p:extLst>
      <p:ext uri="{BB962C8B-B14F-4D97-AF65-F5344CB8AC3E}">
        <p14:creationId xmlns:p14="http://schemas.microsoft.com/office/powerpoint/2010/main" val="912924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1948419" cy="769441"/>
          </a:xfrm>
          <a:prstGeom prst="rect">
            <a:avLst/>
          </a:prstGeom>
          <a:noFill/>
        </p:spPr>
        <p:txBody>
          <a:bodyPr wrap="none" rtlCol="0">
            <a:spAutoFit/>
          </a:bodyPr>
          <a:lstStyle/>
          <a:p>
            <a:r>
              <a:rPr lang="hu-HU" sz="4400" dirty="0">
                <a:highlight>
                  <a:srgbClr val="FF3F5A"/>
                </a:highlight>
              </a:rPr>
              <a:t>CTI </a:t>
            </a:r>
            <a:r>
              <a:rPr lang="hu-HU" sz="1100" dirty="0">
                <a:highlight>
                  <a:srgbClr val="FF3F5A"/>
                </a:highlight>
              </a:rPr>
              <a:t>(na jó, nem is)</a:t>
            </a:r>
          </a:p>
        </p:txBody>
      </p:sp>
      <p:sp>
        <p:nvSpPr>
          <p:cNvPr id="7" name="TextBox 6">
            <a:extLst>
              <a:ext uri="{FF2B5EF4-FFF2-40B4-BE49-F238E27FC236}">
                <a16:creationId xmlns:a16="http://schemas.microsoft.com/office/drawing/2014/main" id="{8FA0CC15-FD6A-EDCB-9EE7-FAED754C4421}"/>
              </a:ext>
            </a:extLst>
          </p:cNvPr>
          <p:cNvSpPr txBox="1"/>
          <p:nvPr/>
        </p:nvSpPr>
        <p:spPr>
          <a:xfrm>
            <a:off x="1812455" y="1265962"/>
            <a:ext cx="4278864" cy="1200329"/>
          </a:xfrm>
          <a:prstGeom prst="rect">
            <a:avLst/>
          </a:prstGeom>
          <a:noFill/>
        </p:spPr>
        <p:txBody>
          <a:bodyPr wrap="none" rtlCol="0">
            <a:spAutoFit/>
          </a:bodyPr>
          <a:lstStyle/>
          <a:p>
            <a:r>
              <a:rPr lang="hu-HU" dirty="0">
                <a:highlight>
                  <a:srgbClr val="FF3F5A"/>
                </a:highlight>
              </a:rPr>
              <a:t>STATISZTIKA</a:t>
            </a:r>
          </a:p>
          <a:p>
            <a:pPr marL="285750" indent="-285750">
              <a:buFontTx/>
              <a:buChar char="-"/>
            </a:pPr>
            <a:r>
              <a:rPr lang="en-GB" dirty="0">
                <a:highlight>
                  <a:srgbClr val="000000"/>
                </a:highlight>
              </a:rPr>
              <a:t>7273</a:t>
            </a:r>
            <a:r>
              <a:rPr lang="hu-HU" dirty="0">
                <a:highlight>
                  <a:srgbClr val="000000"/>
                </a:highlight>
              </a:rPr>
              <a:t> MAGYAR NYELVŰ POSZT</a:t>
            </a:r>
          </a:p>
          <a:p>
            <a:pPr marL="285750" indent="-285750">
              <a:buFontTx/>
              <a:buChar char="-"/>
            </a:pPr>
            <a:r>
              <a:rPr lang="en-GB" dirty="0">
                <a:highlight>
                  <a:srgbClr val="000000"/>
                </a:highlight>
              </a:rPr>
              <a:t>169</a:t>
            </a:r>
            <a:r>
              <a:rPr lang="hu-HU" dirty="0">
                <a:highlight>
                  <a:srgbClr val="000000"/>
                </a:highlight>
              </a:rPr>
              <a:t>.</a:t>
            </a:r>
            <a:r>
              <a:rPr lang="en-GB" dirty="0">
                <a:highlight>
                  <a:srgbClr val="000000"/>
                </a:highlight>
              </a:rPr>
              <a:t>075</a:t>
            </a:r>
            <a:r>
              <a:rPr lang="hu-HU" dirty="0">
                <a:highlight>
                  <a:srgbClr val="000000"/>
                </a:highlight>
              </a:rPr>
              <a:t> PAGEVIEW AZ ELMÚLT ÉVBEN</a:t>
            </a:r>
          </a:p>
          <a:p>
            <a:pPr marL="285750" indent="-285750">
              <a:buFontTx/>
              <a:buChar char="-"/>
            </a:pPr>
            <a:endParaRPr lang="hu-HU" dirty="0">
              <a:highlight>
                <a:srgbClr val="000000"/>
              </a:highlight>
            </a:endParaRPr>
          </a:p>
        </p:txBody>
      </p:sp>
      <p:graphicFrame>
        <p:nvGraphicFramePr>
          <p:cNvPr id="3" name="Chart 2">
            <a:extLst>
              <a:ext uri="{FF2B5EF4-FFF2-40B4-BE49-F238E27FC236}">
                <a16:creationId xmlns:a16="http://schemas.microsoft.com/office/drawing/2014/main" id="{DABABCEA-6DFE-E17E-13CC-48412F12E4DC}"/>
              </a:ext>
            </a:extLst>
          </p:cNvPr>
          <p:cNvGraphicFramePr>
            <a:graphicFrameLocks/>
          </p:cNvGraphicFramePr>
          <p:nvPr>
            <p:extLst>
              <p:ext uri="{D42A27DB-BD31-4B8C-83A1-F6EECF244321}">
                <p14:modId xmlns:p14="http://schemas.microsoft.com/office/powerpoint/2010/main" val="2893227684"/>
              </p:ext>
            </p:extLst>
          </p:nvPr>
        </p:nvGraphicFramePr>
        <p:xfrm>
          <a:off x="6194853" y="3550596"/>
          <a:ext cx="5708143" cy="3307404"/>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9" name="Chart 8">
            <a:extLst>
              <a:ext uri="{FF2B5EF4-FFF2-40B4-BE49-F238E27FC236}">
                <a16:creationId xmlns:a16="http://schemas.microsoft.com/office/drawing/2014/main" id="{9E67A5D9-24FD-03E7-1A97-AD3B0D3397DC}"/>
              </a:ext>
            </a:extLst>
          </p:cNvPr>
          <p:cNvGraphicFramePr>
            <a:graphicFrameLocks/>
          </p:cNvGraphicFramePr>
          <p:nvPr>
            <p:extLst>
              <p:ext uri="{D42A27DB-BD31-4B8C-83A1-F6EECF244321}">
                <p14:modId xmlns:p14="http://schemas.microsoft.com/office/powerpoint/2010/main" val="3243771908"/>
              </p:ext>
            </p:extLst>
          </p:nvPr>
        </p:nvGraphicFramePr>
        <p:xfrm>
          <a:off x="6371287" y="0"/>
          <a:ext cx="5531709" cy="330543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 name="Chart 9">
            <a:extLst>
              <a:ext uri="{FF2B5EF4-FFF2-40B4-BE49-F238E27FC236}">
                <a16:creationId xmlns:a16="http://schemas.microsoft.com/office/drawing/2014/main" id="{0418ED0E-571D-8209-5A04-7BC4CE207BFF}"/>
              </a:ext>
            </a:extLst>
          </p:cNvPr>
          <p:cNvGraphicFramePr>
            <a:graphicFrameLocks/>
          </p:cNvGraphicFramePr>
          <p:nvPr>
            <p:extLst>
              <p:ext uri="{D42A27DB-BD31-4B8C-83A1-F6EECF244321}">
                <p14:modId xmlns:p14="http://schemas.microsoft.com/office/powerpoint/2010/main" val="2605586785"/>
              </p:ext>
            </p:extLst>
          </p:nvPr>
        </p:nvGraphicFramePr>
        <p:xfrm>
          <a:off x="153078" y="2430677"/>
          <a:ext cx="5844069" cy="434082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42550610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9FCD1-FE91-F93E-2920-4A7400B11BA2}"/>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818C1728-D9B2-E566-147E-AA5FF5091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BC98695-B047-E740-7A7E-8A63C800F618}"/>
              </a:ext>
            </a:extLst>
          </p:cNvPr>
          <p:cNvSpPr txBox="1"/>
          <p:nvPr/>
        </p:nvSpPr>
        <p:spPr>
          <a:xfrm>
            <a:off x="1872998" y="370214"/>
            <a:ext cx="4232954" cy="769441"/>
          </a:xfrm>
          <a:prstGeom prst="rect">
            <a:avLst/>
          </a:prstGeom>
          <a:noFill/>
        </p:spPr>
        <p:txBody>
          <a:bodyPr wrap="none" rtlCol="0">
            <a:spAutoFit/>
          </a:bodyPr>
          <a:lstStyle/>
          <a:p>
            <a:r>
              <a:rPr lang="hu-HU" sz="4400" dirty="0">
                <a:highlight>
                  <a:srgbClr val="FF3F5A"/>
                </a:highlight>
              </a:rPr>
              <a:t>CTI INTEGRÁCIÓ</a:t>
            </a:r>
          </a:p>
        </p:txBody>
      </p:sp>
      <p:pic>
        <p:nvPicPr>
          <p:cNvPr id="3074" name="Picture 2" descr="Cyber Threat Intelligence tool endorsed by ANSSI | Interoperable Europe  Portal">
            <a:extLst>
              <a:ext uri="{FF2B5EF4-FFF2-40B4-BE49-F238E27FC236}">
                <a16:creationId xmlns:a16="http://schemas.microsoft.com/office/drawing/2014/main" id="{BAD343B6-7773-BB1D-DA1D-0422DE1073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62161" y="2157684"/>
            <a:ext cx="4338639" cy="1300163"/>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F597549-1C95-E740-AF95-64AAE85F3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99334" y="370214"/>
            <a:ext cx="893735" cy="89373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D67B0DC-25C5-EB1C-D48C-981D63DE9E53}"/>
              </a:ext>
            </a:extLst>
          </p:cNvPr>
          <p:cNvSpPr txBox="1"/>
          <p:nvPr/>
        </p:nvSpPr>
        <p:spPr>
          <a:xfrm>
            <a:off x="8872780" y="1773793"/>
            <a:ext cx="1346844" cy="369332"/>
          </a:xfrm>
          <a:prstGeom prst="rect">
            <a:avLst/>
          </a:prstGeom>
          <a:noFill/>
        </p:spPr>
        <p:txBody>
          <a:bodyPr wrap="none" rtlCol="0">
            <a:spAutoFit/>
          </a:bodyPr>
          <a:lstStyle/>
          <a:p>
            <a:r>
              <a:rPr lang="hu-HU" dirty="0">
                <a:highlight>
                  <a:srgbClr val="FF3F5A"/>
                </a:highlight>
              </a:rPr>
              <a:t>CÍMKE: IOC</a:t>
            </a:r>
            <a:endParaRPr lang="en-GB" dirty="0">
              <a:highlight>
                <a:srgbClr val="FF3F5A"/>
              </a:highlight>
            </a:endParaRPr>
          </a:p>
        </p:txBody>
      </p:sp>
      <p:sp>
        <p:nvSpPr>
          <p:cNvPr id="9" name="TextBox 8">
            <a:extLst>
              <a:ext uri="{FF2B5EF4-FFF2-40B4-BE49-F238E27FC236}">
                <a16:creationId xmlns:a16="http://schemas.microsoft.com/office/drawing/2014/main" id="{8DC7D38E-55B2-1537-350D-4E9B663208BC}"/>
              </a:ext>
            </a:extLst>
          </p:cNvPr>
          <p:cNvSpPr txBox="1"/>
          <p:nvPr/>
        </p:nvSpPr>
        <p:spPr>
          <a:xfrm>
            <a:off x="8465679" y="2654114"/>
            <a:ext cx="2161046" cy="369332"/>
          </a:xfrm>
          <a:prstGeom prst="rect">
            <a:avLst/>
          </a:prstGeom>
          <a:noFill/>
        </p:spPr>
        <p:txBody>
          <a:bodyPr wrap="square">
            <a:spAutoFit/>
          </a:bodyPr>
          <a:lstStyle/>
          <a:p>
            <a:r>
              <a:rPr lang="hu-HU" dirty="0">
                <a:highlight>
                  <a:srgbClr val="000000"/>
                </a:highlight>
              </a:rPr>
              <a:t>OPEN CTI SZERVER</a:t>
            </a:r>
          </a:p>
        </p:txBody>
      </p:sp>
      <p:sp>
        <p:nvSpPr>
          <p:cNvPr id="10" name="TextBox 9">
            <a:extLst>
              <a:ext uri="{FF2B5EF4-FFF2-40B4-BE49-F238E27FC236}">
                <a16:creationId xmlns:a16="http://schemas.microsoft.com/office/drawing/2014/main" id="{94D80D7D-2644-69C1-551F-C1D33C8E3410}"/>
              </a:ext>
            </a:extLst>
          </p:cNvPr>
          <p:cNvSpPr txBox="1"/>
          <p:nvPr/>
        </p:nvSpPr>
        <p:spPr>
          <a:xfrm>
            <a:off x="8479114" y="3534435"/>
            <a:ext cx="2134174" cy="369332"/>
          </a:xfrm>
          <a:prstGeom prst="rect">
            <a:avLst/>
          </a:prstGeom>
          <a:noFill/>
        </p:spPr>
        <p:txBody>
          <a:bodyPr wrap="none" rtlCol="0">
            <a:spAutoFit/>
          </a:bodyPr>
          <a:lstStyle/>
          <a:p>
            <a:r>
              <a:rPr lang="hu-HU" dirty="0">
                <a:highlight>
                  <a:srgbClr val="FF3F5A"/>
                </a:highlight>
              </a:rPr>
              <a:t>IOC FELDOLGOZÁS</a:t>
            </a:r>
            <a:endParaRPr lang="en-GB" dirty="0">
              <a:highlight>
                <a:srgbClr val="FF3F5A"/>
              </a:highlight>
            </a:endParaRPr>
          </a:p>
        </p:txBody>
      </p:sp>
      <p:sp>
        <p:nvSpPr>
          <p:cNvPr id="11" name="TextBox 10">
            <a:extLst>
              <a:ext uri="{FF2B5EF4-FFF2-40B4-BE49-F238E27FC236}">
                <a16:creationId xmlns:a16="http://schemas.microsoft.com/office/drawing/2014/main" id="{D391B140-B7AA-7831-9475-B1925C23E5FF}"/>
              </a:ext>
            </a:extLst>
          </p:cNvPr>
          <p:cNvSpPr txBox="1"/>
          <p:nvPr/>
        </p:nvSpPr>
        <p:spPr>
          <a:xfrm>
            <a:off x="8727623" y="4414756"/>
            <a:ext cx="1637155" cy="369332"/>
          </a:xfrm>
          <a:prstGeom prst="rect">
            <a:avLst/>
          </a:prstGeom>
          <a:noFill/>
        </p:spPr>
        <p:txBody>
          <a:bodyPr wrap="square">
            <a:spAutoFit/>
          </a:bodyPr>
          <a:lstStyle/>
          <a:p>
            <a:r>
              <a:rPr lang="hu-HU" dirty="0">
                <a:highlight>
                  <a:srgbClr val="000000"/>
                </a:highlight>
              </a:rPr>
              <a:t>ENRICHMENT</a:t>
            </a:r>
          </a:p>
        </p:txBody>
      </p:sp>
      <p:sp>
        <p:nvSpPr>
          <p:cNvPr id="12" name="TextBox 11">
            <a:extLst>
              <a:ext uri="{FF2B5EF4-FFF2-40B4-BE49-F238E27FC236}">
                <a16:creationId xmlns:a16="http://schemas.microsoft.com/office/drawing/2014/main" id="{D9279ACC-BFD5-A941-EB08-7701A84BF16E}"/>
              </a:ext>
            </a:extLst>
          </p:cNvPr>
          <p:cNvSpPr txBox="1"/>
          <p:nvPr/>
        </p:nvSpPr>
        <p:spPr>
          <a:xfrm>
            <a:off x="8770186" y="5295077"/>
            <a:ext cx="1552028" cy="369332"/>
          </a:xfrm>
          <a:prstGeom prst="rect">
            <a:avLst/>
          </a:prstGeom>
          <a:noFill/>
        </p:spPr>
        <p:txBody>
          <a:bodyPr wrap="none" rtlCol="0">
            <a:spAutoFit/>
          </a:bodyPr>
          <a:lstStyle/>
          <a:p>
            <a:r>
              <a:rPr lang="hu-HU" dirty="0">
                <a:highlight>
                  <a:srgbClr val="FF3F5A"/>
                </a:highlight>
              </a:rPr>
              <a:t>PUBLIKÁCIÓ?</a:t>
            </a:r>
            <a:endParaRPr lang="en-GB" dirty="0">
              <a:highlight>
                <a:srgbClr val="FF3F5A"/>
              </a:highlight>
            </a:endParaRPr>
          </a:p>
        </p:txBody>
      </p:sp>
      <p:sp>
        <p:nvSpPr>
          <p:cNvPr id="13" name="Arrow: Down 12">
            <a:extLst>
              <a:ext uri="{FF2B5EF4-FFF2-40B4-BE49-F238E27FC236}">
                <a16:creationId xmlns:a16="http://schemas.microsoft.com/office/drawing/2014/main" id="{F6C543A2-D56D-0686-4D03-3FE40BCAE22D}"/>
              </a:ext>
            </a:extLst>
          </p:cNvPr>
          <p:cNvSpPr/>
          <p:nvPr/>
        </p:nvSpPr>
        <p:spPr>
          <a:xfrm>
            <a:off x="9364095" y="1263949"/>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Arrow: Down 13">
            <a:extLst>
              <a:ext uri="{FF2B5EF4-FFF2-40B4-BE49-F238E27FC236}">
                <a16:creationId xmlns:a16="http://schemas.microsoft.com/office/drawing/2014/main" id="{E864F388-B9CF-1610-5FE7-ABCA0A61B91D}"/>
              </a:ext>
            </a:extLst>
          </p:cNvPr>
          <p:cNvSpPr/>
          <p:nvPr/>
        </p:nvSpPr>
        <p:spPr>
          <a:xfrm>
            <a:off x="9364095" y="2157684"/>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5" name="Arrow: Down 14">
            <a:extLst>
              <a:ext uri="{FF2B5EF4-FFF2-40B4-BE49-F238E27FC236}">
                <a16:creationId xmlns:a16="http://schemas.microsoft.com/office/drawing/2014/main" id="{9A78F701-E075-BB92-4FCA-454B4DD120A7}"/>
              </a:ext>
            </a:extLst>
          </p:cNvPr>
          <p:cNvSpPr/>
          <p:nvPr/>
        </p:nvSpPr>
        <p:spPr>
          <a:xfrm>
            <a:off x="9364095" y="3023446"/>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6" name="Arrow: Down 15">
            <a:extLst>
              <a:ext uri="{FF2B5EF4-FFF2-40B4-BE49-F238E27FC236}">
                <a16:creationId xmlns:a16="http://schemas.microsoft.com/office/drawing/2014/main" id="{10A71E41-27E9-2AF0-3FDA-CE4BAD21059D}"/>
              </a:ext>
            </a:extLst>
          </p:cNvPr>
          <p:cNvSpPr/>
          <p:nvPr/>
        </p:nvSpPr>
        <p:spPr>
          <a:xfrm>
            <a:off x="9364095" y="3904912"/>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7" name="Arrow: Down 16">
            <a:extLst>
              <a:ext uri="{FF2B5EF4-FFF2-40B4-BE49-F238E27FC236}">
                <a16:creationId xmlns:a16="http://schemas.microsoft.com/office/drawing/2014/main" id="{D1202ADF-5846-49B2-1749-7EB9A5D50F0A}"/>
              </a:ext>
            </a:extLst>
          </p:cNvPr>
          <p:cNvSpPr/>
          <p:nvPr/>
        </p:nvSpPr>
        <p:spPr>
          <a:xfrm>
            <a:off x="9367214" y="4784088"/>
            <a:ext cx="364210" cy="509844"/>
          </a:xfrm>
          <a:prstGeom prst="downArrow">
            <a:avLst/>
          </a:prstGeom>
          <a:solidFill>
            <a:srgbClr val="FF3F5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3076" name="Picture 4" descr="MineMeld: threat intelligence automation – connect to STIX/TAXII service  [5] – Scubarda">
            <a:extLst>
              <a:ext uri="{FF2B5EF4-FFF2-40B4-BE49-F238E27FC236}">
                <a16:creationId xmlns:a16="http://schemas.microsoft.com/office/drawing/2014/main" id="{3B494797-707C-8502-A89B-1C8C4A69706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6403" y="3533290"/>
            <a:ext cx="2847975" cy="2514600"/>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YARA Rules in Cyber Threat Intelligence | by Chad Warner | Medium">
            <a:extLst>
              <a:ext uri="{FF2B5EF4-FFF2-40B4-BE49-F238E27FC236}">
                <a16:creationId xmlns:a16="http://schemas.microsoft.com/office/drawing/2014/main" id="{F113945B-2D83-F38C-B900-79FE721912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349359" y="4013583"/>
            <a:ext cx="3224783" cy="1541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822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09FF-5356-5D12-7C42-D35D14E6FBB3}"/>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CD419ED7-144E-57D7-36BE-2AC32478DA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E682B91-754D-E6DA-CF33-CBC6BD1801BA}"/>
              </a:ext>
            </a:extLst>
          </p:cNvPr>
          <p:cNvSpPr txBox="1"/>
          <p:nvPr/>
        </p:nvSpPr>
        <p:spPr>
          <a:xfrm>
            <a:off x="1872998" y="370214"/>
            <a:ext cx="4121834" cy="769441"/>
          </a:xfrm>
          <a:prstGeom prst="rect">
            <a:avLst/>
          </a:prstGeom>
          <a:noFill/>
        </p:spPr>
        <p:txBody>
          <a:bodyPr wrap="none" rtlCol="0">
            <a:spAutoFit/>
          </a:bodyPr>
          <a:lstStyle/>
          <a:p>
            <a:r>
              <a:rPr lang="hu-HU" sz="4400" dirty="0">
                <a:highlight>
                  <a:srgbClr val="FF3F5A"/>
                </a:highlight>
              </a:rPr>
              <a:t>CTI TÁMOGATÁS</a:t>
            </a:r>
          </a:p>
        </p:txBody>
      </p:sp>
      <p:graphicFrame>
        <p:nvGraphicFramePr>
          <p:cNvPr id="7" name="Table 6">
            <a:extLst>
              <a:ext uri="{FF2B5EF4-FFF2-40B4-BE49-F238E27FC236}">
                <a16:creationId xmlns:a16="http://schemas.microsoft.com/office/drawing/2014/main" id="{8DB48E84-4F9B-8EA1-D566-68C88835C145}"/>
              </a:ext>
            </a:extLst>
          </p:cNvPr>
          <p:cNvGraphicFramePr>
            <a:graphicFrameLocks noGrp="1"/>
          </p:cNvGraphicFramePr>
          <p:nvPr>
            <p:extLst>
              <p:ext uri="{D42A27DB-BD31-4B8C-83A1-F6EECF244321}">
                <p14:modId xmlns:p14="http://schemas.microsoft.com/office/powerpoint/2010/main" val="2281015027"/>
              </p:ext>
            </p:extLst>
          </p:nvPr>
        </p:nvGraphicFramePr>
        <p:xfrm>
          <a:off x="1402884" y="1398116"/>
          <a:ext cx="10699857" cy="2601286"/>
        </p:xfrm>
        <a:graphic>
          <a:graphicData uri="http://schemas.openxmlformats.org/drawingml/2006/table">
            <a:tbl>
              <a:tblPr firstRow="1" bandRow="1">
                <a:tableStyleId>{5C22544A-7EE6-4342-B048-85BDC9FD1C3A}</a:tableStyleId>
              </a:tblPr>
              <a:tblGrid>
                <a:gridCol w="3566619">
                  <a:extLst>
                    <a:ext uri="{9D8B030D-6E8A-4147-A177-3AD203B41FA5}">
                      <a16:colId xmlns:a16="http://schemas.microsoft.com/office/drawing/2014/main" val="2797865709"/>
                    </a:ext>
                  </a:extLst>
                </a:gridCol>
                <a:gridCol w="1639089">
                  <a:extLst>
                    <a:ext uri="{9D8B030D-6E8A-4147-A177-3AD203B41FA5}">
                      <a16:colId xmlns:a16="http://schemas.microsoft.com/office/drawing/2014/main" val="82696053"/>
                    </a:ext>
                  </a:extLst>
                </a:gridCol>
                <a:gridCol w="5494149">
                  <a:extLst>
                    <a:ext uri="{9D8B030D-6E8A-4147-A177-3AD203B41FA5}">
                      <a16:colId xmlns:a16="http://schemas.microsoft.com/office/drawing/2014/main" val="3824607963"/>
                    </a:ext>
                  </a:extLst>
                </a:gridCol>
              </a:tblGrid>
              <a:tr h="376246">
                <a:tc>
                  <a:txBody>
                    <a:bodyPr/>
                    <a:lstStyle/>
                    <a:p>
                      <a:r>
                        <a:rPr lang="hu-HU" dirty="0"/>
                        <a:t>Címke</a:t>
                      </a:r>
                      <a:endParaRPr lang="en-GB" dirty="0"/>
                    </a:p>
                  </a:txBody>
                  <a:tcPr>
                    <a:solidFill>
                      <a:srgbClr val="FF3F5A"/>
                    </a:solidFill>
                  </a:tcPr>
                </a:tc>
                <a:tc>
                  <a:txBody>
                    <a:bodyPr/>
                    <a:lstStyle/>
                    <a:p>
                      <a:r>
                        <a:rPr lang="hu-HU" dirty="0"/>
                        <a:t>Cikkek száma</a:t>
                      </a:r>
                      <a:endParaRPr lang="en-GB" dirty="0"/>
                    </a:p>
                  </a:txBody>
                  <a:tcPr>
                    <a:solidFill>
                      <a:srgbClr val="FF3F5A"/>
                    </a:solidFill>
                  </a:tcPr>
                </a:tc>
                <a:tc>
                  <a:txBody>
                    <a:bodyPr/>
                    <a:lstStyle/>
                    <a:p>
                      <a:r>
                        <a:rPr lang="hu-HU" dirty="0"/>
                        <a:t>URL</a:t>
                      </a:r>
                      <a:endParaRPr lang="en-GB" dirty="0"/>
                    </a:p>
                  </a:txBody>
                  <a:tcPr>
                    <a:solidFill>
                      <a:srgbClr val="FF3F5A"/>
                    </a:solidFill>
                  </a:tcPr>
                </a:tc>
                <a:extLst>
                  <a:ext uri="{0D108BD9-81ED-4DB2-BD59-A6C34878D82A}">
                    <a16:rowId xmlns:a16="http://schemas.microsoft.com/office/drawing/2014/main" val="1559483732"/>
                  </a:ext>
                </a:extLst>
              </a:tr>
              <a:tr h="370840">
                <a:tc>
                  <a:txBody>
                    <a:bodyPr/>
                    <a:lstStyle/>
                    <a:p>
                      <a:r>
                        <a:rPr lang="hu-HU" dirty="0"/>
                        <a:t>Oroszország</a:t>
                      </a:r>
                      <a:endParaRPr lang="en-GB" dirty="0"/>
                    </a:p>
                  </a:txBody>
                  <a:tcPr/>
                </a:tc>
                <a:tc>
                  <a:txBody>
                    <a:bodyPr/>
                    <a:lstStyle/>
                    <a:p>
                      <a:r>
                        <a:rPr lang="hu-HU" dirty="0"/>
                        <a:t>270</a:t>
                      </a:r>
                      <a:endParaRPr lang="en-GB" dirty="0"/>
                    </a:p>
                  </a:txBody>
                  <a:tcPr/>
                </a:tc>
                <a:tc>
                  <a:txBody>
                    <a:bodyPr/>
                    <a:lstStyle/>
                    <a:p>
                      <a:r>
                        <a:rPr lang="en-GB" dirty="0"/>
                        <a:t>HTTPS://YANAC.HU/TAG/OROSZORSZAG/</a:t>
                      </a:r>
                    </a:p>
                  </a:txBody>
                  <a:tcPr/>
                </a:tc>
                <a:extLst>
                  <a:ext uri="{0D108BD9-81ED-4DB2-BD59-A6C34878D82A}">
                    <a16:rowId xmlns:a16="http://schemas.microsoft.com/office/drawing/2014/main" val="470032902"/>
                  </a:ext>
                </a:extLst>
              </a:tr>
              <a:tr h="370840">
                <a:tc>
                  <a:txBody>
                    <a:bodyPr/>
                    <a:lstStyle/>
                    <a:p>
                      <a:r>
                        <a:rPr lang="hu-HU" dirty="0"/>
                        <a:t>Ukrajna</a:t>
                      </a:r>
                      <a:endParaRPr lang="en-GB" dirty="0"/>
                    </a:p>
                  </a:txBody>
                  <a:tcPr/>
                </a:tc>
                <a:tc>
                  <a:txBody>
                    <a:bodyPr/>
                    <a:lstStyle/>
                    <a:p>
                      <a:r>
                        <a:rPr lang="hu-HU" dirty="0"/>
                        <a:t>126</a:t>
                      </a:r>
                      <a:endParaRPr lang="en-GB" dirty="0"/>
                    </a:p>
                  </a:txBody>
                  <a:tcPr/>
                </a:tc>
                <a:tc>
                  <a:txBody>
                    <a:bodyPr/>
                    <a:lstStyle/>
                    <a:p>
                      <a:r>
                        <a:rPr lang="en-GB" dirty="0"/>
                        <a:t>HTTPS://YANAC.HU/TAG/UKRAJNA/</a:t>
                      </a:r>
                    </a:p>
                  </a:txBody>
                  <a:tcPr/>
                </a:tc>
                <a:extLst>
                  <a:ext uri="{0D108BD9-81ED-4DB2-BD59-A6C34878D82A}">
                    <a16:rowId xmlns:a16="http://schemas.microsoft.com/office/drawing/2014/main" val="1254568493"/>
                  </a:ext>
                </a:extLst>
              </a:tr>
              <a:tr h="370840">
                <a:tc>
                  <a:txBody>
                    <a:bodyPr/>
                    <a:lstStyle/>
                    <a:p>
                      <a:r>
                        <a:rPr lang="hu-HU" dirty="0"/>
                        <a:t>Kína</a:t>
                      </a:r>
                      <a:endParaRPr lang="en-GB" dirty="0"/>
                    </a:p>
                  </a:txBody>
                  <a:tcPr/>
                </a:tc>
                <a:tc>
                  <a:txBody>
                    <a:bodyPr/>
                    <a:lstStyle/>
                    <a:p>
                      <a:r>
                        <a:rPr lang="hu-HU" dirty="0"/>
                        <a:t>230</a:t>
                      </a:r>
                      <a:endParaRPr lang="en-GB" dirty="0"/>
                    </a:p>
                  </a:txBody>
                  <a:tcPr/>
                </a:tc>
                <a:tc>
                  <a:txBody>
                    <a:bodyPr/>
                    <a:lstStyle/>
                    <a:p>
                      <a:r>
                        <a:rPr lang="en-GB" dirty="0"/>
                        <a:t>HTTPS://YANAC.HU/TAG/KINA/</a:t>
                      </a:r>
                    </a:p>
                  </a:txBody>
                  <a:tcPr/>
                </a:tc>
                <a:extLst>
                  <a:ext uri="{0D108BD9-81ED-4DB2-BD59-A6C34878D82A}">
                    <a16:rowId xmlns:a16="http://schemas.microsoft.com/office/drawing/2014/main" val="682614901"/>
                  </a:ext>
                </a:extLst>
              </a:tr>
              <a:tr h="370840">
                <a:tc>
                  <a:txBody>
                    <a:bodyPr/>
                    <a:lstStyle/>
                    <a:p>
                      <a:r>
                        <a:rPr lang="hu-HU" dirty="0"/>
                        <a:t>ENISA</a:t>
                      </a:r>
                      <a:endParaRPr lang="en-GB" dirty="0"/>
                    </a:p>
                  </a:txBody>
                  <a:tcPr/>
                </a:tc>
                <a:tc>
                  <a:txBody>
                    <a:bodyPr/>
                    <a:lstStyle/>
                    <a:p>
                      <a:r>
                        <a:rPr lang="hu-HU" dirty="0"/>
                        <a:t>28</a:t>
                      </a:r>
                      <a:endParaRPr lang="en-GB" dirty="0"/>
                    </a:p>
                  </a:txBody>
                  <a:tcPr/>
                </a:tc>
                <a:tc>
                  <a:txBody>
                    <a:bodyPr/>
                    <a:lstStyle/>
                    <a:p>
                      <a:r>
                        <a:rPr lang="en-GB" dirty="0"/>
                        <a:t>HTTPS://YANAC.HU/TAG/ENISA/</a:t>
                      </a:r>
                    </a:p>
                  </a:txBody>
                  <a:tcPr/>
                </a:tc>
                <a:extLst>
                  <a:ext uri="{0D108BD9-81ED-4DB2-BD59-A6C34878D82A}">
                    <a16:rowId xmlns:a16="http://schemas.microsoft.com/office/drawing/2014/main" val="1860687710"/>
                  </a:ext>
                </a:extLst>
              </a:tr>
              <a:tr h="370840">
                <a:tc>
                  <a:txBody>
                    <a:bodyPr/>
                    <a:lstStyle/>
                    <a:p>
                      <a:r>
                        <a:rPr lang="hu-HU" dirty="0"/>
                        <a:t>CCDCOE</a:t>
                      </a:r>
                      <a:endParaRPr lang="en-GB" dirty="0"/>
                    </a:p>
                  </a:txBody>
                  <a:tcPr/>
                </a:tc>
                <a:tc>
                  <a:txBody>
                    <a:bodyPr/>
                    <a:lstStyle/>
                    <a:p>
                      <a:r>
                        <a:rPr lang="hu-HU" dirty="0"/>
                        <a:t>10</a:t>
                      </a:r>
                      <a:endParaRPr lang="en-GB" dirty="0"/>
                    </a:p>
                  </a:txBody>
                  <a:tcPr/>
                </a:tc>
                <a:tc>
                  <a:txBody>
                    <a:bodyPr/>
                    <a:lstStyle/>
                    <a:p>
                      <a:r>
                        <a:rPr lang="en-GB" dirty="0"/>
                        <a:t>HTTPS://YANAC.HU/TAG/CCDCOE/</a:t>
                      </a:r>
                    </a:p>
                  </a:txBody>
                  <a:tcPr/>
                </a:tc>
                <a:extLst>
                  <a:ext uri="{0D108BD9-81ED-4DB2-BD59-A6C34878D82A}">
                    <a16:rowId xmlns:a16="http://schemas.microsoft.com/office/drawing/2014/main" val="1004630607"/>
                  </a:ext>
                </a:extLst>
              </a:tr>
              <a:tr h="370840">
                <a:tc>
                  <a:txBody>
                    <a:bodyPr/>
                    <a:lstStyle/>
                    <a:p>
                      <a:r>
                        <a:rPr lang="hu-HU" dirty="0" err="1"/>
                        <a:t>Ransomware</a:t>
                      </a:r>
                      <a:endParaRPr lang="en-GB" dirty="0"/>
                    </a:p>
                  </a:txBody>
                  <a:tcPr/>
                </a:tc>
                <a:tc>
                  <a:txBody>
                    <a:bodyPr/>
                    <a:lstStyle/>
                    <a:p>
                      <a:r>
                        <a:rPr lang="hu-HU" dirty="0"/>
                        <a:t>177</a:t>
                      </a:r>
                      <a:endParaRPr lang="en-GB" dirty="0"/>
                    </a:p>
                  </a:txBody>
                  <a:tcPr/>
                </a:tc>
                <a:tc>
                  <a:txBody>
                    <a:bodyPr/>
                    <a:lstStyle/>
                    <a:p>
                      <a:r>
                        <a:rPr lang="en-GB" dirty="0"/>
                        <a:t>HTTPS://YANAC.HU/TAG/RANSOMWARE/</a:t>
                      </a:r>
                    </a:p>
                  </a:txBody>
                  <a:tcPr/>
                </a:tc>
                <a:extLst>
                  <a:ext uri="{0D108BD9-81ED-4DB2-BD59-A6C34878D82A}">
                    <a16:rowId xmlns:a16="http://schemas.microsoft.com/office/drawing/2014/main" val="1961491110"/>
                  </a:ext>
                </a:extLst>
              </a:tr>
            </a:tbl>
          </a:graphicData>
        </a:graphic>
      </p:graphicFrame>
      <p:graphicFrame>
        <p:nvGraphicFramePr>
          <p:cNvPr id="8" name="Chart 7">
            <a:extLst>
              <a:ext uri="{FF2B5EF4-FFF2-40B4-BE49-F238E27FC236}">
                <a16:creationId xmlns:a16="http://schemas.microsoft.com/office/drawing/2014/main" id="{6FBAF9A6-978E-3424-EB11-17EF3950C2DA}"/>
              </a:ext>
            </a:extLst>
          </p:cNvPr>
          <p:cNvGraphicFramePr>
            <a:graphicFrameLocks/>
          </p:cNvGraphicFramePr>
          <p:nvPr>
            <p:extLst>
              <p:ext uri="{D42A27DB-BD31-4B8C-83A1-F6EECF244321}">
                <p14:modId xmlns:p14="http://schemas.microsoft.com/office/powerpoint/2010/main" val="181486709"/>
              </p:ext>
            </p:extLst>
          </p:nvPr>
        </p:nvGraphicFramePr>
        <p:xfrm>
          <a:off x="6752813" y="4107180"/>
          <a:ext cx="4568190" cy="275082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2269470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A5C87-374F-9762-4CAC-CBFCCD83032A}"/>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0B840D71-FF35-FA9D-8EBA-85DFBCA448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A406E6-1C41-5AE0-39BC-246F2C018135}"/>
              </a:ext>
            </a:extLst>
          </p:cNvPr>
          <p:cNvSpPr txBox="1"/>
          <p:nvPr/>
        </p:nvSpPr>
        <p:spPr>
          <a:xfrm>
            <a:off x="1872998" y="370214"/>
            <a:ext cx="3241593" cy="769441"/>
          </a:xfrm>
          <a:prstGeom prst="rect">
            <a:avLst/>
          </a:prstGeom>
          <a:noFill/>
        </p:spPr>
        <p:txBody>
          <a:bodyPr wrap="none" rtlCol="0">
            <a:spAutoFit/>
          </a:bodyPr>
          <a:lstStyle/>
          <a:p>
            <a:r>
              <a:rPr lang="hu-HU" sz="4400" dirty="0">
                <a:highlight>
                  <a:srgbClr val="FF3F5A"/>
                </a:highlight>
              </a:rPr>
              <a:t>Kollaboráció</a:t>
            </a:r>
          </a:p>
        </p:txBody>
      </p:sp>
      <p:pic>
        <p:nvPicPr>
          <p:cNvPr id="2050" name="Picture 2" descr="Seconsys">
            <a:extLst>
              <a:ext uri="{FF2B5EF4-FFF2-40B4-BE49-F238E27FC236}">
                <a16:creationId xmlns:a16="http://schemas.microsoft.com/office/drawing/2014/main" id="{93B9DC35-8351-0F55-DF83-7DD7434B75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2854" y="1313966"/>
            <a:ext cx="2433545" cy="1277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8CA2951-E2F7-9926-CADA-75DFD699FF36}"/>
              </a:ext>
            </a:extLst>
          </p:cNvPr>
          <p:cNvSpPr txBox="1"/>
          <p:nvPr/>
        </p:nvSpPr>
        <p:spPr>
          <a:xfrm>
            <a:off x="5114591" y="1414900"/>
            <a:ext cx="5881738" cy="1200329"/>
          </a:xfrm>
          <a:prstGeom prst="rect">
            <a:avLst/>
          </a:prstGeom>
          <a:noFill/>
        </p:spPr>
        <p:txBody>
          <a:bodyPr wrap="none" rtlCol="0">
            <a:spAutoFit/>
          </a:bodyPr>
          <a:lstStyle/>
          <a:p>
            <a:r>
              <a:rPr lang="hu-HU" dirty="0">
                <a:highlight>
                  <a:srgbClr val="FF3F5A"/>
                </a:highlight>
              </a:rPr>
              <a:t>IPARI ÉS OT RENDSZEREKKEL KAPCSOLATOS HÍREK</a:t>
            </a:r>
          </a:p>
          <a:p>
            <a:pPr marL="285750" indent="-285750">
              <a:buFontTx/>
              <a:buChar char="-"/>
            </a:pPr>
            <a:r>
              <a:rPr lang="hu-HU" dirty="0">
                <a:highlight>
                  <a:srgbClr val="000000"/>
                </a:highlight>
              </a:rPr>
              <a:t>HAVI 1-2 CIKK</a:t>
            </a:r>
          </a:p>
          <a:p>
            <a:pPr marL="285750" indent="-285750">
              <a:buFontTx/>
              <a:buChar char="-"/>
            </a:pPr>
            <a:r>
              <a:rPr lang="hu-HU" dirty="0">
                <a:highlight>
                  <a:srgbClr val="000000"/>
                </a:highlight>
              </a:rPr>
              <a:t>SECONSYS FÓKUSZBAN (VILLAMOSENERGIA ÁGAZAT)</a:t>
            </a:r>
          </a:p>
          <a:p>
            <a:pPr marL="285750" indent="-285750">
              <a:buFontTx/>
              <a:buChar char="-"/>
            </a:pPr>
            <a:r>
              <a:rPr lang="en-GB" dirty="0">
                <a:hlinkClick r:id="rId4"/>
              </a:rPr>
              <a:t>HTTPS://YANAC.HU/TAG/SECONSYS/</a:t>
            </a:r>
            <a:endParaRPr lang="hu-HU" dirty="0">
              <a:highlight>
                <a:srgbClr val="000000"/>
              </a:highlight>
            </a:endParaRPr>
          </a:p>
        </p:txBody>
      </p:sp>
      <p:pic>
        <p:nvPicPr>
          <p:cNvPr id="11" name="Picture 2" descr="Photo fire alphabet question mark isolated on black background.">
            <a:extLst>
              <a:ext uri="{FF2B5EF4-FFF2-40B4-BE49-F238E27FC236}">
                <a16:creationId xmlns:a16="http://schemas.microsoft.com/office/drawing/2014/main" id="{924BE81E-51BA-D4E0-6E7D-221AE152726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55174" y="3068785"/>
            <a:ext cx="1469160" cy="146916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1C2238F-9C7A-0830-EC3A-920592F21ED6}"/>
              </a:ext>
            </a:extLst>
          </p:cNvPr>
          <p:cNvSpPr txBox="1"/>
          <p:nvPr/>
        </p:nvSpPr>
        <p:spPr>
          <a:xfrm>
            <a:off x="5114591" y="3063273"/>
            <a:ext cx="5595314" cy="1754326"/>
          </a:xfrm>
          <a:prstGeom prst="rect">
            <a:avLst/>
          </a:prstGeom>
          <a:noFill/>
        </p:spPr>
        <p:txBody>
          <a:bodyPr wrap="none" rtlCol="0">
            <a:spAutoFit/>
          </a:bodyPr>
          <a:lstStyle/>
          <a:p>
            <a:r>
              <a:rPr lang="hu-HU" dirty="0">
                <a:highlight>
                  <a:srgbClr val="FF3F5A"/>
                </a:highlight>
              </a:rPr>
              <a:t>NÉVTELEN KIBERBIZTONSÁGI CÉG</a:t>
            </a:r>
          </a:p>
          <a:p>
            <a:pPr marL="285750" indent="-285750">
              <a:buFontTx/>
              <a:buChar char="-"/>
            </a:pPr>
            <a:r>
              <a:rPr lang="hu-HU" dirty="0">
                <a:highlight>
                  <a:srgbClr val="000000"/>
                </a:highlight>
              </a:rPr>
              <a:t>HETI HÍRLEVÉL</a:t>
            </a:r>
          </a:p>
          <a:p>
            <a:pPr marL="285750" indent="-285750">
              <a:buFontTx/>
              <a:buChar char="-"/>
            </a:pPr>
            <a:r>
              <a:rPr lang="hu-HU" dirty="0"/>
              <a:t>FENYEGETÉSI SZEREPLŐK ÉS KAMPÁNYOK</a:t>
            </a:r>
          </a:p>
          <a:p>
            <a:pPr marL="285750" indent="-285750">
              <a:buFontTx/>
              <a:buChar char="-"/>
            </a:pPr>
            <a:r>
              <a:rPr lang="hu-HU" dirty="0"/>
              <a:t>TÁMADÁSI TECHNIKÁK ÉS MALWARE</a:t>
            </a:r>
          </a:p>
          <a:p>
            <a:pPr marL="285750" indent="-285750">
              <a:buFontTx/>
              <a:buChar char="-"/>
            </a:pPr>
            <a:r>
              <a:rPr lang="hu-HU" dirty="0"/>
              <a:t>OT / KRITIKUS INFRASTRUKTÚRA</a:t>
            </a:r>
          </a:p>
          <a:p>
            <a:pPr marL="285750" indent="-285750">
              <a:buFontTx/>
              <a:buChar char="-"/>
            </a:pPr>
            <a:r>
              <a:rPr lang="hu-HU" dirty="0"/>
              <a:t>KIBERBIZTONSÁGI IRÁNYÍTÁS, VÉDELEM ÉS POLICY</a:t>
            </a:r>
            <a:endParaRPr lang="hu-HU" dirty="0">
              <a:highlight>
                <a:srgbClr val="000000"/>
              </a:highlight>
            </a:endParaRPr>
          </a:p>
        </p:txBody>
      </p:sp>
      <p:pic>
        <p:nvPicPr>
          <p:cNvPr id="2054" name="Picture 6" descr="CyberSecTV.eu - The EU Cybersecurity Streaming Channel">
            <a:extLst>
              <a:ext uri="{FF2B5EF4-FFF2-40B4-BE49-F238E27FC236}">
                <a16:creationId xmlns:a16="http://schemas.microsoft.com/office/drawing/2014/main" id="{F0833099-9CB7-8E0A-4EC0-63D99B4776A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72998" y="5320763"/>
            <a:ext cx="2437750" cy="73132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765C0EB9-D566-B67B-40CB-50604CD4DBA1}"/>
              </a:ext>
            </a:extLst>
          </p:cNvPr>
          <p:cNvSpPr txBox="1"/>
          <p:nvPr/>
        </p:nvSpPr>
        <p:spPr>
          <a:xfrm>
            <a:off x="5114591" y="5265643"/>
            <a:ext cx="4460003" cy="923330"/>
          </a:xfrm>
          <a:prstGeom prst="rect">
            <a:avLst/>
          </a:prstGeom>
          <a:noFill/>
        </p:spPr>
        <p:txBody>
          <a:bodyPr wrap="none" rtlCol="0">
            <a:spAutoFit/>
          </a:bodyPr>
          <a:lstStyle/>
          <a:p>
            <a:r>
              <a:rPr lang="hu-HU" dirty="0">
                <a:highlight>
                  <a:srgbClr val="FF3F5A"/>
                </a:highlight>
              </a:rPr>
              <a:t>CyberSecTV.eu</a:t>
            </a:r>
          </a:p>
          <a:p>
            <a:pPr marL="285750" indent="-285750">
              <a:buFontTx/>
              <a:buChar char="-"/>
            </a:pPr>
            <a:r>
              <a:rPr lang="hu-HU" dirty="0">
                <a:highlight>
                  <a:srgbClr val="000000"/>
                </a:highlight>
              </a:rPr>
              <a:t>NEM FORMALIZÁLT, DE BARÁTI VISZONY</a:t>
            </a:r>
          </a:p>
          <a:p>
            <a:pPr marL="285750" indent="-285750">
              <a:buFontTx/>
              <a:buChar char="-"/>
            </a:pPr>
            <a:r>
              <a:rPr lang="hu-HU" dirty="0">
                <a:highlight>
                  <a:srgbClr val="000000"/>
                </a:highlight>
              </a:rPr>
              <a:t>ANYAGOK ÁTVÉTELE</a:t>
            </a:r>
          </a:p>
        </p:txBody>
      </p:sp>
    </p:spTree>
    <p:extLst>
      <p:ext uri="{BB962C8B-B14F-4D97-AF65-F5344CB8AC3E}">
        <p14:creationId xmlns:p14="http://schemas.microsoft.com/office/powerpoint/2010/main" val="3649624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3394199" cy="769441"/>
          </a:xfrm>
          <a:prstGeom prst="rect">
            <a:avLst/>
          </a:prstGeom>
          <a:noFill/>
        </p:spPr>
        <p:txBody>
          <a:bodyPr wrap="none" rtlCol="0">
            <a:spAutoFit/>
          </a:bodyPr>
          <a:lstStyle/>
          <a:p>
            <a:r>
              <a:rPr lang="hu-HU" sz="4400" dirty="0">
                <a:highlight>
                  <a:srgbClr val="FF3F5A"/>
                </a:highlight>
              </a:rPr>
              <a:t>Hová, Merre?</a:t>
            </a:r>
          </a:p>
        </p:txBody>
      </p:sp>
      <p:sp>
        <p:nvSpPr>
          <p:cNvPr id="3" name="TextBox 2">
            <a:extLst>
              <a:ext uri="{FF2B5EF4-FFF2-40B4-BE49-F238E27FC236}">
                <a16:creationId xmlns:a16="http://schemas.microsoft.com/office/drawing/2014/main" id="{68CAA59D-5BC6-4AE6-CBDC-3199CD5E4859}"/>
              </a:ext>
            </a:extLst>
          </p:cNvPr>
          <p:cNvSpPr txBox="1"/>
          <p:nvPr/>
        </p:nvSpPr>
        <p:spPr>
          <a:xfrm>
            <a:off x="6295944" y="293269"/>
            <a:ext cx="3210128" cy="1754326"/>
          </a:xfrm>
          <a:prstGeom prst="rect">
            <a:avLst/>
          </a:prstGeom>
          <a:noFill/>
        </p:spPr>
        <p:txBody>
          <a:bodyPr wrap="square" rtlCol="0">
            <a:spAutoFit/>
          </a:bodyPr>
          <a:lstStyle/>
          <a:p>
            <a:r>
              <a:rPr lang="hu-HU" dirty="0">
                <a:highlight>
                  <a:srgbClr val="FF3F5A"/>
                </a:highlight>
              </a:rPr>
              <a:t>SZERKESZTŐK</a:t>
            </a:r>
          </a:p>
          <a:p>
            <a:pPr marL="285750" indent="-285750">
              <a:buFontTx/>
              <a:buChar char="-"/>
            </a:pPr>
            <a:r>
              <a:rPr lang="hu-HU" dirty="0"/>
              <a:t>TÖBB CIKK</a:t>
            </a:r>
          </a:p>
          <a:p>
            <a:pPr marL="285750" indent="-285750">
              <a:buFontTx/>
              <a:buChar char="-"/>
            </a:pPr>
            <a:r>
              <a:rPr lang="hu-HU" dirty="0"/>
              <a:t>NAGYOBB TERJEDELEM</a:t>
            </a:r>
          </a:p>
          <a:p>
            <a:pPr marL="285750" indent="-285750">
              <a:buFontTx/>
              <a:buChar char="-"/>
            </a:pPr>
            <a:r>
              <a:rPr lang="hu-HU" dirty="0"/>
              <a:t>TÖBB ELEMZÉS</a:t>
            </a:r>
          </a:p>
          <a:p>
            <a:pPr marL="285750" indent="-285750">
              <a:buFontTx/>
              <a:buChar char="-"/>
            </a:pPr>
            <a:r>
              <a:rPr lang="hu-HU" dirty="0"/>
              <a:t>FOLYAMATOS MŰKÖDÉS</a:t>
            </a:r>
          </a:p>
          <a:p>
            <a:pPr marL="285750" indent="-285750">
              <a:buFontTx/>
              <a:buChar char="-"/>
            </a:pPr>
            <a:endParaRPr lang="hu-HU" dirty="0"/>
          </a:p>
        </p:txBody>
      </p:sp>
      <p:sp>
        <p:nvSpPr>
          <p:cNvPr id="4" name="TextBox 3">
            <a:extLst>
              <a:ext uri="{FF2B5EF4-FFF2-40B4-BE49-F238E27FC236}">
                <a16:creationId xmlns:a16="http://schemas.microsoft.com/office/drawing/2014/main" id="{702EECAA-27BA-E85F-CEE7-5500C7FFC967}"/>
              </a:ext>
            </a:extLst>
          </p:cNvPr>
          <p:cNvSpPr txBox="1"/>
          <p:nvPr/>
        </p:nvSpPr>
        <p:spPr>
          <a:xfrm>
            <a:off x="9782055" y="293269"/>
            <a:ext cx="3210128" cy="923330"/>
          </a:xfrm>
          <a:prstGeom prst="rect">
            <a:avLst/>
          </a:prstGeom>
          <a:noFill/>
        </p:spPr>
        <p:txBody>
          <a:bodyPr wrap="square" rtlCol="0">
            <a:spAutoFit/>
          </a:bodyPr>
          <a:lstStyle/>
          <a:p>
            <a:r>
              <a:rPr lang="hu-HU" dirty="0">
                <a:highlight>
                  <a:srgbClr val="FF3F5A"/>
                </a:highlight>
              </a:rPr>
              <a:t>KÖZÖSSÉG</a:t>
            </a:r>
          </a:p>
          <a:p>
            <a:pPr marL="285750" indent="-285750">
              <a:buFontTx/>
              <a:buChar char="-"/>
            </a:pPr>
            <a:r>
              <a:rPr lang="hu-HU" dirty="0"/>
              <a:t>FORRÁSOK</a:t>
            </a:r>
          </a:p>
          <a:p>
            <a:pPr marL="285750" indent="-285750">
              <a:buFontTx/>
              <a:buChar char="-"/>
            </a:pPr>
            <a:r>
              <a:rPr lang="hu-HU" dirty="0"/>
              <a:t>HÍRLEVÉL</a:t>
            </a:r>
          </a:p>
        </p:txBody>
      </p:sp>
      <p:sp>
        <p:nvSpPr>
          <p:cNvPr id="11" name="TextBox 10">
            <a:extLst>
              <a:ext uri="{FF2B5EF4-FFF2-40B4-BE49-F238E27FC236}">
                <a16:creationId xmlns:a16="http://schemas.microsoft.com/office/drawing/2014/main" id="{4808E682-728E-2E84-0048-C19DFE704326}"/>
              </a:ext>
            </a:extLst>
          </p:cNvPr>
          <p:cNvSpPr txBox="1"/>
          <p:nvPr/>
        </p:nvSpPr>
        <p:spPr>
          <a:xfrm>
            <a:off x="176697" y="2836685"/>
            <a:ext cx="3097482" cy="369332"/>
          </a:xfrm>
          <a:prstGeom prst="rect">
            <a:avLst/>
          </a:prstGeom>
          <a:noFill/>
        </p:spPr>
        <p:txBody>
          <a:bodyPr wrap="square">
            <a:spAutoFit/>
          </a:bodyPr>
          <a:lstStyle/>
          <a:p>
            <a:r>
              <a:rPr lang="hu-HU" dirty="0">
                <a:highlight>
                  <a:srgbClr val="FF3F5A"/>
                </a:highlight>
              </a:rPr>
              <a:t>SZERKESZTŐT KERESÜNK!!!</a:t>
            </a:r>
          </a:p>
        </p:txBody>
      </p:sp>
      <p:sp>
        <p:nvSpPr>
          <p:cNvPr id="49" name="TextBox 48">
            <a:extLst>
              <a:ext uri="{FF2B5EF4-FFF2-40B4-BE49-F238E27FC236}">
                <a16:creationId xmlns:a16="http://schemas.microsoft.com/office/drawing/2014/main" id="{0F7C6543-D1D5-F8B6-027D-B95010AF72E9}"/>
              </a:ext>
            </a:extLst>
          </p:cNvPr>
          <p:cNvSpPr txBox="1"/>
          <p:nvPr/>
        </p:nvSpPr>
        <p:spPr>
          <a:xfrm>
            <a:off x="390397" y="3206017"/>
            <a:ext cx="11277728" cy="3539430"/>
          </a:xfrm>
          <a:prstGeom prst="rect">
            <a:avLst/>
          </a:prstGeom>
          <a:noFill/>
        </p:spPr>
        <p:txBody>
          <a:bodyPr wrap="square">
            <a:spAutoFit/>
          </a:bodyPr>
          <a:lstStyle/>
          <a:p>
            <a:r>
              <a:rPr lang="en-GB" sz="1600" dirty="0" err="1"/>
              <a:t>Társ</a:t>
            </a:r>
            <a:r>
              <a:rPr lang="en-GB" sz="1600" dirty="0"/>
              <a:t> </a:t>
            </a:r>
            <a:r>
              <a:rPr lang="en-GB" sz="1600" dirty="0" err="1"/>
              <a:t>szerkesztőt</a:t>
            </a:r>
            <a:r>
              <a:rPr lang="en-GB" sz="1600" dirty="0"/>
              <a:t>, </a:t>
            </a:r>
            <a:r>
              <a:rPr lang="en-GB" sz="1600" dirty="0" err="1"/>
              <a:t>szerkesztőket</a:t>
            </a:r>
            <a:r>
              <a:rPr lang="en-GB" sz="1600" dirty="0"/>
              <a:t>  📖 </a:t>
            </a:r>
            <a:r>
              <a:rPr lang="en-GB" sz="1600" dirty="0" err="1"/>
              <a:t>keresek</a:t>
            </a:r>
            <a:r>
              <a:rPr lang="en-GB" sz="1600" dirty="0"/>
              <a:t>, </a:t>
            </a:r>
            <a:r>
              <a:rPr lang="en-GB" sz="1600" dirty="0" err="1"/>
              <a:t>aki</a:t>
            </a:r>
            <a:r>
              <a:rPr lang="en-GB" sz="1600" dirty="0"/>
              <a:t>(k) </a:t>
            </a:r>
            <a:r>
              <a:rPr lang="en-GB" sz="1600" dirty="0" err="1"/>
              <a:t>napi</a:t>
            </a:r>
            <a:r>
              <a:rPr lang="en-GB" sz="1600" dirty="0"/>
              <a:t> </a:t>
            </a:r>
            <a:r>
              <a:rPr lang="en-GB" sz="1600" dirty="0" err="1"/>
              <a:t>szinten</a:t>
            </a:r>
            <a:r>
              <a:rPr lang="en-GB" sz="1600" dirty="0"/>
              <a:t> </a:t>
            </a:r>
            <a:r>
              <a:rPr lang="en-GB" sz="1600" dirty="0" err="1"/>
              <a:t>követi</a:t>
            </a:r>
            <a:r>
              <a:rPr lang="en-GB" sz="1600" dirty="0"/>
              <a:t>(k) </a:t>
            </a:r>
            <a:r>
              <a:rPr lang="en-GB" sz="1600" dirty="0" err="1"/>
              <a:t>az</a:t>
            </a:r>
            <a:r>
              <a:rPr lang="en-GB" sz="1600" dirty="0"/>
              <a:t> </a:t>
            </a:r>
            <a:r>
              <a:rPr lang="en-GB" sz="1600" dirty="0" err="1"/>
              <a:t>szakmai</a:t>
            </a:r>
            <a:r>
              <a:rPr lang="en-GB" sz="1600" dirty="0"/>
              <a:t> </a:t>
            </a:r>
            <a:r>
              <a:rPr lang="en-GB" sz="1600" dirty="0" err="1"/>
              <a:t>híreket</a:t>
            </a:r>
            <a:r>
              <a:rPr lang="en-GB" sz="1600" dirty="0"/>
              <a:t> 🗞️ , </a:t>
            </a:r>
            <a:r>
              <a:rPr lang="en-GB" sz="1600" dirty="0" err="1"/>
              <a:t>és</a:t>
            </a:r>
            <a:r>
              <a:rPr lang="en-GB" sz="1600" dirty="0"/>
              <a:t> van </a:t>
            </a:r>
            <a:r>
              <a:rPr lang="en-GB" sz="1600" dirty="0" err="1"/>
              <a:t>hétköznaponta</a:t>
            </a:r>
            <a:r>
              <a:rPr lang="en-GB" sz="1600" dirty="0"/>
              <a:t> 30-60  🕧 </a:t>
            </a:r>
            <a:r>
              <a:rPr lang="en-GB" sz="1600" dirty="0" err="1"/>
              <a:t>percük</a:t>
            </a:r>
            <a:r>
              <a:rPr lang="en-GB" sz="1600" dirty="0"/>
              <a:t> </a:t>
            </a:r>
            <a:r>
              <a:rPr lang="en-GB" sz="1600" dirty="0" err="1"/>
              <a:t>arra</a:t>
            </a:r>
            <a:r>
              <a:rPr lang="en-GB" sz="1600" dirty="0"/>
              <a:t>, </a:t>
            </a:r>
            <a:r>
              <a:rPr lang="en-GB" sz="1600" dirty="0" err="1"/>
              <a:t>hogy</a:t>
            </a:r>
            <a:r>
              <a:rPr lang="en-GB" sz="1600" dirty="0"/>
              <a:t> </a:t>
            </a:r>
            <a:r>
              <a:rPr lang="en-GB" sz="1600" dirty="0" err="1"/>
              <a:t>híreket</a:t>
            </a:r>
            <a:r>
              <a:rPr lang="en-GB" sz="1600" dirty="0"/>
              <a:t> </a:t>
            </a:r>
            <a:r>
              <a:rPr lang="en-GB" sz="1600" dirty="0" err="1"/>
              <a:t>keresgéljenek</a:t>
            </a:r>
            <a:r>
              <a:rPr lang="en-GB" sz="1600" dirty="0"/>
              <a:t>, </a:t>
            </a:r>
            <a:r>
              <a:rPr lang="en-GB" sz="1600" dirty="0" err="1"/>
              <a:t>azokat</a:t>
            </a:r>
            <a:r>
              <a:rPr lang="en-GB" sz="1600" dirty="0"/>
              <a:t> </a:t>
            </a:r>
            <a:r>
              <a:rPr lang="en-GB" sz="1600" dirty="0" err="1"/>
              <a:t>összegezzék</a:t>
            </a:r>
            <a:r>
              <a:rPr lang="en-GB" sz="1600" dirty="0"/>
              <a:t>, </a:t>
            </a:r>
            <a:r>
              <a:rPr lang="en-GB" sz="1600" dirty="0" err="1"/>
              <a:t>lefordítsák</a:t>
            </a:r>
            <a:r>
              <a:rPr lang="en-GB" sz="1600" dirty="0"/>
              <a:t>.</a:t>
            </a:r>
          </a:p>
          <a:p>
            <a:endParaRPr lang="en-GB" sz="1600" dirty="0"/>
          </a:p>
          <a:p>
            <a:r>
              <a:rPr lang="en-GB" sz="1600" dirty="0"/>
              <a:t>A https://yanac.hu/ </a:t>
            </a:r>
            <a:r>
              <a:rPr lang="en-GB" sz="1600" dirty="0" err="1"/>
              <a:t>oldalunk</a:t>
            </a:r>
            <a:r>
              <a:rPr lang="en-GB" sz="1600" dirty="0"/>
              <a:t> </a:t>
            </a:r>
            <a:r>
              <a:rPr lang="en-GB" sz="1600" dirty="0" err="1"/>
              <a:t>már</a:t>
            </a:r>
            <a:r>
              <a:rPr lang="en-GB" sz="1600" dirty="0"/>
              <a:t> </a:t>
            </a:r>
            <a:r>
              <a:rPr lang="en-GB" sz="1600" dirty="0" err="1"/>
              <a:t>több</a:t>
            </a:r>
            <a:r>
              <a:rPr lang="en-GB" sz="1600" dirty="0"/>
              <a:t>, mint </a:t>
            </a:r>
            <a:r>
              <a:rPr lang="hu-HU" sz="1600" dirty="0"/>
              <a:t>négy</a:t>
            </a:r>
            <a:r>
              <a:rPr lang="en-GB" sz="1600" dirty="0"/>
              <a:t> </a:t>
            </a:r>
            <a:r>
              <a:rPr lang="en-GB" sz="1600" dirty="0" err="1"/>
              <a:t>éve</a:t>
            </a:r>
            <a:r>
              <a:rPr lang="en-GB" sz="1600" dirty="0"/>
              <a:t>  👶 </a:t>
            </a:r>
            <a:r>
              <a:rPr lang="en-GB" sz="1600" dirty="0" err="1"/>
              <a:t>üzemel</a:t>
            </a:r>
            <a:r>
              <a:rPr lang="en-GB" sz="1600" dirty="0"/>
              <a:t>, </a:t>
            </a:r>
            <a:r>
              <a:rPr lang="en-GB" sz="1600" dirty="0" err="1"/>
              <a:t>ez</a:t>
            </a:r>
            <a:r>
              <a:rPr lang="en-GB" sz="1600" dirty="0"/>
              <a:t> </a:t>
            </a:r>
            <a:r>
              <a:rPr lang="en-GB" sz="1600" dirty="0" err="1"/>
              <a:t>idő</a:t>
            </a:r>
            <a:r>
              <a:rPr lang="en-GB" sz="1600" dirty="0"/>
              <a:t> </a:t>
            </a:r>
            <a:r>
              <a:rPr lang="en-GB" sz="1600" dirty="0" err="1"/>
              <a:t>alatt</a:t>
            </a:r>
            <a:r>
              <a:rPr lang="en-GB" sz="1600" dirty="0"/>
              <a:t> </a:t>
            </a:r>
            <a:r>
              <a:rPr lang="en-GB" sz="1600" dirty="0" err="1"/>
              <a:t>majdnem</a:t>
            </a:r>
            <a:r>
              <a:rPr lang="en-GB" sz="1600" dirty="0"/>
              <a:t> 5000 </a:t>
            </a:r>
            <a:r>
              <a:rPr lang="en-GB" sz="1600" dirty="0" err="1"/>
              <a:t>saját</a:t>
            </a:r>
            <a:r>
              <a:rPr lang="en-GB" sz="1600" dirty="0"/>
              <a:t> </a:t>
            </a:r>
            <a:r>
              <a:rPr lang="en-GB" sz="1600" dirty="0" err="1"/>
              <a:t>fordítást</a:t>
            </a:r>
            <a:r>
              <a:rPr lang="en-GB" sz="1600" dirty="0"/>
              <a:t>, </a:t>
            </a:r>
            <a:r>
              <a:rPr lang="en-GB" sz="1600" dirty="0" err="1"/>
              <a:t>összegzést</a:t>
            </a:r>
            <a:r>
              <a:rPr lang="en-GB" sz="1600" dirty="0"/>
              <a:t> </a:t>
            </a:r>
            <a:r>
              <a:rPr lang="en-GB" sz="1600" dirty="0" err="1"/>
              <a:t>publikáltunk</a:t>
            </a:r>
            <a:r>
              <a:rPr lang="en-GB" sz="1600" dirty="0"/>
              <a:t>, </a:t>
            </a:r>
            <a:r>
              <a:rPr lang="en-GB" sz="1600" dirty="0" err="1"/>
              <a:t>és</a:t>
            </a:r>
            <a:r>
              <a:rPr lang="en-GB" sz="1600" dirty="0"/>
              <a:t> </a:t>
            </a:r>
            <a:r>
              <a:rPr lang="en-GB" sz="1600" dirty="0" err="1"/>
              <a:t>nagyon</a:t>
            </a:r>
            <a:r>
              <a:rPr lang="en-GB" sz="1600" dirty="0"/>
              <a:t> </a:t>
            </a:r>
            <a:r>
              <a:rPr lang="en-GB" sz="1600" dirty="0" err="1"/>
              <a:t>sok</a:t>
            </a:r>
            <a:r>
              <a:rPr lang="en-GB" sz="1600" dirty="0"/>
              <a:t> </a:t>
            </a:r>
            <a:r>
              <a:rPr lang="en-GB" sz="1600" dirty="0" err="1"/>
              <a:t>esetben</a:t>
            </a:r>
            <a:r>
              <a:rPr lang="en-GB" sz="1600" dirty="0"/>
              <a:t> mi </a:t>
            </a:r>
            <a:r>
              <a:rPr lang="en-GB" sz="1600" dirty="0" err="1"/>
              <a:t>voltunk</a:t>
            </a:r>
            <a:r>
              <a:rPr lang="en-GB" sz="1600" dirty="0"/>
              <a:t> </a:t>
            </a:r>
            <a:r>
              <a:rPr lang="en-GB" sz="1600" dirty="0" err="1"/>
              <a:t>azok</a:t>
            </a:r>
            <a:r>
              <a:rPr lang="en-GB" sz="1600" dirty="0"/>
              <a:t>, </a:t>
            </a:r>
            <a:r>
              <a:rPr lang="en-GB" sz="1600" dirty="0" err="1"/>
              <a:t>akik</a:t>
            </a:r>
            <a:r>
              <a:rPr lang="en-GB" sz="1600" dirty="0"/>
              <a:t> </a:t>
            </a:r>
            <a:r>
              <a:rPr lang="en-GB" sz="1600" dirty="0" err="1"/>
              <a:t>egy-egy</a:t>
            </a:r>
            <a:r>
              <a:rPr lang="en-GB" sz="1600" dirty="0"/>
              <a:t> </a:t>
            </a:r>
            <a:r>
              <a:rPr lang="en-GB" sz="1600" dirty="0" err="1"/>
              <a:t>fontosabb</a:t>
            </a:r>
            <a:r>
              <a:rPr lang="en-GB" sz="1600" dirty="0"/>
              <a:t> </a:t>
            </a:r>
            <a:r>
              <a:rPr lang="en-GB" sz="1600" dirty="0" err="1"/>
              <a:t>hírről</a:t>
            </a:r>
            <a:r>
              <a:rPr lang="en-GB" sz="1600" dirty="0"/>
              <a:t> </a:t>
            </a:r>
            <a:r>
              <a:rPr lang="en-GB" sz="1600" dirty="0" err="1"/>
              <a:t>elsőként</a:t>
            </a:r>
            <a:r>
              <a:rPr lang="en-GB" sz="1600" dirty="0"/>
              <a:t>  🏁 </a:t>
            </a:r>
            <a:r>
              <a:rPr lang="en-GB" sz="1600" dirty="0" err="1"/>
              <a:t>számoltak</a:t>
            </a:r>
            <a:r>
              <a:rPr lang="en-GB" sz="1600" dirty="0"/>
              <a:t> be </a:t>
            </a:r>
            <a:r>
              <a:rPr lang="en-GB" sz="1600" dirty="0" err="1"/>
              <a:t>magyar</a:t>
            </a:r>
            <a:r>
              <a:rPr lang="en-GB" sz="1600" dirty="0"/>
              <a:t> </a:t>
            </a:r>
            <a:r>
              <a:rPr lang="en-GB" sz="1600" dirty="0" err="1"/>
              <a:t>nyelven</a:t>
            </a:r>
            <a:r>
              <a:rPr lang="en-GB" sz="1600" dirty="0"/>
              <a:t> (SolarWinds pl.)  </a:t>
            </a:r>
            <a:r>
              <a:rPr lang="en-GB" sz="1600" dirty="0" err="1"/>
              <a:t>Mostanában</a:t>
            </a:r>
            <a:r>
              <a:rPr lang="en-GB" sz="1600" dirty="0"/>
              <a:t> </a:t>
            </a:r>
            <a:r>
              <a:rPr lang="en-GB" sz="1600" dirty="0" err="1"/>
              <a:t>azt</a:t>
            </a:r>
            <a:r>
              <a:rPr lang="en-GB" sz="1600" dirty="0"/>
              <a:t> </a:t>
            </a:r>
            <a:r>
              <a:rPr lang="en-GB" sz="1600" dirty="0" err="1"/>
              <a:t>tapasztaljuk</a:t>
            </a:r>
            <a:r>
              <a:rPr lang="en-GB" sz="1600" dirty="0"/>
              <a:t>, </a:t>
            </a:r>
            <a:r>
              <a:rPr lang="en-GB" sz="1600" dirty="0" err="1"/>
              <a:t>hogy</a:t>
            </a:r>
            <a:r>
              <a:rPr lang="en-GB" sz="1600" dirty="0"/>
              <a:t> a </a:t>
            </a:r>
            <a:r>
              <a:rPr lang="en-GB" sz="1600" dirty="0" err="1"/>
              <a:t>nagyobb</a:t>
            </a:r>
            <a:r>
              <a:rPr lang="en-GB" sz="1600" dirty="0"/>
              <a:t> </a:t>
            </a:r>
            <a:r>
              <a:rPr lang="en-GB" sz="1600" dirty="0" err="1"/>
              <a:t>portálok</a:t>
            </a:r>
            <a:r>
              <a:rPr lang="en-GB" sz="1600" dirty="0"/>
              <a:t> 📰  is </a:t>
            </a:r>
            <a:r>
              <a:rPr lang="en-GB" sz="1600" dirty="0" err="1"/>
              <a:t>követik</a:t>
            </a:r>
            <a:r>
              <a:rPr lang="en-GB" sz="1600" dirty="0"/>
              <a:t> </a:t>
            </a:r>
            <a:r>
              <a:rPr lang="en-GB" sz="1600" dirty="0" err="1"/>
              <a:t>az</a:t>
            </a:r>
            <a:r>
              <a:rPr lang="en-GB" sz="1600" dirty="0"/>
              <a:t> </a:t>
            </a:r>
            <a:r>
              <a:rPr lang="en-GB" sz="1600" dirty="0" err="1"/>
              <a:t>anyagainkat</a:t>
            </a:r>
            <a:r>
              <a:rPr lang="en-GB" sz="1600" dirty="0"/>
              <a:t>, </a:t>
            </a:r>
            <a:r>
              <a:rPr lang="en-GB" sz="1600" dirty="0" err="1"/>
              <a:t>és</a:t>
            </a:r>
            <a:r>
              <a:rPr lang="en-GB" sz="1600" dirty="0"/>
              <a:t> </a:t>
            </a:r>
            <a:r>
              <a:rPr lang="en-GB" sz="1600" dirty="0" err="1"/>
              <a:t>egyes</a:t>
            </a:r>
            <a:r>
              <a:rPr lang="en-GB" sz="1600" dirty="0"/>
              <a:t> </a:t>
            </a:r>
            <a:r>
              <a:rPr lang="en-GB" sz="1600" dirty="0" err="1"/>
              <a:t>esetekben</a:t>
            </a:r>
            <a:r>
              <a:rPr lang="en-GB" sz="1600" dirty="0"/>
              <a:t> </a:t>
            </a:r>
            <a:r>
              <a:rPr lang="en-GB" sz="1600" dirty="0" err="1"/>
              <a:t>azok</a:t>
            </a:r>
            <a:r>
              <a:rPr lang="en-GB" sz="1600" dirty="0"/>
              <a:t> </a:t>
            </a:r>
            <a:r>
              <a:rPr lang="en-GB" sz="1600" dirty="0" err="1"/>
              <a:t>alapján</a:t>
            </a:r>
            <a:r>
              <a:rPr lang="en-GB" sz="1600" dirty="0"/>
              <a:t> </a:t>
            </a:r>
            <a:r>
              <a:rPr lang="en-GB" sz="1600" dirty="0" err="1"/>
              <a:t>hozzák</a:t>
            </a:r>
            <a:r>
              <a:rPr lang="en-GB" sz="1600" dirty="0"/>
              <a:t> le </a:t>
            </a:r>
            <a:r>
              <a:rPr lang="en-GB" sz="1600" dirty="0" err="1"/>
              <a:t>saját</a:t>
            </a:r>
            <a:r>
              <a:rPr lang="en-GB" sz="1600" dirty="0"/>
              <a:t> </a:t>
            </a:r>
            <a:r>
              <a:rPr lang="en-GB" sz="1600" dirty="0" err="1"/>
              <a:t>híreiket</a:t>
            </a:r>
            <a:r>
              <a:rPr lang="en-GB" sz="1600" dirty="0"/>
              <a:t>. 📺 </a:t>
            </a:r>
          </a:p>
          <a:p>
            <a:endParaRPr lang="en-GB" sz="1600" dirty="0"/>
          </a:p>
          <a:p>
            <a:r>
              <a:rPr lang="en-GB" sz="1600" dirty="0" err="1"/>
              <a:t>Szóval</a:t>
            </a:r>
            <a:r>
              <a:rPr lang="en-GB" sz="1600" dirty="0"/>
              <a:t>, ha </a:t>
            </a:r>
            <a:r>
              <a:rPr lang="en-GB" sz="1600" dirty="0" err="1"/>
              <a:t>valakinek</a:t>
            </a:r>
            <a:r>
              <a:rPr lang="en-GB" sz="1600" dirty="0"/>
              <a:t> van </a:t>
            </a:r>
            <a:r>
              <a:rPr lang="en-GB" sz="1600" dirty="0" err="1"/>
              <a:t>kedve</a:t>
            </a:r>
            <a:r>
              <a:rPr lang="en-GB" sz="1600" dirty="0"/>
              <a:t>, </a:t>
            </a:r>
            <a:r>
              <a:rPr lang="en-GB" sz="1600" dirty="0" err="1"/>
              <a:t>legfőbbként</a:t>
            </a:r>
            <a:r>
              <a:rPr lang="en-GB" sz="1600" dirty="0"/>
              <a:t> </a:t>
            </a:r>
            <a:r>
              <a:rPr lang="en-GB" sz="1600" dirty="0" err="1"/>
              <a:t>kitartása</a:t>
            </a:r>
            <a:r>
              <a:rPr lang="en-GB" sz="1600" dirty="0"/>
              <a:t> </a:t>
            </a:r>
            <a:r>
              <a:rPr lang="en-GB" sz="1600" dirty="0" err="1"/>
              <a:t>arra</a:t>
            </a:r>
            <a:r>
              <a:rPr lang="en-GB" sz="1600" dirty="0"/>
              <a:t>, </a:t>
            </a:r>
            <a:r>
              <a:rPr lang="en-GB" sz="1600" dirty="0" err="1"/>
              <a:t>hogy</a:t>
            </a:r>
            <a:r>
              <a:rPr lang="en-GB" sz="1600" dirty="0"/>
              <a:t> </a:t>
            </a:r>
            <a:r>
              <a:rPr lang="en-GB" sz="1600" dirty="0" err="1"/>
              <a:t>friss</a:t>
            </a:r>
            <a:r>
              <a:rPr lang="en-GB" sz="1600" dirty="0"/>
              <a:t>, </a:t>
            </a:r>
            <a:r>
              <a:rPr lang="en-GB" sz="1600" dirty="0" err="1"/>
              <a:t>aktuális</a:t>
            </a:r>
            <a:r>
              <a:rPr lang="en-GB" sz="1600" dirty="0"/>
              <a:t> </a:t>
            </a:r>
            <a:r>
              <a:rPr lang="en-GB" sz="1600" dirty="0" err="1"/>
              <a:t>és</a:t>
            </a:r>
            <a:r>
              <a:rPr lang="en-GB" sz="1600" dirty="0"/>
              <a:t> </a:t>
            </a:r>
            <a:r>
              <a:rPr lang="en-GB" sz="1600" dirty="0" err="1"/>
              <a:t>releváns</a:t>
            </a:r>
            <a:r>
              <a:rPr lang="en-GB" sz="1600" dirty="0"/>
              <a:t> </a:t>
            </a:r>
            <a:r>
              <a:rPr lang="en-GB" sz="1600" dirty="0" err="1"/>
              <a:t>híreket</a:t>
            </a:r>
            <a:r>
              <a:rPr lang="en-GB" sz="1600" dirty="0"/>
              <a:t> </a:t>
            </a:r>
            <a:r>
              <a:rPr lang="en-GB" sz="1600" dirty="0" err="1"/>
              <a:t>összegezzen</a:t>
            </a:r>
            <a:r>
              <a:rPr lang="en-GB" sz="1600" dirty="0"/>
              <a:t> </a:t>
            </a:r>
            <a:r>
              <a:rPr lang="en-GB" sz="1600" dirty="0" err="1"/>
              <a:t>magyarul</a:t>
            </a:r>
            <a:r>
              <a:rPr lang="en-GB" sz="1600" dirty="0"/>
              <a:t> 🇭🇺 , </a:t>
            </a:r>
            <a:r>
              <a:rPr lang="en-GB" sz="1600" dirty="0" err="1"/>
              <a:t>jelentkezzen</a:t>
            </a:r>
            <a:r>
              <a:rPr lang="en-GB" sz="1600" dirty="0"/>
              <a:t> </a:t>
            </a:r>
            <a:r>
              <a:rPr lang="en-GB" sz="1600" dirty="0" err="1"/>
              <a:t>bátran</a:t>
            </a:r>
            <a:r>
              <a:rPr lang="en-GB" sz="1600" dirty="0"/>
              <a:t> </a:t>
            </a:r>
            <a:r>
              <a:rPr lang="en-GB" sz="1600" dirty="0" err="1"/>
              <a:t>nálam</a:t>
            </a:r>
            <a:r>
              <a:rPr lang="en-GB" sz="1600" dirty="0"/>
              <a:t>, </a:t>
            </a:r>
            <a:r>
              <a:rPr lang="en-GB" sz="1600" dirty="0" err="1"/>
              <a:t>tudok</a:t>
            </a:r>
            <a:r>
              <a:rPr lang="en-GB" sz="1600" dirty="0"/>
              <a:t> </a:t>
            </a:r>
            <a:r>
              <a:rPr lang="en-GB" sz="1600" dirty="0" err="1"/>
              <a:t>hozzá</a:t>
            </a:r>
            <a:r>
              <a:rPr lang="en-GB" sz="1600" dirty="0"/>
              <a:t> </a:t>
            </a:r>
            <a:r>
              <a:rPr lang="en-GB" sz="1600" dirty="0" err="1"/>
              <a:t>adni</a:t>
            </a:r>
            <a:r>
              <a:rPr lang="en-GB" sz="1600" dirty="0"/>
              <a:t> </a:t>
            </a:r>
            <a:r>
              <a:rPr lang="en-GB" sz="1600" dirty="0" err="1"/>
              <a:t>felülelet</a:t>
            </a:r>
            <a:r>
              <a:rPr lang="en-GB" sz="1600" dirty="0"/>
              <a:t>. 📋 </a:t>
            </a:r>
          </a:p>
          <a:p>
            <a:endParaRPr lang="en-GB" sz="1600" dirty="0"/>
          </a:p>
          <a:p>
            <a:r>
              <a:rPr lang="en-GB" sz="1600" dirty="0" err="1"/>
              <a:t>Ahogy</a:t>
            </a:r>
            <a:r>
              <a:rPr lang="en-GB" sz="1600" dirty="0"/>
              <a:t> </a:t>
            </a:r>
            <a:r>
              <a:rPr lang="en-GB" sz="1600" dirty="0" err="1"/>
              <a:t>az</a:t>
            </a:r>
            <a:r>
              <a:rPr lang="en-GB" sz="1600" dirty="0"/>
              <a:t> </a:t>
            </a:r>
            <a:r>
              <a:rPr lang="en-GB" sz="1600" dirty="0" err="1"/>
              <a:t>alapítóknak</a:t>
            </a:r>
            <a:r>
              <a:rPr lang="en-GB" sz="1600" dirty="0"/>
              <a:t>, </a:t>
            </a:r>
            <a:r>
              <a:rPr lang="en-GB" sz="1600" dirty="0" err="1"/>
              <a:t>úgy</a:t>
            </a:r>
            <a:r>
              <a:rPr lang="en-GB" sz="1600" dirty="0"/>
              <a:t> a </a:t>
            </a:r>
            <a:r>
              <a:rPr lang="en-GB" sz="1600" dirty="0" err="1"/>
              <a:t>társszerzőnek</a:t>
            </a:r>
            <a:r>
              <a:rPr lang="en-GB" sz="1600" dirty="0"/>
              <a:t> </a:t>
            </a:r>
            <a:r>
              <a:rPr lang="en-GB" sz="1600" dirty="0" err="1"/>
              <a:t>sem</a:t>
            </a:r>
            <a:r>
              <a:rPr lang="en-GB" sz="1600" dirty="0"/>
              <a:t> </a:t>
            </a:r>
            <a:r>
              <a:rPr lang="en-GB" sz="1600" dirty="0" err="1"/>
              <a:t>tudok</a:t>
            </a:r>
            <a:r>
              <a:rPr lang="en-GB" sz="1600" dirty="0"/>
              <a:t> </a:t>
            </a:r>
            <a:r>
              <a:rPr lang="en-GB" sz="1600" dirty="0" err="1"/>
              <a:t>fizetni</a:t>
            </a:r>
            <a:r>
              <a:rPr lang="en-GB" sz="1600" dirty="0"/>
              <a:t> 🚫 💶 , </a:t>
            </a:r>
            <a:r>
              <a:rPr lang="en-GB" sz="1600" dirty="0" err="1"/>
              <a:t>hisz</a:t>
            </a:r>
            <a:r>
              <a:rPr lang="en-GB" sz="1600" dirty="0"/>
              <a:t> </a:t>
            </a:r>
            <a:r>
              <a:rPr lang="en-GB" sz="1600" dirty="0" err="1"/>
              <a:t>az</a:t>
            </a:r>
            <a:r>
              <a:rPr lang="en-GB" sz="1600" dirty="0"/>
              <a:t> </a:t>
            </a:r>
            <a:r>
              <a:rPr lang="en-GB" sz="1600" dirty="0" err="1"/>
              <a:t>egész</a:t>
            </a:r>
            <a:r>
              <a:rPr lang="en-GB" sz="1600" dirty="0"/>
              <a:t> </a:t>
            </a:r>
            <a:r>
              <a:rPr lang="en-GB" sz="1600" dirty="0" err="1"/>
              <a:t>oldal</a:t>
            </a:r>
            <a:r>
              <a:rPr lang="en-GB" sz="1600" dirty="0"/>
              <a:t> non-profit, de </a:t>
            </a:r>
            <a:r>
              <a:rPr lang="en-GB" sz="1600" dirty="0" err="1"/>
              <a:t>minket</a:t>
            </a:r>
            <a:r>
              <a:rPr lang="en-GB" sz="1600" dirty="0"/>
              <a:t> </a:t>
            </a:r>
            <a:r>
              <a:rPr lang="en-GB" sz="1600" dirty="0" err="1"/>
              <a:t>például</a:t>
            </a:r>
            <a:r>
              <a:rPr lang="en-GB" sz="1600" dirty="0"/>
              <a:t> </a:t>
            </a:r>
            <a:r>
              <a:rPr lang="en-GB" sz="1600" dirty="0" err="1"/>
              <a:t>motivál</a:t>
            </a:r>
            <a:r>
              <a:rPr lang="en-GB" sz="1600" dirty="0"/>
              <a:t>, </a:t>
            </a:r>
            <a:r>
              <a:rPr lang="en-GB" sz="1600" dirty="0" err="1"/>
              <a:t>amikor</a:t>
            </a:r>
            <a:r>
              <a:rPr lang="en-GB" sz="1600" dirty="0"/>
              <a:t> </a:t>
            </a:r>
            <a:r>
              <a:rPr lang="en-GB" sz="1600" dirty="0" err="1"/>
              <a:t>látjuk</a:t>
            </a:r>
            <a:r>
              <a:rPr lang="en-GB" sz="1600" dirty="0"/>
              <a:t>, </a:t>
            </a:r>
            <a:r>
              <a:rPr lang="en-GB" sz="1600" dirty="0" err="1"/>
              <a:t>hogy</a:t>
            </a:r>
            <a:r>
              <a:rPr lang="en-GB" sz="1600" dirty="0"/>
              <a:t> pl. Dr. </a:t>
            </a:r>
            <a:r>
              <a:rPr lang="en-GB" sz="1600" dirty="0" err="1"/>
              <a:t>Krasznay</a:t>
            </a:r>
            <a:r>
              <a:rPr lang="en-GB" sz="1600" dirty="0"/>
              <a:t> Csaba 🧑‍🏫  </a:t>
            </a:r>
            <a:r>
              <a:rPr lang="en-GB" sz="1600" dirty="0" err="1"/>
              <a:t>hivatkozza</a:t>
            </a:r>
            <a:r>
              <a:rPr lang="en-GB" sz="1600" dirty="0"/>
              <a:t> </a:t>
            </a:r>
            <a:r>
              <a:rPr lang="en-GB" sz="1600" dirty="0" err="1"/>
              <a:t>cikkünket</a:t>
            </a:r>
            <a:r>
              <a:rPr lang="en-GB" sz="1600" dirty="0"/>
              <a:t> </a:t>
            </a:r>
            <a:r>
              <a:rPr lang="en-GB" sz="1600" dirty="0" err="1"/>
              <a:t>shortjaiban</a:t>
            </a:r>
            <a:r>
              <a:rPr lang="en-GB" sz="1600" dirty="0"/>
              <a:t> 🩳 , </a:t>
            </a:r>
            <a:r>
              <a:rPr lang="en-GB" sz="1600" dirty="0" err="1"/>
              <a:t>vagy</a:t>
            </a:r>
            <a:r>
              <a:rPr lang="en-GB" sz="1600" dirty="0"/>
              <a:t> </a:t>
            </a:r>
            <a:r>
              <a:rPr lang="en-GB" sz="1600" dirty="0" err="1"/>
              <a:t>máshol</a:t>
            </a:r>
            <a:r>
              <a:rPr lang="en-GB" sz="1600" dirty="0"/>
              <a:t> </a:t>
            </a:r>
            <a:r>
              <a:rPr lang="en-GB" sz="1600" dirty="0" err="1"/>
              <a:t>látjuk</a:t>
            </a:r>
            <a:r>
              <a:rPr lang="en-GB" sz="1600" dirty="0"/>
              <a:t> </a:t>
            </a:r>
            <a:r>
              <a:rPr lang="en-GB" sz="1600" dirty="0" err="1"/>
              <a:t>viszont</a:t>
            </a:r>
            <a:r>
              <a:rPr lang="en-GB" sz="1600" dirty="0"/>
              <a:t> </a:t>
            </a:r>
            <a:r>
              <a:rPr lang="en-GB" sz="1600" dirty="0" err="1"/>
              <a:t>azokat</a:t>
            </a:r>
            <a:r>
              <a:rPr lang="en-GB" sz="1600" dirty="0"/>
              <a:t> a </a:t>
            </a:r>
            <a:r>
              <a:rPr lang="en-GB" sz="1600" dirty="0" err="1"/>
              <a:t>címeket</a:t>
            </a:r>
            <a:r>
              <a:rPr lang="en-GB" sz="1600" dirty="0"/>
              <a:t>, </a:t>
            </a:r>
            <a:r>
              <a:rPr lang="en-GB" sz="1600" dirty="0" err="1"/>
              <a:t>amiket</a:t>
            </a:r>
            <a:r>
              <a:rPr lang="en-GB" sz="1600" dirty="0"/>
              <a:t> </a:t>
            </a:r>
            <a:r>
              <a:rPr lang="en-GB" sz="1600" dirty="0" err="1"/>
              <a:t>korábban</a:t>
            </a:r>
            <a:r>
              <a:rPr lang="en-GB" sz="1600" dirty="0"/>
              <a:t> mi </a:t>
            </a:r>
            <a:r>
              <a:rPr lang="en-GB" sz="1600" dirty="0" err="1"/>
              <a:t>már</a:t>
            </a:r>
            <a:r>
              <a:rPr lang="en-GB" sz="1600" dirty="0"/>
              <a:t> </a:t>
            </a:r>
            <a:r>
              <a:rPr lang="en-GB" sz="1600" dirty="0" err="1"/>
              <a:t>feldolgoztunk</a:t>
            </a:r>
            <a:r>
              <a:rPr lang="en-GB" sz="1600" dirty="0"/>
              <a:t>.  📈</a:t>
            </a:r>
          </a:p>
        </p:txBody>
      </p:sp>
    </p:spTree>
    <p:extLst>
      <p:ext uri="{BB962C8B-B14F-4D97-AF65-F5344CB8AC3E}">
        <p14:creationId xmlns:p14="http://schemas.microsoft.com/office/powerpoint/2010/main" val="34165890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FF174-CEE5-8602-EEC4-CF14A9E3C8D5}"/>
            </a:ext>
          </a:extLst>
        </p:cNvPr>
        <p:cNvGrpSpPr/>
        <p:nvPr/>
      </p:nvGrpSpPr>
      <p:grpSpPr>
        <a:xfrm>
          <a:off x="0" y="0"/>
          <a:ext cx="0" cy="0"/>
          <a:chOff x="0" y="0"/>
          <a:chExt cx="0" cy="0"/>
        </a:xfrm>
      </p:grpSpPr>
      <p:pic>
        <p:nvPicPr>
          <p:cNvPr id="5" name="Picture 2">
            <a:extLst>
              <a:ext uri="{FF2B5EF4-FFF2-40B4-BE49-F238E27FC236}">
                <a16:creationId xmlns:a16="http://schemas.microsoft.com/office/drawing/2014/main" id="{EF1F01B2-CCFE-95B0-8DFC-62A9A4F91E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634302D-9775-B8E4-4EE9-1FA89279EAF9}"/>
              </a:ext>
            </a:extLst>
          </p:cNvPr>
          <p:cNvSpPr txBox="1"/>
          <p:nvPr/>
        </p:nvSpPr>
        <p:spPr>
          <a:xfrm>
            <a:off x="1872998" y="370214"/>
            <a:ext cx="3209276" cy="769441"/>
          </a:xfrm>
          <a:prstGeom prst="rect">
            <a:avLst/>
          </a:prstGeom>
          <a:noFill/>
        </p:spPr>
        <p:txBody>
          <a:bodyPr wrap="none" rtlCol="0">
            <a:spAutoFit/>
          </a:bodyPr>
          <a:lstStyle/>
          <a:p>
            <a:r>
              <a:rPr lang="hu-HU" sz="4400" dirty="0">
                <a:highlight>
                  <a:srgbClr val="FF3F5A"/>
                </a:highlight>
              </a:rPr>
              <a:t>TÁMOGATÁS</a:t>
            </a:r>
          </a:p>
        </p:txBody>
      </p:sp>
      <p:pic>
        <p:nvPicPr>
          <p:cNvPr id="3" name="Picture 2">
            <a:extLst>
              <a:ext uri="{FF2B5EF4-FFF2-40B4-BE49-F238E27FC236}">
                <a16:creationId xmlns:a16="http://schemas.microsoft.com/office/drawing/2014/main" id="{EB8B752C-F172-A4A3-4B8B-F22D79AF96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54069" y="2205700"/>
            <a:ext cx="3574452" cy="4285281"/>
          </a:xfrm>
          <a:prstGeom prst="rect">
            <a:avLst/>
          </a:prstGeom>
        </p:spPr>
      </p:pic>
      <p:sp>
        <p:nvSpPr>
          <p:cNvPr id="7" name="TextBox 6">
            <a:extLst>
              <a:ext uri="{FF2B5EF4-FFF2-40B4-BE49-F238E27FC236}">
                <a16:creationId xmlns:a16="http://schemas.microsoft.com/office/drawing/2014/main" id="{0E2EA162-DA4A-0FAF-F9B0-37F0AFC839CB}"/>
              </a:ext>
            </a:extLst>
          </p:cNvPr>
          <p:cNvSpPr txBox="1"/>
          <p:nvPr/>
        </p:nvSpPr>
        <p:spPr>
          <a:xfrm>
            <a:off x="7487619" y="139381"/>
            <a:ext cx="4190354" cy="461665"/>
          </a:xfrm>
          <a:prstGeom prst="rect">
            <a:avLst/>
          </a:prstGeom>
          <a:noFill/>
        </p:spPr>
        <p:txBody>
          <a:bodyPr wrap="square">
            <a:spAutoFit/>
          </a:bodyPr>
          <a:lstStyle/>
          <a:p>
            <a:r>
              <a:rPr lang="en-GB" sz="2400" dirty="0"/>
              <a:t>https://yanac.hu/tamogatas/</a:t>
            </a:r>
          </a:p>
        </p:txBody>
      </p:sp>
      <p:sp>
        <p:nvSpPr>
          <p:cNvPr id="9" name="TextBox 8">
            <a:extLst>
              <a:ext uri="{FF2B5EF4-FFF2-40B4-BE49-F238E27FC236}">
                <a16:creationId xmlns:a16="http://schemas.microsoft.com/office/drawing/2014/main" id="{6AD6F9F8-3C96-DECA-AA88-BDB5859ADC61}"/>
              </a:ext>
            </a:extLst>
          </p:cNvPr>
          <p:cNvSpPr txBox="1"/>
          <p:nvPr/>
        </p:nvSpPr>
        <p:spPr>
          <a:xfrm>
            <a:off x="8173439" y="1443637"/>
            <a:ext cx="935712" cy="584775"/>
          </a:xfrm>
          <a:prstGeom prst="rect">
            <a:avLst/>
          </a:prstGeom>
          <a:noFill/>
        </p:spPr>
        <p:txBody>
          <a:bodyPr wrap="square">
            <a:spAutoFit/>
          </a:bodyPr>
          <a:lstStyle/>
          <a:p>
            <a:r>
              <a:rPr lang="hu-HU" sz="3200" dirty="0">
                <a:highlight>
                  <a:srgbClr val="FF3F5A"/>
                </a:highlight>
              </a:rPr>
              <a:t>10 €</a:t>
            </a:r>
          </a:p>
        </p:txBody>
      </p:sp>
      <p:pic>
        <p:nvPicPr>
          <p:cNvPr id="13" name="Picture 12">
            <a:extLst>
              <a:ext uri="{FF2B5EF4-FFF2-40B4-BE49-F238E27FC236}">
                <a16:creationId xmlns:a16="http://schemas.microsoft.com/office/drawing/2014/main" id="{8AA19028-8DA2-A83D-B1CC-333E38128E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63481" y="2205700"/>
            <a:ext cx="3574452" cy="4285281"/>
          </a:xfrm>
          <a:prstGeom prst="rect">
            <a:avLst/>
          </a:prstGeom>
        </p:spPr>
      </p:pic>
      <p:sp>
        <p:nvSpPr>
          <p:cNvPr id="14" name="TextBox 13">
            <a:extLst>
              <a:ext uri="{FF2B5EF4-FFF2-40B4-BE49-F238E27FC236}">
                <a16:creationId xmlns:a16="http://schemas.microsoft.com/office/drawing/2014/main" id="{AEC12FEB-F7F1-25C9-5069-E302D397A3FC}"/>
              </a:ext>
            </a:extLst>
          </p:cNvPr>
          <p:cNvSpPr txBox="1"/>
          <p:nvPr/>
        </p:nvSpPr>
        <p:spPr>
          <a:xfrm>
            <a:off x="3136186" y="1443637"/>
            <a:ext cx="829041" cy="584775"/>
          </a:xfrm>
          <a:prstGeom prst="rect">
            <a:avLst/>
          </a:prstGeom>
          <a:noFill/>
        </p:spPr>
        <p:txBody>
          <a:bodyPr wrap="square">
            <a:spAutoFit/>
          </a:bodyPr>
          <a:lstStyle/>
          <a:p>
            <a:r>
              <a:rPr lang="hu-HU" sz="3200" dirty="0">
                <a:highlight>
                  <a:srgbClr val="FF3F5A"/>
                </a:highlight>
              </a:rPr>
              <a:t>5 €</a:t>
            </a:r>
          </a:p>
        </p:txBody>
      </p:sp>
    </p:spTree>
    <p:extLst>
      <p:ext uri="{BB962C8B-B14F-4D97-AF65-F5344CB8AC3E}">
        <p14:creationId xmlns:p14="http://schemas.microsoft.com/office/powerpoint/2010/main" val="2719384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D2B6620E-CC54-212B-EBD7-9559AF5908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2143125" cy="214312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6FF17A8-2A06-5C7C-FFD6-5D761233B5BC}"/>
              </a:ext>
            </a:extLst>
          </p:cNvPr>
          <p:cNvSpPr txBox="1"/>
          <p:nvPr/>
        </p:nvSpPr>
        <p:spPr>
          <a:xfrm>
            <a:off x="1872998" y="370214"/>
            <a:ext cx="6661695" cy="769441"/>
          </a:xfrm>
          <a:prstGeom prst="rect">
            <a:avLst/>
          </a:prstGeom>
          <a:noFill/>
        </p:spPr>
        <p:txBody>
          <a:bodyPr wrap="none" rtlCol="0">
            <a:spAutoFit/>
          </a:bodyPr>
          <a:lstStyle/>
          <a:p>
            <a:r>
              <a:rPr lang="hu-HU" sz="4400" dirty="0">
                <a:highlight>
                  <a:srgbClr val="FF3F5A"/>
                </a:highlight>
              </a:rPr>
              <a:t>KÖSZÖNÖM A FIGYELMET!</a:t>
            </a:r>
          </a:p>
        </p:txBody>
      </p:sp>
      <p:sp>
        <p:nvSpPr>
          <p:cNvPr id="8" name="TextBox 7">
            <a:extLst>
              <a:ext uri="{FF2B5EF4-FFF2-40B4-BE49-F238E27FC236}">
                <a16:creationId xmlns:a16="http://schemas.microsoft.com/office/drawing/2014/main" id="{9D7F81C3-05BB-B52A-1E42-41589BD6B5AB}"/>
              </a:ext>
            </a:extLst>
          </p:cNvPr>
          <p:cNvSpPr txBox="1"/>
          <p:nvPr/>
        </p:nvSpPr>
        <p:spPr>
          <a:xfrm>
            <a:off x="7591312" y="5824331"/>
            <a:ext cx="4411336" cy="769441"/>
          </a:xfrm>
          <a:prstGeom prst="rect">
            <a:avLst/>
          </a:prstGeom>
          <a:noFill/>
        </p:spPr>
        <p:txBody>
          <a:bodyPr wrap="none" rtlCol="0">
            <a:spAutoFit/>
          </a:bodyPr>
          <a:lstStyle/>
          <a:p>
            <a:r>
              <a:rPr lang="hu-HU" sz="4400" dirty="0">
                <a:highlight>
                  <a:srgbClr val="FF3F5A"/>
                </a:highlight>
              </a:rPr>
              <a:t>https://yanac.hu/</a:t>
            </a:r>
          </a:p>
        </p:txBody>
      </p:sp>
      <p:pic>
        <p:nvPicPr>
          <p:cNvPr id="2050" name="Picture 2" descr="Photo fire alphabet question mark isolated on black background.">
            <a:extLst>
              <a:ext uri="{FF2B5EF4-FFF2-40B4-BE49-F238E27FC236}">
                <a16:creationId xmlns:a16="http://schemas.microsoft.com/office/drawing/2014/main" id="{C6B5AC52-8001-CCE9-0965-CE61AD77C2D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0934" y="1880479"/>
            <a:ext cx="3570131" cy="35701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25480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306</TotalTime>
  <Words>1100</Words>
  <Application>Microsoft Office PowerPoint</Application>
  <PresentationFormat>Widescreen</PresentationFormat>
  <Paragraphs>193</Paragraphs>
  <Slides>13</Slides>
  <Notes>8</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inherit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Peter Biro</dc:creator>
  <cp:lastModifiedBy>Peter Biro</cp:lastModifiedBy>
  <cp:revision>36</cp:revision>
  <dcterms:created xsi:type="dcterms:W3CDTF">2024-04-29T16:11:51Z</dcterms:created>
  <dcterms:modified xsi:type="dcterms:W3CDTF">2026-04-17T21:05:59Z</dcterms:modified>
</cp:coreProperties>
</file>