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6"/>
  </p:notesMasterIdLst>
  <p:sldIdLst>
    <p:sldId id="256" r:id="rId2"/>
    <p:sldId id="257" r:id="rId3"/>
    <p:sldId id="264" r:id="rId4"/>
    <p:sldId id="265" r:id="rId5"/>
    <p:sldId id="266" r:id="rId6"/>
    <p:sldId id="267" r:id="rId7"/>
    <p:sldId id="268" r:id="rId8"/>
    <p:sldId id="273" r:id="rId9"/>
    <p:sldId id="274" r:id="rId10"/>
    <p:sldId id="275" r:id="rId11"/>
    <p:sldId id="271" r:id="rId12"/>
    <p:sldId id="269" r:id="rId13"/>
    <p:sldId id="272" r:id="rId14"/>
    <p:sldId id="270"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F5A"/>
    <a:srgbClr val="F78DA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8968" autoAdjust="0"/>
  </p:normalViewPr>
  <p:slideViewPr>
    <p:cSldViewPr snapToGrid="0" showGuides="1">
      <p:cViewPr varScale="1">
        <p:scale>
          <a:sx n="123" d="100"/>
          <a:sy n="123" d="100"/>
        </p:scale>
        <p:origin x="936"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b="0" i="0" u="none" strike="noStrike" kern="1200" baseline="0">
                <a:solidFill>
                  <a:schemeClr val="dk1">
                    <a:lumMod val="65000"/>
                    <a:lumOff val="35000"/>
                  </a:schemeClr>
                </a:solidFill>
                <a:effectLst/>
                <a:latin typeface="+mn-lt"/>
                <a:ea typeface="+mn-ea"/>
                <a:cs typeface="+mn-cs"/>
              </a:defRPr>
            </a:pPr>
            <a:r>
              <a:rPr lang="hu-HU"/>
              <a:t>Kulcsszavak</a:t>
            </a:r>
            <a:endParaRPr lang="en-GB"/>
          </a:p>
        </c:rich>
      </c:tx>
      <c:overlay val="0"/>
      <c:spPr>
        <a:noFill/>
        <a:ln>
          <a:noFill/>
        </a:ln>
        <a:effectLst/>
      </c:spPr>
      <c:txPr>
        <a:bodyPr rot="0" spcFirstLastPara="1" vertOverflow="ellipsis" vert="horz" wrap="square" anchor="ctr" anchorCtr="1"/>
        <a:lstStyle/>
        <a:p>
          <a:pPr>
            <a:defRPr b="0" i="0" u="none" strike="noStrike" kern="1200" baseline="0">
              <a:solidFill>
                <a:schemeClr val="dk1">
                  <a:lumMod val="65000"/>
                  <a:lumOff val="35000"/>
                </a:schemeClr>
              </a:solidFill>
              <a:effectLst/>
              <a:latin typeface="+mn-lt"/>
              <a:ea typeface="+mn-ea"/>
              <a:cs typeface="+mn-cs"/>
            </a:defRPr>
          </a:pPr>
          <a:endParaRPr lang="en-GB"/>
        </a:p>
      </c:txPr>
    </c:title>
    <c:autoTitleDeleted val="0"/>
    <c:plotArea>
      <c:layout>
        <c:manualLayout>
          <c:layoutTarget val="inner"/>
          <c:xMode val="edge"/>
          <c:yMode val="edge"/>
          <c:x val="6.282901461999113E-2"/>
          <c:y val="0.14242076262833331"/>
          <c:w val="0.91047228494450827"/>
          <c:h val="0.76880810448315351"/>
        </c:manualLayout>
      </c:layout>
      <c:barChart>
        <c:barDir val="col"/>
        <c:grouping val="clustered"/>
        <c:varyColors val="0"/>
        <c:ser>
          <c:idx val="0"/>
          <c:order val="0"/>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Sheet1!$A$1:$A$5</c:f>
              <c:strCache>
                <c:ptCount val="5"/>
                <c:pt idx="0">
                  <c:v>Oroszország</c:v>
                </c:pt>
                <c:pt idx="1">
                  <c:v>Kína</c:v>
                </c:pt>
                <c:pt idx="2">
                  <c:v>Ransomware</c:v>
                </c:pt>
                <c:pt idx="3">
                  <c:v>AI</c:v>
                </c:pt>
                <c:pt idx="4">
                  <c:v>USA</c:v>
                </c:pt>
              </c:strCache>
            </c:strRef>
          </c:cat>
          <c:val>
            <c:numRef>
              <c:f>Sheet1!$B$1:$B$5</c:f>
              <c:numCache>
                <c:formatCode>General</c:formatCode>
                <c:ptCount val="5"/>
                <c:pt idx="0">
                  <c:v>232</c:v>
                </c:pt>
                <c:pt idx="1">
                  <c:v>223</c:v>
                </c:pt>
                <c:pt idx="2">
                  <c:v>177</c:v>
                </c:pt>
                <c:pt idx="3">
                  <c:v>177</c:v>
                </c:pt>
                <c:pt idx="4">
                  <c:v>128</c:v>
                </c:pt>
              </c:numCache>
            </c:numRef>
          </c:val>
          <c:extLst>
            <c:ext xmlns:c16="http://schemas.microsoft.com/office/drawing/2014/chart" uri="{C3380CC4-5D6E-409C-BE32-E72D297353CC}">
              <c16:uniqueId val="{00000000-51BA-41DC-925D-19F9741450BB}"/>
            </c:ext>
          </c:extLst>
        </c:ser>
        <c:dLbls>
          <c:dLblPos val="inEnd"/>
          <c:showLegendKey val="0"/>
          <c:showVal val="1"/>
          <c:showCatName val="0"/>
          <c:showSerName val="0"/>
          <c:showPercent val="0"/>
          <c:showBubbleSize val="0"/>
        </c:dLbls>
        <c:gapWidth val="41"/>
        <c:axId val="909430479"/>
        <c:axId val="909441039"/>
      </c:barChart>
      <c:catAx>
        <c:axId val="909430479"/>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65000"/>
                    <a:lumOff val="35000"/>
                  </a:schemeClr>
                </a:solidFill>
                <a:effectLst/>
                <a:latin typeface="+mn-lt"/>
                <a:ea typeface="+mn-ea"/>
                <a:cs typeface="+mn-cs"/>
              </a:defRPr>
            </a:pPr>
            <a:endParaRPr lang="en-US"/>
          </a:p>
        </c:txPr>
        <c:crossAx val="909441039"/>
        <c:crosses val="autoZero"/>
        <c:auto val="1"/>
        <c:lblAlgn val="ctr"/>
        <c:lblOffset val="100"/>
        <c:noMultiLvlLbl val="0"/>
      </c:catAx>
      <c:valAx>
        <c:axId val="909441039"/>
        <c:scaling>
          <c:orientation val="minMax"/>
        </c:scaling>
        <c:delete val="1"/>
        <c:axPos val="l"/>
        <c:numFmt formatCode="General" sourceLinked="1"/>
        <c:majorTickMark val="none"/>
        <c:minorTickMark val="none"/>
        <c:tickLblPos val="nextTo"/>
        <c:crossAx val="9094304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b="0" i="0" u="none" strike="noStrike" kern="1200" baseline="0">
                <a:solidFill>
                  <a:schemeClr val="dk1">
                    <a:lumMod val="65000"/>
                    <a:lumOff val="35000"/>
                  </a:schemeClr>
                </a:solidFill>
                <a:effectLst/>
                <a:latin typeface="+mn-lt"/>
                <a:ea typeface="+mn-ea"/>
                <a:cs typeface="+mn-cs"/>
              </a:defRPr>
            </a:pPr>
            <a:r>
              <a:rPr lang="hu-HU"/>
              <a:t>APT Csoportok</a:t>
            </a:r>
            <a:endParaRPr lang="en-GB"/>
          </a:p>
        </c:rich>
      </c:tx>
      <c:overlay val="0"/>
      <c:spPr>
        <a:noFill/>
        <a:ln>
          <a:noFill/>
        </a:ln>
        <a:effectLst/>
      </c:spPr>
      <c:txPr>
        <a:bodyPr rot="0" spcFirstLastPara="1" vertOverflow="ellipsis" vert="horz" wrap="square" anchor="ctr" anchorCtr="1"/>
        <a:lstStyle/>
        <a:p>
          <a:pPr>
            <a:defRPr b="0" i="0" u="none" strike="noStrike" kern="1200" baseline="0">
              <a:solidFill>
                <a:schemeClr val="dk1">
                  <a:lumMod val="65000"/>
                  <a:lumOff val="35000"/>
                </a:schemeClr>
              </a:solidFill>
              <a:effectLst/>
              <a:latin typeface="+mn-lt"/>
              <a:ea typeface="+mn-ea"/>
              <a:cs typeface="+mn-cs"/>
            </a:defRPr>
          </a:pPr>
          <a:endParaRPr lang="en-GB"/>
        </a:p>
      </c:txPr>
    </c:title>
    <c:autoTitleDeleted val="0"/>
    <c:plotArea>
      <c:layout/>
      <c:barChart>
        <c:barDir val="col"/>
        <c:grouping val="clustered"/>
        <c:varyColors val="0"/>
        <c:ser>
          <c:idx val="0"/>
          <c:order val="0"/>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Sheet1!$A$38:$A$42</c:f>
              <c:strCache>
                <c:ptCount val="5"/>
                <c:pt idx="0">
                  <c:v>APT28</c:v>
                </c:pt>
                <c:pt idx="1">
                  <c:v>APT43</c:v>
                </c:pt>
                <c:pt idx="2">
                  <c:v>APT29</c:v>
                </c:pt>
                <c:pt idx="3">
                  <c:v>APT41</c:v>
                </c:pt>
                <c:pt idx="4">
                  <c:v>APT31</c:v>
                </c:pt>
              </c:strCache>
            </c:strRef>
          </c:cat>
          <c:val>
            <c:numRef>
              <c:f>Sheet1!$B$38:$B$42</c:f>
              <c:numCache>
                <c:formatCode>General</c:formatCode>
                <c:ptCount val="5"/>
                <c:pt idx="0">
                  <c:v>52</c:v>
                </c:pt>
                <c:pt idx="1">
                  <c:v>26</c:v>
                </c:pt>
                <c:pt idx="2">
                  <c:v>24</c:v>
                </c:pt>
                <c:pt idx="3">
                  <c:v>14</c:v>
                </c:pt>
                <c:pt idx="4">
                  <c:v>9</c:v>
                </c:pt>
              </c:numCache>
            </c:numRef>
          </c:val>
          <c:extLst>
            <c:ext xmlns:c16="http://schemas.microsoft.com/office/drawing/2014/chart" uri="{C3380CC4-5D6E-409C-BE32-E72D297353CC}">
              <c16:uniqueId val="{00000000-EC72-49A6-AFD1-E5493E9F143E}"/>
            </c:ext>
          </c:extLst>
        </c:ser>
        <c:dLbls>
          <c:dLblPos val="inEnd"/>
          <c:showLegendKey val="0"/>
          <c:showVal val="1"/>
          <c:showCatName val="0"/>
          <c:showSerName val="0"/>
          <c:showPercent val="0"/>
          <c:showBubbleSize val="0"/>
        </c:dLbls>
        <c:gapWidth val="41"/>
        <c:axId val="793182063"/>
        <c:axId val="793179663"/>
      </c:barChart>
      <c:catAx>
        <c:axId val="793182063"/>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65000"/>
                    <a:lumOff val="35000"/>
                  </a:schemeClr>
                </a:solidFill>
                <a:effectLst/>
                <a:latin typeface="+mn-lt"/>
                <a:ea typeface="+mn-ea"/>
                <a:cs typeface="+mn-cs"/>
              </a:defRPr>
            </a:pPr>
            <a:endParaRPr lang="en-US"/>
          </a:p>
        </c:txPr>
        <c:crossAx val="793179663"/>
        <c:crosses val="autoZero"/>
        <c:auto val="1"/>
        <c:lblAlgn val="ctr"/>
        <c:lblOffset val="100"/>
        <c:noMultiLvlLbl val="0"/>
      </c:catAx>
      <c:valAx>
        <c:axId val="793179663"/>
        <c:scaling>
          <c:orientation val="minMax"/>
        </c:scaling>
        <c:delete val="1"/>
        <c:axPos val="l"/>
        <c:numFmt formatCode="General" sourceLinked="1"/>
        <c:majorTickMark val="none"/>
        <c:minorTickMark val="none"/>
        <c:tickLblPos val="nextTo"/>
        <c:crossAx val="79318206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b="0" i="0" u="none" strike="noStrike" kern="1200" baseline="0">
                <a:solidFill>
                  <a:schemeClr val="dk1">
                    <a:lumMod val="65000"/>
                    <a:lumOff val="35000"/>
                  </a:schemeClr>
                </a:solidFill>
                <a:effectLst/>
                <a:latin typeface="+mn-lt"/>
                <a:ea typeface="+mn-ea"/>
                <a:cs typeface="+mn-cs"/>
              </a:defRPr>
            </a:pPr>
            <a:r>
              <a:rPr lang="hu-HU"/>
              <a:t>Legolvasottab cikkek</a:t>
            </a:r>
            <a:endParaRPr lang="en-GB"/>
          </a:p>
        </c:rich>
      </c:tx>
      <c:layout>
        <c:manualLayout>
          <c:xMode val="edge"/>
          <c:yMode val="edge"/>
          <c:x val="0"/>
          <c:y val="0"/>
        </c:manualLayout>
      </c:layout>
      <c:overlay val="0"/>
      <c:spPr>
        <a:noFill/>
        <a:ln>
          <a:noFill/>
        </a:ln>
        <a:effectLst/>
      </c:spPr>
      <c:txPr>
        <a:bodyPr rot="0" spcFirstLastPara="1" vertOverflow="ellipsis" vert="horz" wrap="square" anchor="ctr" anchorCtr="1"/>
        <a:lstStyle/>
        <a:p>
          <a:pPr>
            <a:defRPr b="0" i="0" u="none" strike="noStrike" kern="1200" baseline="0">
              <a:solidFill>
                <a:schemeClr val="dk1">
                  <a:lumMod val="65000"/>
                  <a:lumOff val="35000"/>
                </a:schemeClr>
              </a:solidFill>
              <a:effectLst/>
              <a:latin typeface="+mn-lt"/>
              <a:ea typeface="+mn-ea"/>
              <a:cs typeface="+mn-cs"/>
            </a:defRPr>
          </a:pPr>
          <a:endParaRPr lang="en-GB"/>
        </a:p>
      </c:txPr>
    </c:title>
    <c:autoTitleDeleted val="0"/>
    <c:plotArea>
      <c:layout/>
      <c:barChart>
        <c:barDir val="col"/>
        <c:grouping val="clustered"/>
        <c:varyColors val="0"/>
        <c:ser>
          <c:idx val="0"/>
          <c:order val="0"/>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Sheet1!$A$1:$A$5</c:f>
              <c:strCache>
                <c:ptCount val="5"/>
                <c:pt idx="0">
                  <c:v>Editors’ Pick</c:v>
                </c:pt>
                <c:pt idx="1">
                  <c:v>Kínai offenzív kiberképzésekkel kapcsolatos adatszivárgás</c:v>
                </c:pt>
                <c:pt idx="2">
                  <c:v>Orosz kémhálózat Argentínában</c:v>
                </c:pt>
                <c:pt idx="3">
                  <c:v>70 000 kormányzati ID kompromittálódott a Discord incidensben</c:v>
                </c:pt>
                <c:pt idx="4">
                  <c:v>Elindult az Európai Sérülékenységi Adatbázis (EUVD)</c:v>
                </c:pt>
              </c:strCache>
            </c:strRef>
          </c:cat>
          <c:val>
            <c:numRef>
              <c:f>Sheet1!$B$1:$B$5</c:f>
              <c:numCache>
                <c:formatCode>General</c:formatCode>
                <c:ptCount val="5"/>
                <c:pt idx="0">
                  <c:v>618</c:v>
                </c:pt>
                <c:pt idx="1">
                  <c:v>329</c:v>
                </c:pt>
                <c:pt idx="2">
                  <c:v>237</c:v>
                </c:pt>
                <c:pt idx="3">
                  <c:v>214</c:v>
                </c:pt>
                <c:pt idx="4">
                  <c:v>147</c:v>
                </c:pt>
              </c:numCache>
            </c:numRef>
          </c:val>
          <c:extLst>
            <c:ext xmlns:c16="http://schemas.microsoft.com/office/drawing/2014/chart" uri="{C3380CC4-5D6E-409C-BE32-E72D297353CC}">
              <c16:uniqueId val="{00000000-1757-4512-B002-1D4FCF1C5846}"/>
            </c:ext>
          </c:extLst>
        </c:ser>
        <c:dLbls>
          <c:dLblPos val="inEnd"/>
          <c:showLegendKey val="0"/>
          <c:showVal val="1"/>
          <c:showCatName val="0"/>
          <c:showSerName val="0"/>
          <c:showPercent val="0"/>
          <c:showBubbleSize val="0"/>
        </c:dLbls>
        <c:gapWidth val="41"/>
        <c:axId val="335860479"/>
        <c:axId val="335854719"/>
      </c:barChart>
      <c:catAx>
        <c:axId val="335860479"/>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65000"/>
                    <a:lumOff val="35000"/>
                  </a:schemeClr>
                </a:solidFill>
                <a:effectLst/>
                <a:latin typeface="+mn-lt"/>
                <a:ea typeface="+mn-ea"/>
                <a:cs typeface="+mn-cs"/>
              </a:defRPr>
            </a:pPr>
            <a:endParaRPr lang="en-US"/>
          </a:p>
        </c:txPr>
        <c:crossAx val="335854719"/>
        <c:crosses val="autoZero"/>
        <c:auto val="1"/>
        <c:lblAlgn val="ctr"/>
        <c:lblOffset val="100"/>
        <c:noMultiLvlLbl val="0"/>
      </c:catAx>
      <c:valAx>
        <c:axId val="335854719"/>
        <c:scaling>
          <c:orientation val="minMax"/>
        </c:scaling>
        <c:delete val="1"/>
        <c:axPos val="l"/>
        <c:numFmt formatCode="General" sourceLinked="1"/>
        <c:majorTickMark val="none"/>
        <c:minorTickMark val="none"/>
        <c:tickLblPos val="nextTo"/>
        <c:crossAx val="3358604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b="0" i="0" u="none" strike="noStrike" kern="1200" baseline="0">
                <a:solidFill>
                  <a:schemeClr val="dk1">
                    <a:lumMod val="65000"/>
                    <a:lumOff val="35000"/>
                  </a:schemeClr>
                </a:solidFill>
                <a:effectLst/>
                <a:latin typeface="+mn-lt"/>
                <a:ea typeface="+mn-ea"/>
                <a:cs typeface="+mn-cs"/>
              </a:defRPr>
            </a:pPr>
            <a:r>
              <a:rPr lang="hu-HU"/>
              <a:t>Aggregált tartalom</a:t>
            </a:r>
            <a:endParaRPr lang="en-GB"/>
          </a:p>
        </c:rich>
      </c:tx>
      <c:overlay val="0"/>
      <c:spPr>
        <a:noFill/>
        <a:ln>
          <a:noFill/>
        </a:ln>
        <a:effectLst/>
      </c:spPr>
      <c:txPr>
        <a:bodyPr rot="0" spcFirstLastPara="1" vertOverflow="ellipsis" vert="horz" wrap="square" anchor="ctr" anchorCtr="1"/>
        <a:lstStyle/>
        <a:p>
          <a:pPr>
            <a:defRPr b="0" i="0" u="none" strike="noStrike" kern="1200" baseline="0">
              <a:solidFill>
                <a:schemeClr val="dk1">
                  <a:lumMod val="65000"/>
                  <a:lumOff val="35000"/>
                </a:schemeClr>
              </a:solidFill>
              <a:effectLst/>
              <a:latin typeface="+mn-lt"/>
              <a:ea typeface="+mn-ea"/>
              <a:cs typeface="+mn-cs"/>
            </a:defRPr>
          </a:pPr>
          <a:endParaRPr lang="en-GB"/>
        </a:p>
      </c:txPr>
    </c:title>
    <c:autoTitleDeleted val="0"/>
    <c:plotArea>
      <c:layout/>
      <c:barChart>
        <c:barDir val="col"/>
        <c:grouping val="clustered"/>
        <c:varyColors val="0"/>
        <c:ser>
          <c:idx val="0"/>
          <c:order val="0"/>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Sheet1!$A$30:$A$32</c:f>
              <c:strCache>
                <c:ptCount val="3"/>
                <c:pt idx="0">
                  <c:v>Security</c:v>
                </c:pt>
                <c:pt idx="1">
                  <c:v>Vulns</c:v>
                </c:pt>
                <c:pt idx="2">
                  <c:v>News</c:v>
                </c:pt>
              </c:strCache>
            </c:strRef>
          </c:cat>
          <c:val>
            <c:numRef>
              <c:f>Sheet1!$B$30:$B$32</c:f>
              <c:numCache>
                <c:formatCode>General</c:formatCode>
                <c:ptCount val="3"/>
                <c:pt idx="0">
                  <c:v>8822</c:v>
                </c:pt>
                <c:pt idx="1">
                  <c:v>8675</c:v>
                </c:pt>
                <c:pt idx="2">
                  <c:v>6288</c:v>
                </c:pt>
              </c:numCache>
            </c:numRef>
          </c:val>
          <c:extLst>
            <c:ext xmlns:c16="http://schemas.microsoft.com/office/drawing/2014/chart" uri="{C3380CC4-5D6E-409C-BE32-E72D297353CC}">
              <c16:uniqueId val="{00000000-1B2A-40D4-8A48-D98228031ECB}"/>
            </c:ext>
          </c:extLst>
        </c:ser>
        <c:dLbls>
          <c:dLblPos val="inEnd"/>
          <c:showLegendKey val="0"/>
          <c:showVal val="1"/>
          <c:showCatName val="0"/>
          <c:showSerName val="0"/>
          <c:showPercent val="0"/>
          <c:showBubbleSize val="0"/>
        </c:dLbls>
        <c:gapWidth val="41"/>
        <c:axId val="519679343"/>
        <c:axId val="519682223"/>
      </c:barChart>
      <c:catAx>
        <c:axId val="519679343"/>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65000"/>
                    <a:lumOff val="35000"/>
                  </a:schemeClr>
                </a:solidFill>
                <a:effectLst/>
                <a:latin typeface="+mn-lt"/>
                <a:ea typeface="+mn-ea"/>
                <a:cs typeface="+mn-cs"/>
              </a:defRPr>
            </a:pPr>
            <a:endParaRPr lang="en-US"/>
          </a:p>
        </c:txPr>
        <c:crossAx val="519682223"/>
        <c:crosses val="autoZero"/>
        <c:auto val="1"/>
        <c:lblAlgn val="ctr"/>
        <c:lblOffset val="100"/>
        <c:noMultiLvlLbl val="0"/>
      </c:catAx>
      <c:valAx>
        <c:axId val="519682223"/>
        <c:scaling>
          <c:orientation val="minMax"/>
        </c:scaling>
        <c:delete val="1"/>
        <c:axPos val="l"/>
        <c:numFmt formatCode="General" sourceLinked="1"/>
        <c:majorTickMark val="none"/>
        <c:minorTickMark val="none"/>
        <c:tickLblPos val="nextTo"/>
        <c:crossAx val="51967934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defRPr sz="1197"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330" kern="1200"/>
  </cs:chartArea>
  <cs:dataLabel>
    <cs:lnRef idx="0"/>
    <cs:fillRef idx="0"/>
    <cs:effectRef idx="0"/>
    <cs:fontRef idx="minor">
      <a:schemeClr val="lt1"/>
    </cs:fontRef>
    <cs:spPr/>
    <cs:defRPr sz="133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33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1197"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defRPr sz="1197"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330" kern="1200"/>
  </cs:chartArea>
  <cs:dataLabel>
    <cs:lnRef idx="0"/>
    <cs:fillRef idx="0"/>
    <cs:effectRef idx="0"/>
    <cs:fontRef idx="minor">
      <a:schemeClr val="lt1"/>
    </cs:fontRef>
    <cs:spPr/>
    <cs:defRPr sz="133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33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1197"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defRPr sz="1197"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330" kern="1200"/>
  </cs:chartArea>
  <cs:dataLabel>
    <cs:lnRef idx="0"/>
    <cs:fillRef idx="0"/>
    <cs:effectRef idx="0"/>
    <cs:fontRef idx="minor">
      <a:schemeClr val="lt1"/>
    </cs:fontRef>
    <cs:spPr/>
    <cs:defRPr sz="133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33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1197"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defRPr sz="1197"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330" kern="1200"/>
  </cs:chartArea>
  <cs:dataLabel>
    <cs:lnRef idx="0"/>
    <cs:fillRef idx="0"/>
    <cs:effectRef idx="0"/>
    <cs:fontRef idx="minor">
      <a:schemeClr val="lt1"/>
    </cs:fontRef>
    <cs:spPr/>
    <cs:defRPr sz="133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33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1197"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hu-H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7AC11F-7089-49B3-92D4-B9D8BF3AAAA9}" type="datetimeFigureOut">
              <a:rPr lang="hu-HU" smtClean="0"/>
              <a:t>2026. 05. 13.</a:t>
            </a:fld>
            <a:endParaRPr lang="hu-H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u-H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hu-H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hu-H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4E179E-53CC-44C3-B266-BA8C753902EB}" type="slidenum">
              <a:rPr lang="hu-HU" smtClean="0"/>
              <a:t>‹#›</a:t>
            </a:fld>
            <a:endParaRPr lang="hu-HU"/>
          </a:p>
        </p:txBody>
      </p:sp>
    </p:spTree>
    <p:extLst>
      <p:ext uri="{BB962C8B-B14F-4D97-AF65-F5344CB8AC3E}">
        <p14:creationId xmlns:p14="http://schemas.microsoft.com/office/powerpoint/2010/main" val="39427414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u-HU" dirty="0"/>
              <a:t>Y: https://www.freepik.com/premium-photo/fire-alphabet-letter-y-isolated-black-background_23683441.htm</a:t>
            </a:r>
          </a:p>
          <a:p>
            <a:endParaRPr lang="hu-HU" dirty="0"/>
          </a:p>
        </p:txBody>
      </p:sp>
      <p:sp>
        <p:nvSpPr>
          <p:cNvPr id="4" name="Slide Number Placeholder 3"/>
          <p:cNvSpPr>
            <a:spLocks noGrp="1"/>
          </p:cNvSpPr>
          <p:nvPr>
            <p:ph type="sldNum" sz="quarter" idx="5"/>
          </p:nvPr>
        </p:nvSpPr>
        <p:spPr/>
        <p:txBody>
          <a:bodyPr/>
          <a:lstStyle/>
          <a:p>
            <a:fld id="{F74E179E-53CC-44C3-B266-BA8C753902EB}" type="slidenum">
              <a:rPr lang="hu-HU" smtClean="0"/>
              <a:t>1</a:t>
            </a:fld>
            <a:endParaRPr lang="hu-HU"/>
          </a:p>
        </p:txBody>
      </p:sp>
    </p:spTree>
    <p:extLst>
      <p:ext uri="{BB962C8B-B14F-4D97-AF65-F5344CB8AC3E}">
        <p14:creationId xmlns:p14="http://schemas.microsoft.com/office/powerpoint/2010/main" val="2963355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u-HU" b="1" dirty="0"/>
          </a:p>
          <a:p>
            <a:r>
              <a:rPr lang="hu-HU" b="1" dirty="0"/>
              <a:t>https://hackeslangos.show/</a:t>
            </a:r>
          </a:p>
          <a:p>
            <a:r>
              <a:rPr lang="hu-HU" b="1" dirty="0"/>
              <a:t>HnL321 - Kiégés - Beszélgetés </a:t>
            </a:r>
            <a:r>
              <a:rPr lang="hu-HU" b="1" dirty="0" err="1"/>
              <a:t>Krasznay</a:t>
            </a:r>
            <a:r>
              <a:rPr lang="hu-HU" b="1" dirty="0"/>
              <a:t> Csabával</a:t>
            </a:r>
          </a:p>
          <a:p>
            <a:r>
              <a:rPr lang="hu-HU" b="1" dirty="0"/>
              <a:t>2024-03-15</a:t>
            </a:r>
          </a:p>
          <a:p>
            <a:endParaRPr lang="hu-HU" b="1" dirty="0"/>
          </a:p>
          <a:p>
            <a:r>
              <a:rPr lang="hu-HU" b="1" dirty="0"/>
              <a:t>"Egy </a:t>
            </a:r>
            <a:r>
              <a:rPr lang="hu-HU" b="1" dirty="0" err="1"/>
              <a:t>securityban</a:t>
            </a:r>
            <a:r>
              <a:rPr lang="hu-HU" b="1" dirty="0"/>
              <a:t> nagyon, nagyon, nagyon fontos, hogy ami ma történt [...] arról beszéljünk. Mert az a legértékesebb szerintem."</a:t>
            </a:r>
          </a:p>
          <a:p>
            <a:r>
              <a:rPr lang="hu-HU" b="1" dirty="0"/>
              <a:t>30:57</a:t>
            </a:r>
          </a:p>
          <a:p>
            <a:r>
              <a:rPr lang="hu-HU" b="1" dirty="0"/>
              <a:t>"Például ez is hiányzik a magyar hírmédiából. [...] a </a:t>
            </a:r>
            <a:r>
              <a:rPr lang="hu-HU" b="1" dirty="0" err="1"/>
              <a:t>cybersecurity</a:t>
            </a:r>
            <a:r>
              <a:rPr lang="hu-HU" b="1" dirty="0"/>
              <a:t>-s hírek, amik megjelennek, azok vagy nagyon le vannak maradva, vagy nagyon magas szintűek, vagy egyszerűen nem azt válogatják ki, ami szerintem igazából érdekes. [...] nincs egy normális IT-</a:t>
            </a:r>
            <a:r>
              <a:rPr lang="hu-HU" b="1" dirty="0" err="1"/>
              <a:t>val</a:t>
            </a:r>
            <a:r>
              <a:rPr lang="hu-HU" b="1" dirty="0"/>
              <a:t> foglalkozó magyar nyelvű portál"</a:t>
            </a:r>
          </a:p>
          <a:p>
            <a:r>
              <a:rPr lang="hu-HU" b="1" dirty="0"/>
              <a:t>32:02</a:t>
            </a:r>
          </a:p>
          <a:p>
            <a:endParaRPr lang="hu-HU" b="1" dirty="0"/>
          </a:p>
          <a:p>
            <a:r>
              <a:rPr lang="hu-HU" b="1" dirty="0"/>
              <a:t>------------------</a:t>
            </a:r>
          </a:p>
          <a:p>
            <a:r>
              <a:rPr lang="hu-HU" b="1" dirty="0"/>
              <a:t>Kémkedett a Facebook a Snapchat felhasználói után</a:t>
            </a:r>
          </a:p>
          <a:p>
            <a:r>
              <a:rPr lang="hu-HU" b="1" dirty="0"/>
              <a:t>HWSW: 2024. MÁRCIUS 27. 11:40</a:t>
            </a:r>
          </a:p>
          <a:p>
            <a:r>
              <a:rPr lang="hu-HU" b="1" dirty="0"/>
              <a:t>https://www.hwsw.hu/hirek/67456/meta-facebook-snapchat-forgalom-halozat-titkositas-adatgyujtes-ghostbusters.html</a:t>
            </a:r>
          </a:p>
          <a:p>
            <a:r>
              <a:rPr lang="hu-HU" b="1" dirty="0"/>
              <a:t>A Facebook más alkalmazások forgalma után is kémkedik</a:t>
            </a:r>
          </a:p>
          <a:p>
            <a:r>
              <a:rPr lang="hu-HU" b="1" dirty="0" err="1"/>
              <a:t>Yanac</a:t>
            </a:r>
            <a:r>
              <a:rPr lang="hu-HU" b="1" dirty="0"/>
              <a:t>: 2024/03/27 </a:t>
            </a:r>
            <a:r>
              <a:rPr lang="hu-HU" b="1" dirty="0" err="1"/>
              <a:t>at</a:t>
            </a:r>
            <a:r>
              <a:rPr lang="hu-HU" b="1" dirty="0"/>
              <a:t> 8:00 </a:t>
            </a:r>
            <a:r>
              <a:rPr lang="hu-HU" b="1" dirty="0" err="1"/>
              <a:t>pm</a:t>
            </a:r>
            <a:endParaRPr lang="hu-HU" b="1" dirty="0"/>
          </a:p>
          <a:p>
            <a:r>
              <a:rPr lang="hu-HU" b="1" dirty="0"/>
              <a:t>https://yanac.hu/2024/03/27/a-facebook-mas-alkalmazasok-forgalma-utan-is-kemkedik/</a:t>
            </a:r>
          </a:p>
          <a:p>
            <a:r>
              <a:rPr lang="hu-HU" b="1" dirty="0"/>
              <a:t>------------------</a:t>
            </a:r>
          </a:p>
          <a:p>
            <a:r>
              <a:rPr lang="hu-HU" b="1" dirty="0"/>
              <a:t>Csalóoldalakat terjeszt a Google MI-vel támogatott keresője</a:t>
            </a:r>
          </a:p>
          <a:p>
            <a:r>
              <a:rPr lang="hu-HU" b="1" dirty="0"/>
              <a:t>HWSW: 2024. MÁRCIUS 26. 14:22</a:t>
            </a:r>
          </a:p>
          <a:p>
            <a:r>
              <a:rPr lang="hu-HU" b="1" dirty="0"/>
              <a:t>https://www.hwsw.hu/hirek/67452/google-searchgenerativeexperience-sge-scam-csalas.html</a:t>
            </a:r>
          </a:p>
          <a:p>
            <a:r>
              <a:rPr lang="hu-HU" b="1" dirty="0"/>
              <a:t>A Google új, MI támogatott keresője káros oldalakat reklámoz</a:t>
            </a:r>
          </a:p>
          <a:p>
            <a:r>
              <a:rPr lang="hu-HU" b="1" dirty="0" err="1"/>
              <a:t>Yanac</a:t>
            </a:r>
            <a:r>
              <a:rPr lang="hu-HU" b="1" dirty="0"/>
              <a:t>: 2024/03/25 </a:t>
            </a:r>
            <a:r>
              <a:rPr lang="hu-HU" b="1" dirty="0" err="1"/>
              <a:t>at</a:t>
            </a:r>
            <a:r>
              <a:rPr lang="hu-HU" b="1" dirty="0"/>
              <a:t> 4:57 </a:t>
            </a:r>
            <a:r>
              <a:rPr lang="hu-HU" b="1" dirty="0" err="1"/>
              <a:t>pm</a:t>
            </a:r>
            <a:endParaRPr lang="hu-HU" b="1" dirty="0"/>
          </a:p>
          <a:p>
            <a:r>
              <a:rPr lang="hu-HU" b="1" dirty="0"/>
              <a:t>------------------</a:t>
            </a:r>
          </a:p>
          <a:p>
            <a:r>
              <a:rPr lang="hu-HU" b="1" dirty="0"/>
              <a:t>Facebookon taroltak a </a:t>
            </a:r>
            <a:r>
              <a:rPr lang="hu-HU" b="1" dirty="0" err="1"/>
              <a:t>Midjourney</a:t>
            </a:r>
            <a:r>
              <a:rPr lang="hu-HU" b="1" dirty="0"/>
              <a:t> nevével visszaélő csalók</a:t>
            </a:r>
          </a:p>
          <a:p>
            <a:r>
              <a:rPr lang="hu-HU" b="1" dirty="0"/>
              <a:t>HWSW: 2024. ÁPRILIS 9. 13:00</a:t>
            </a:r>
          </a:p>
          <a:p>
            <a:r>
              <a:rPr lang="hu-HU" b="1" dirty="0"/>
              <a:t>https://www.hwsw.hu/hirek/67496/midjourney-facebook-kamu-hirdetesek-atveres.html</a:t>
            </a:r>
          </a:p>
          <a:p>
            <a:r>
              <a:rPr lang="hu-HU" b="1" dirty="0"/>
              <a:t>Több hamis </a:t>
            </a:r>
            <a:r>
              <a:rPr lang="hu-HU" b="1" dirty="0" err="1"/>
              <a:t>MidJourney</a:t>
            </a:r>
            <a:r>
              <a:rPr lang="hu-HU" b="1" dirty="0"/>
              <a:t> MI oldal a Facebookon 1,2 millió embernek hirdetett </a:t>
            </a:r>
            <a:r>
              <a:rPr lang="hu-HU" b="1" dirty="0" err="1"/>
              <a:t>malware</a:t>
            </a:r>
            <a:r>
              <a:rPr lang="hu-HU" b="1" dirty="0"/>
              <a:t>-t</a:t>
            </a:r>
          </a:p>
          <a:p>
            <a:r>
              <a:rPr lang="hu-HU" b="1" dirty="0" err="1"/>
              <a:t>Yanac</a:t>
            </a:r>
            <a:r>
              <a:rPr lang="hu-HU" b="1" dirty="0"/>
              <a:t>: 2024/04/08 </a:t>
            </a:r>
            <a:r>
              <a:rPr lang="hu-HU" b="1" dirty="0" err="1"/>
              <a:t>at</a:t>
            </a:r>
            <a:r>
              <a:rPr lang="hu-HU" b="1" dirty="0"/>
              <a:t> 18:56</a:t>
            </a:r>
          </a:p>
          <a:p>
            <a:r>
              <a:rPr lang="hu-HU" b="1" dirty="0"/>
              <a:t>------------------</a:t>
            </a:r>
          </a:p>
          <a:p>
            <a:r>
              <a:rPr lang="hu-HU" b="1" dirty="0"/>
              <a:t>Feltörték a webes biztonságot oktató OWASP szerverét</a:t>
            </a:r>
          </a:p>
          <a:p>
            <a:r>
              <a:rPr lang="hu-HU" b="1" dirty="0"/>
              <a:t>prog.hu 2024.04.04.</a:t>
            </a:r>
          </a:p>
          <a:p>
            <a:r>
              <a:rPr lang="hu-HU" b="1" dirty="0"/>
              <a:t>https://prog.hu/hirek/6658/owasp-hack-oneletrajz-lopas-adatszivargas-web-biztonsag</a:t>
            </a:r>
          </a:p>
          <a:p>
            <a:r>
              <a:rPr lang="hu-HU" b="1" dirty="0"/>
              <a:t>OWASP adatszivárgás (2006 – 2014)</a:t>
            </a:r>
          </a:p>
          <a:p>
            <a:r>
              <a:rPr lang="hu-HU" b="1" dirty="0" err="1"/>
              <a:t>Yanac</a:t>
            </a:r>
            <a:r>
              <a:rPr lang="hu-HU" b="1" dirty="0"/>
              <a:t>: 2024/04/04 </a:t>
            </a:r>
            <a:r>
              <a:rPr lang="hu-HU" b="1" dirty="0" err="1"/>
              <a:t>at</a:t>
            </a:r>
            <a:r>
              <a:rPr lang="hu-HU" b="1" dirty="0"/>
              <a:t> 19:13</a:t>
            </a:r>
          </a:p>
          <a:p>
            <a:r>
              <a:rPr lang="hu-HU" b="1" dirty="0"/>
              <a:t>------------------</a:t>
            </a:r>
          </a:p>
        </p:txBody>
      </p:sp>
      <p:sp>
        <p:nvSpPr>
          <p:cNvPr id="4" name="Slide Number Placeholder 3"/>
          <p:cNvSpPr>
            <a:spLocks noGrp="1"/>
          </p:cNvSpPr>
          <p:nvPr>
            <p:ph type="sldNum" sz="quarter" idx="5"/>
          </p:nvPr>
        </p:nvSpPr>
        <p:spPr/>
        <p:txBody>
          <a:bodyPr/>
          <a:lstStyle/>
          <a:p>
            <a:fld id="{F74E179E-53CC-44C3-B266-BA8C753902EB}" type="slidenum">
              <a:rPr lang="hu-HU" smtClean="0"/>
              <a:t>4</a:t>
            </a:fld>
            <a:endParaRPr lang="hu-HU"/>
          </a:p>
        </p:txBody>
      </p:sp>
    </p:spTree>
    <p:extLst>
      <p:ext uri="{BB962C8B-B14F-4D97-AF65-F5344CB8AC3E}">
        <p14:creationId xmlns:p14="http://schemas.microsoft.com/office/powerpoint/2010/main" val="14615624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u-HU" dirty="0"/>
          </a:p>
        </p:txBody>
      </p:sp>
      <p:sp>
        <p:nvSpPr>
          <p:cNvPr id="4" name="Slide Number Placeholder 3"/>
          <p:cNvSpPr>
            <a:spLocks noGrp="1"/>
          </p:cNvSpPr>
          <p:nvPr>
            <p:ph type="sldNum" sz="quarter" idx="5"/>
          </p:nvPr>
        </p:nvSpPr>
        <p:spPr/>
        <p:txBody>
          <a:bodyPr/>
          <a:lstStyle/>
          <a:p>
            <a:fld id="{F74E179E-53CC-44C3-B266-BA8C753902EB}" type="slidenum">
              <a:rPr lang="hu-HU" smtClean="0"/>
              <a:t>5</a:t>
            </a:fld>
            <a:endParaRPr lang="hu-HU"/>
          </a:p>
        </p:txBody>
      </p:sp>
    </p:spTree>
    <p:extLst>
      <p:ext uri="{BB962C8B-B14F-4D97-AF65-F5344CB8AC3E}">
        <p14:creationId xmlns:p14="http://schemas.microsoft.com/office/powerpoint/2010/main" val="25430834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u-HU" dirty="0"/>
          </a:p>
        </p:txBody>
      </p:sp>
      <p:sp>
        <p:nvSpPr>
          <p:cNvPr id="4" name="Slide Number Placeholder 3"/>
          <p:cNvSpPr>
            <a:spLocks noGrp="1"/>
          </p:cNvSpPr>
          <p:nvPr>
            <p:ph type="sldNum" sz="quarter" idx="5"/>
          </p:nvPr>
        </p:nvSpPr>
        <p:spPr/>
        <p:txBody>
          <a:bodyPr/>
          <a:lstStyle/>
          <a:p>
            <a:fld id="{F74E179E-53CC-44C3-B266-BA8C753902EB}" type="slidenum">
              <a:rPr lang="hu-HU" smtClean="0"/>
              <a:t>6</a:t>
            </a:fld>
            <a:endParaRPr lang="hu-HU"/>
          </a:p>
        </p:txBody>
      </p:sp>
    </p:spTree>
    <p:extLst>
      <p:ext uri="{BB962C8B-B14F-4D97-AF65-F5344CB8AC3E}">
        <p14:creationId xmlns:p14="http://schemas.microsoft.com/office/powerpoint/2010/main" val="4189755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74E179E-53CC-44C3-B266-BA8C753902EB}" type="slidenum">
              <a:rPr lang="hu-HU" smtClean="0"/>
              <a:t>7</a:t>
            </a:fld>
            <a:endParaRPr lang="hu-HU"/>
          </a:p>
        </p:txBody>
      </p:sp>
    </p:spTree>
    <p:extLst>
      <p:ext uri="{BB962C8B-B14F-4D97-AF65-F5344CB8AC3E}">
        <p14:creationId xmlns:p14="http://schemas.microsoft.com/office/powerpoint/2010/main" val="14206227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74E179E-53CC-44C3-B266-BA8C753902EB}" type="slidenum">
              <a:rPr lang="hu-HU" smtClean="0"/>
              <a:t>8</a:t>
            </a:fld>
            <a:endParaRPr lang="hu-HU"/>
          </a:p>
        </p:txBody>
      </p:sp>
    </p:spTree>
    <p:extLst>
      <p:ext uri="{BB962C8B-B14F-4D97-AF65-F5344CB8AC3E}">
        <p14:creationId xmlns:p14="http://schemas.microsoft.com/office/powerpoint/2010/main" val="1689195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B66F3-25CA-B7C0-E6C1-153ADEF829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13E19D-FCEF-8734-E869-C1903E0C53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D8E9D8-F917-FB6C-90F1-E294934CF0A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4A4C3BB-92E5-C70D-7993-FD9F0C41BE0F}"/>
              </a:ext>
            </a:extLst>
          </p:cNvPr>
          <p:cNvSpPr>
            <a:spLocks noGrp="1"/>
          </p:cNvSpPr>
          <p:nvPr>
            <p:ph type="sldNum" sz="quarter" idx="5"/>
          </p:nvPr>
        </p:nvSpPr>
        <p:spPr/>
        <p:txBody>
          <a:bodyPr/>
          <a:lstStyle/>
          <a:p>
            <a:fld id="{F74E179E-53CC-44C3-B266-BA8C753902EB}" type="slidenum">
              <a:rPr lang="hu-HU" smtClean="0"/>
              <a:t>9</a:t>
            </a:fld>
            <a:endParaRPr lang="hu-HU"/>
          </a:p>
        </p:txBody>
      </p:sp>
    </p:spTree>
    <p:extLst>
      <p:ext uri="{BB962C8B-B14F-4D97-AF65-F5344CB8AC3E}">
        <p14:creationId xmlns:p14="http://schemas.microsoft.com/office/powerpoint/2010/main" val="10451120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D7B37-7E66-59CC-3EBF-2DD66A76DA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AD53A7-C558-3FBB-72C8-C8A174BA7B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3DB6A2-71CB-5A04-A827-EE2367FFCDD1}"/>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B63FA32D-9A7A-AE35-3ADC-0193EEB45849}"/>
              </a:ext>
            </a:extLst>
          </p:cNvPr>
          <p:cNvSpPr>
            <a:spLocks noGrp="1"/>
          </p:cNvSpPr>
          <p:nvPr>
            <p:ph type="sldNum" sz="quarter" idx="5"/>
          </p:nvPr>
        </p:nvSpPr>
        <p:spPr/>
        <p:txBody>
          <a:bodyPr/>
          <a:lstStyle/>
          <a:p>
            <a:fld id="{F74E179E-53CC-44C3-B266-BA8C753902EB}" type="slidenum">
              <a:rPr lang="hu-HU" smtClean="0"/>
              <a:t>10</a:t>
            </a:fld>
            <a:endParaRPr lang="hu-HU"/>
          </a:p>
        </p:txBody>
      </p:sp>
    </p:spTree>
    <p:extLst>
      <p:ext uri="{BB962C8B-B14F-4D97-AF65-F5344CB8AC3E}">
        <p14:creationId xmlns:p14="http://schemas.microsoft.com/office/powerpoint/2010/main" val="24879014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u-HU" dirty="0"/>
              <a:t>? - https://www.freepik.com/premium-photo/fire-alphabet-question-mark-isolated-black-background_23682027.htm#page=2&amp;query=FIRE&amp;position=32&amp;from_view=author&amp;uuid=a48ed73a-a3ec-4063-ab27-5a739e530915</a:t>
            </a:r>
          </a:p>
        </p:txBody>
      </p:sp>
      <p:sp>
        <p:nvSpPr>
          <p:cNvPr id="4" name="Slide Number Placeholder 3"/>
          <p:cNvSpPr>
            <a:spLocks noGrp="1"/>
          </p:cNvSpPr>
          <p:nvPr>
            <p:ph type="sldNum" sz="quarter" idx="5"/>
          </p:nvPr>
        </p:nvSpPr>
        <p:spPr/>
        <p:txBody>
          <a:bodyPr/>
          <a:lstStyle/>
          <a:p>
            <a:fld id="{F74E179E-53CC-44C3-B266-BA8C753902EB}" type="slidenum">
              <a:rPr lang="hu-HU" smtClean="0"/>
              <a:t>14</a:t>
            </a:fld>
            <a:endParaRPr lang="hu-HU"/>
          </a:p>
        </p:txBody>
      </p:sp>
    </p:spTree>
    <p:extLst>
      <p:ext uri="{BB962C8B-B14F-4D97-AF65-F5344CB8AC3E}">
        <p14:creationId xmlns:p14="http://schemas.microsoft.com/office/powerpoint/2010/main" val="36732114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996333FD-3F07-4EEA-99DD-37AEE0CFF0CB}" type="datetimeFigureOut">
              <a:rPr lang="hu-HU" smtClean="0"/>
              <a:t>2026. 05. 13.</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FC57AC21-DDF3-4BEC-8A6A-627E9CFD85BE}" type="slidenum">
              <a:rPr lang="hu-HU" smtClean="0"/>
              <a:t>‹#›</a:t>
            </a:fld>
            <a:endParaRPr lang="hu-HU"/>
          </a:p>
        </p:txBody>
      </p:sp>
    </p:spTree>
    <p:extLst>
      <p:ext uri="{BB962C8B-B14F-4D97-AF65-F5344CB8AC3E}">
        <p14:creationId xmlns:p14="http://schemas.microsoft.com/office/powerpoint/2010/main" val="1939148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96333FD-3F07-4EEA-99DD-37AEE0CFF0CB}" type="datetimeFigureOut">
              <a:rPr lang="hu-HU" smtClean="0"/>
              <a:t>2026. 05. 13.</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FC57AC21-DDF3-4BEC-8A6A-627E9CFD85BE}" type="slidenum">
              <a:rPr lang="hu-HU" smtClean="0"/>
              <a:t>‹#›</a:t>
            </a:fld>
            <a:endParaRPr lang="hu-HU"/>
          </a:p>
        </p:txBody>
      </p:sp>
    </p:spTree>
    <p:extLst>
      <p:ext uri="{BB962C8B-B14F-4D97-AF65-F5344CB8AC3E}">
        <p14:creationId xmlns:p14="http://schemas.microsoft.com/office/powerpoint/2010/main" val="10610546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996333FD-3F07-4EEA-99DD-37AEE0CFF0CB}" type="datetimeFigureOut">
              <a:rPr lang="hu-HU" smtClean="0"/>
              <a:t>2026. 05. 13.</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FC57AC21-DDF3-4BEC-8A6A-627E9CFD85BE}" type="slidenum">
              <a:rPr lang="hu-HU" smtClean="0"/>
              <a:t>‹#›</a:t>
            </a:fld>
            <a:endParaRPr lang="hu-HU"/>
          </a:p>
        </p:txBody>
      </p:sp>
    </p:spTree>
    <p:extLst>
      <p:ext uri="{BB962C8B-B14F-4D97-AF65-F5344CB8AC3E}">
        <p14:creationId xmlns:p14="http://schemas.microsoft.com/office/powerpoint/2010/main" val="6531558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996333FD-3F07-4EEA-99DD-37AEE0CFF0CB}" type="datetimeFigureOut">
              <a:rPr lang="hu-HU" smtClean="0"/>
              <a:t>2026. 05. 13.</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FC57AC21-DDF3-4BEC-8A6A-627E9CFD85BE}" type="slidenum">
              <a:rPr lang="hu-HU" smtClean="0"/>
              <a:t>‹#›</a:t>
            </a:fld>
            <a:endParaRPr lang="hu-HU"/>
          </a:p>
        </p:txBody>
      </p:sp>
    </p:spTree>
    <p:extLst>
      <p:ext uri="{BB962C8B-B14F-4D97-AF65-F5344CB8AC3E}">
        <p14:creationId xmlns:p14="http://schemas.microsoft.com/office/powerpoint/2010/main" val="11356874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996333FD-3F07-4EEA-99DD-37AEE0CFF0CB}" type="datetimeFigureOut">
              <a:rPr lang="hu-HU" smtClean="0"/>
              <a:t>2026. 05. 13.</a:t>
            </a:fld>
            <a:endParaRPr lang="hu-HU"/>
          </a:p>
        </p:txBody>
      </p:sp>
      <p:sp>
        <p:nvSpPr>
          <p:cNvPr id="8" name="Footer Placeholder 7"/>
          <p:cNvSpPr>
            <a:spLocks noGrp="1"/>
          </p:cNvSpPr>
          <p:nvPr>
            <p:ph type="ftr" sz="quarter" idx="11"/>
          </p:nvPr>
        </p:nvSpPr>
        <p:spPr/>
        <p:txBody>
          <a:bodyPr/>
          <a:lstStyle/>
          <a:p>
            <a:endParaRPr lang="hu-HU"/>
          </a:p>
        </p:txBody>
      </p:sp>
      <p:sp>
        <p:nvSpPr>
          <p:cNvPr id="9" name="Slide Number Placeholder 8"/>
          <p:cNvSpPr>
            <a:spLocks noGrp="1"/>
          </p:cNvSpPr>
          <p:nvPr>
            <p:ph type="sldNum" sz="quarter" idx="12"/>
          </p:nvPr>
        </p:nvSpPr>
        <p:spPr/>
        <p:txBody>
          <a:bodyPr/>
          <a:lstStyle/>
          <a:p>
            <a:fld id="{FC57AC21-DDF3-4BEC-8A6A-627E9CFD85BE}" type="slidenum">
              <a:rPr lang="hu-HU" smtClean="0"/>
              <a:t>‹#›</a:t>
            </a:fld>
            <a:endParaRPr lang="hu-HU"/>
          </a:p>
        </p:txBody>
      </p:sp>
    </p:spTree>
    <p:extLst>
      <p:ext uri="{BB962C8B-B14F-4D97-AF65-F5344CB8AC3E}">
        <p14:creationId xmlns:p14="http://schemas.microsoft.com/office/powerpoint/2010/main" val="2253964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996333FD-3F07-4EEA-99DD-37AEE0CFF0CB}" type="datetimeFigureOut">
              <a:rPr lang="hu-HU" smtClean="0"/>
              <a:t>2026. 05. 13.</a:t>
            </a:fld>
            <a:endParaRPr lang="hu-HU"/>
          </a:p>
        </p:txBody>
      </p:sp>
      <p:sp>
        <p:nvSpPr>
          <p:cNvPr id="4" name="Footer Placeholder 3"/>
          <p:cNvSpPr>
            <a:spLocks noGrp="1"/>
          </p:cNvSpPr>
          <p:nvPr>
            <p:ph type="ftr" sz="quarter" idx="11"/>
          </p:nvPr>
        </p:nvSpPr>
        <p:spPr/>
        <p:txBody>
          <a:bodyPr/>
          <a:lstStyle/>
          <a:p>
            <a:endParaRPr lang="hu-HU"/>
          </a:p>
        </p:txBody>
      </p:sp>
      <p:sp>
        <p:nvSpPr>
          <p:cNvPr id="5" name="Slide Number Placeholder 4"/>
          <p:cNvSpPr>
            <a:spLocks noGrp="1"/>
          </p:cNvSpPr>
          <p:nvPr>
            <p:ph type="sldNum" sz="quarter" idx="12"/>
          </p:nvPr>
        </p:nvSpPr>
        <p:spPr/>
        <p:txBody>
          <a:bodyPr/>
          <a:lstStyle/>
          <a:p>
            <a:fld id="{FC57AC21-DDF3-4BEC-8A6A-627E9CFD85BE}" type="slidenum">
              <a:rPr lang="hu-HU" smtClean="0"/>
              <a:t>‹#›</a:t>
            </a:fld>
            <a:endParaRPr lang="hu-HU"/>
          </a:p>
        </p:txBody>
      </p:sp>
    </p:spTree>
    <p:extLst>
      <p:ext uri="{BB962C8B-B14F-4D97-AF65-F5344CB8AC3E}">
        <p14:creationId xmlns:p14="http://schemas.microsoft.com/office/powerpoint/2010/main" val="9071034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6333FD-3F07-4EEA-99DD-37AEE0CFF0CB}" type="datetimeFigureOut">
              <a:rPr lang="hu-HU" smtClean="0"/>
              <a:t>2026. 05. 13.</a:t>
            </a:fld>
            <a:endParaRPr lang="hu-HU"/>
          </a:p>
        </p:txBody>
      </p:sp>
      <p:sp>
        <p:nvSpPr>
          <p:cNvPr id="3" name="Footer Placeholder 2"/>
          <p:cNvSpPr>
            <a:spLocks noGrp="1"/>
          </p:cNvSpPr>
          <p:nvPr>
            <p:ph type="ftr" sz="quarter" idx="11"/>
          </p:nvPr>
        </p:nvSpPr>
        <p:spPr/>
        <p:txBody>
          <a:bodyPr/>
          <a:lstStyle/>
          <a:p>
            <a:endParaRPr lang="hu-HU"/>
          </a:p>
        </p:txBody>
      </p:sp>
      <p:sp>
        <p:nvSpPr>
          <p:cNvPr id="4" name="Slide Number Placeholder 3"/>
          <p:cNvSpPr>
            <a:spLocks noGrp="1"/>
          </p:cNvSpPr>
          <p:nvPr>
            <p:ph type="sldNum" sz="quarter" idx="12"/>
          </p:nvPr>
        </p:nvSpPr>
        <p:spPr/>
        <p:txBody>
          <a:bodyPr/>
          <a:lstStyle/>
          <a:p>
            <a:fld id="{FC57AC21-DDF3-4BEC-8A6A-627E9CFD85BE}" type="slidenum">
              <a:rPr lang="hu-HU" smtClean="0"/>
              <a:t>‹#›</a:t>
            </a:fld>
            <a:endParaRPr lang="hu-HU"/>
          </a:p>
        </p:txBody>
      </p:sp>
    </p:spTree>
    <p:extLst>
      <p:ext uri="{BB962C8B-B14F-4D97-AF65-F5344CB8AC3E}">
        <p14:creationId xmlns:p14="http://schemas.microsoft.com/office/powerpoint/2010/main" val="1047808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996333FD-3F07-4EEA-99DD-37AEE0CFF0CB}" type="datetimeFigureOut">
              <a:rPr lang="hu-HU" smtClean="0"/>
              <a:t>2026. 05. 13.</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FC57AC21-DDF3-4BEC-8A6A-627E9CFD85BE}" type="slidenum">
              <a:rPr lang="hu-HU" smtClean="0"/>
              <a:t>‹#›</a:t>
            </a:fld>
            <a:endParaRPr lang="hu-HU"/>
          </a:p>
        </p:txBody>
      </p:sp>
    </p:spTree>
    <p:extLst>
      <p:ext uri="{BB962C8B-B14F-4D97-AF65-F5344CB8AC3E}">
        <p14:creationId xmlns:p14="http://schemas.microsoft.com/office/powerpoint/2010/main" val="2557464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996333FD-3F07-4EEA-99DD-37AEE0CFF0CB}" type="datetimeFigureOut">
              <a:rPr lang="hu-HU" smtClean="0"/>
              <a:t>2026. 05. 13.</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FC57AC21-DDF3-4BEC-8A6A-627E9CFD85BE}" type="slidenum">
              <a:rPr lang="hu-HU" smtClean="0"/>
              <a:t>‹#›</a:t>
            </a:fld>
            <a:endParaRPr lang="hu-HU"/>
          </a:p>
        </p:txBody>
      </p:sp>
    </p:spTree>
    <p:extLst>
      <p:ext uri="{BB962C8B-B14F-4D97-AF65-F5344CB8AC3E}">
        <p14:creationId xmlns:p14="http://schemas.microsoft.com/office/powerpoint/2010/main" val="2490018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96333FD-3F07-4EEA-99DD-37AEE0CFF0CB}" type="datetimeFigureOut">
              <a:rPr lang="hu-HU" smtClean="0"/>
              <a:t>2026. 05. 13.</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FC57AC21-DDF3-4BEC-8A6A-627E9CFD85BE}" type="slidenum">
              <a:rPr lang="hu-HU" smtClean="0"/>
              <a:t>‹#›</a:t>
            </a:fld>
            <a:endParaRPr lang="hu-HU"/>
          </a:p>
        </p:txBody>
      </p:sp>
    </p:spTree>
    <p:extLst>
      <p:ext uri="{BB962C8B-B14F-4D97-AF65-F5344CB8AC3E}">
        <p14:creationId xmlns:p14="http://schemas.microsoft.com/office/powerpoint/2010/main" val="41138996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96333FD-3F07-4EEA-99DD-37AEE0CFF0CB}" type="datetimeFigureOut">
              <a:rPr lang="hu-HU" smtClean="0"/>
              <a:t>2026. 05. 13.</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FC57AC21-DDF3-4BEC-8A6A-627E9CFD85BE}" type="slidenum">
              <a:rPr lang="hu-HU" smtClean="0"/>
              <a:t>‹#›</a:t>
            </a:fld>
            <a:endParaRPr lang="hu-HU"/>
          </a:p>
        </p:txBody>
      </p:sp>
    </p:spTree>
    <p:extLst>
      <p:ext uri="{BB962C8B-B14F-4D97-AF65-F5344CB8AC3E}">
        <p14:creationId xmlns:p14="http://schemas.microsoft.com/office/powerpoint/2010/main" val="35030592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996333FD-3F07-4EEA-99DD-37AEE0CFF0CB}" type="datetimeFigureOut">
              <a:rPr lang="hu-HU" smtClean="0"/>
              <a:t>2026. 05. 13.</a:t>
            </a:fld>
            <a:endParaRPr lang="hu-H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hu-H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FC57AC21-DDF3-4BEC-8A6A-627E9CFD85BE}" type="slidenum">
              <a:rPr lang="hu-HU" smtClean="0"/>
              <a:t>‹#›</a:t>
            </a:fld>
            <a:endParaRPr lang="hu-HU"/>
          </a:p>
        </p:txBody>
      </p:sp>
    </p:spTree>
    <p:extLst>
      <p:ext uri="{BB962C8B-B14F-4D97-AF65-F5344CB8AC3E}">
        <p14:creationId xmlns:p14="http://schemas.microsoft.com/office/powerpoint/2010/main" val="699695596"/>
      </p:ext>
    </p:extLst>
  </p:cSld>
  <p:clrMap bg1="dk1" tx1="lt1" bg2="dk2" tx2="lt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chart" Target="../charts/chart3.xml"/><Relationship Id="rId5" Type="http://schemas.openxmlformats.org/officeDocument/2006/relationships/chart" Target="../charts/chart2.xml"/><Relationship Id="rId4" Type="http://schemas.openxmlformats.org/officeDocument/2006/relationships/chart" Target="../charts/char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0.jpeg"/><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chart" Target="../charts/chart4.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jpe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6.jpe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hyperlink" Target="https://yanac.hu/TAG/SECONSYS/" TargetMode="Externa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9.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082078B8-0300-540B-D02B-93313D01A2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5EA290C-E9F0-889C-1823-64B142F312DD}"/>
              </a:ext>
            </a:extLst>
          </p:cNvPr>
          <p:cNvSpPr txBox="1"/>
          <p:nvPr/>
        </p:nvSpPr>
        <p:spPr>
          <a:xfrm>
            <a:off x="1457759" y="2727655"/>
            <a:ext cx="4777783" cy="769441"/>
          </a:xfrm>
          <a:prstGeom prst="rect">
            <a:avLst/>
          </a:prstGeom>
          <a:noFill/>
        </p:spPr>
        <p:txBody>
          <a:bodyPr wrap="none" rtlCol="0">
            <a:spAutoFit/>
          </a:bodyPr>
          <a:lstStyle/>
          <a:p>
            <a:r>
              <a:rPr lang="hu-HU" sz="4400" dirty="0">
                <a:solidFill>
                  <a:schemeClr val="bg1"/>
                </a:solidFill>
              </a:rPr>
              <a:t>YANAC Egyszerűen</a:t>
            </a:r>
          </a:p>
        </p:txBody>
      </p:sp>
      <p:sp>
        <p:nvSpPr>
          <p:cNvPr id="9" name="TextBox 8">
            <a:extLst>
              <a:ext uri="{FF2B5EF4-FFF2-40B4-BE49-F238E27FC236}">
                <a16:creationId xmlns:a16="http://schemas.microsoft.com/office/drawing/2014/main" id="{F97E8B59-AFD8-DF2A-4BD5-2C8B9CC2E877}"/>
              </a:ext>
            </a:extLst>
          </p:cNvPr>
          <p:cNvSpPr txBox="1"/>
          <p:nvPr/>
        </p:nvSpPr>
        <p:spPr>
          <a:xfrm>
            <a:off x="6027906" y="3429000"/>
            <a:ext cx="2535053" cy="769441"/>
          </a:xfrm>
          <a:prstGeom prst="rect">
            <a:avLst/>
          </a:prstGeom>
          <a:noFill/>
        </p:spPr>
        <p:txBody>
          <a:bodyPr wrap="none" rtlCol="0">
            <a:spAutoFit/>
          </a:bodyPr>
          <a:lstStyle/>
          <a:p>
            <a:r>
              <a:rPr lang="hu-HU" sz="4400" dirty="0">
                <a:solidFill>
                  <a:schemeClr val="bg1"/>
                </a:solidFill>
              </a:rPr>
              <a:t>Biró Péter</a:t>
            </a:r>
          </a:p>
        </p:txBody>
      </p:sp>
    </p:spTree>
    <p:extLst>
      <p:ext uri="{BB962C8B-B14F-4D97-AF65-F5344CB8AC3E}">
        <p14:creationId xmlns:p14="http://schemas.microsoft.com/office/powerpoint/2010/main" val="32804303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D2B6620E-CC54-212B-EBD7-9559AF5908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6FF17A8-2A06-5C7C-FFD6-5D761233B5BC}"/>
              </a:ext>
            </a:extLst>
          </p:cNvPr>
          <p:cNvSpPr txBox="1"/>
          <p:nvPr/>
        </p:nvSpPr>
        <p:spPr>
          <a:xfrm>
            <a:off x="2298531" y="338340"/>
            <a:ext cx="3409523" cy="769441"/>
          </a:xfrm>
          <a:prstGeom prst="rect">
            <a:avLst/>
          </a:prstGeom>
          <a:noFill/>
        </p:spPr>
        <p:txBody>
          <a:bodyPr wrap="none" rtlCol="0">
            <a:spAutoFit/>
          </a:bodyPr>
          <a:lstStyle/>
          <a:p>
            <a:r>
              <a:rPr lang="hu-HU" sz="4400" dirty="0">
                <a:solidFill>
                  <a:schemeClr val="bg1"/>
                </a:solidFill>
              </a:rPr>
              <a:t>Mi, Ki, Mikor?</a:t>
            </a:r>
          </a:p>
        </p:txBody>
      </p:sp>
      <p:pic>
        <p:nvPicPr>
          <p:cNvPr id="13" name="Graphic 12" descr="User outline">
            <a:extLst>
              <a:ext uri="{FF2B5EF4-FFF2-40B4-BE49-F238E27FC236}">
                <a16:creationId xmlns:a16="http://schemas.microsoft.com/office/drawing/2014/main" id="{67C9F85D-EDB8-54E7-CA6A-58C95B56D02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172053" y="205217"/>
            <a:ext cx="1335932" cy="1335932"/>
          </a:xfrm>
          <a:prstGeom prst="rect">
            <a:avLst/>
          </a:prstGeom>
        </p:spPr>
      </p:pic>
      <p:pic>
        <p:nvPicPr>
          <p:cNvPr id="14" name="Graphic 13" descr="User outline">
            <a:extLst>
              <a:ext uri="{FF2B5EF4-FFF2-40B4-BE49-F238E27FC236}">
                <a16:creationId xmlns:a16="http://schemas.microsoft.com/office/drawing/2014/main" id="{35C2B229-ECF8-377D-1BD6-56B67D075E2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44685" y="132366"/>
            <a:ext cx="1335932" cy="1335932"/>
          </a:xfrm>
          <a:prstGeom prst="rect">
            <a:avLst/>
          </a:prstGeom>
        </p:spPr>
      </p:pic>
      <p:pic>
        <p:nvPicPr>
          <p:cNvPr id="15" name="Graphic 14" descr="User outline">
            <a:extLst>
              <a:ext uri="{FF2B5EF4-FFF2-40B4-BE49-F238E27FC236}">
                <a16:creationId xmlns:a16="http://schemas.microsoft.com/office/drawing/2014/main" id="{9F0759AA-41BA-F1DD-A616-39AE990B526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336023" y="205217"/>
            <a:ext cx="1335932" cy="1335932"/>
          </a:xfrm>
          <a:prstGeom prst="rect">
            <a:avLst/>
          </a:prstGeom>
        </p:spPr>
      </p:pic>
      <p:sp>
        <p:nvSpPr>
          <p:cNvPr id="16" name="TextBox 15">
            <a:extLst>
              <a:ext uri="{FF2B5EF4-FFF2-40B4-BE49-F238E27FC236}">
                <a16:creationId xmlns:a16="http://schemas.microsoft.com/office/drawing/2014/main" id="{1113C8FE-3359-5AD5-7867-A448A5D01868}"/>
              </a:ext>
            </a:extLst>
          </p:cNvPr>
          <p:cNvSpPr txBox="1"/>
          <p:nvPr/>
        </p:nvSpPr>
        <p:spPr>
          <a:xfrm>
            <a:off x="7155519" y="1619905"/>
            <a:ext cx="1315360" cy="523220"/>
          </a:xfrm>
          <a:prstGeom prst="rect">
            <a:avLst/>
          </a:prstGeom>
          <a:noFill/>
        </p:spPr>
        <p:txBody>
          <a:bodyPr wrap="none" rtlCol="0">
            <a:spAutoFit/>
          </a:bodyPr>
          <a:lstStyle/>
          <a:p>
            <a:r>
              <a:rPr lang="hu-HU" sz="2800" dirty="0">
                <a:solidFill>
                  <a:schemeClr val="bg1"/>
                </a:solidFill>
              </a:rPr>
              <a:t>SZULEJ</a:t>
            </a:r>
          </a:p>
        </p:txBody>
      </p:sp>
      <p:sp>
        <p:nvSpPr>
          <p:cNvPr id="17" name="TextBox 16">
            <a:extLst>
              <a:ext uri="{FF2B5EF4-FFF2-40B4-BE49-F238E27FC236}">
                <a16:creationId xmlns:a16="http://schemas.microsoft.com/office/drawing/2014/main" id="{76B6EF6C-F48A-6A44-A009-DE72D5BA34F5}"/>
              </a:ext>
            </a:extLst>
          </p:cNvPr>
          <p:cNvSpPr txBox="1"/>
          <p:nvPr/>
        </p:nvSpPr>
        <p:spPr>
          <a:xfrm>
            <a:off x="8507985" y="1619905"/>
            <a:ext cx="2009333" cy="523220"/>
          </a:xfrm>
          <a:prstGeom prst="rect">
            <a:avLst/>
          </a:prstGeom>
          <a:noFill/>
        </p:spPr>
        <p:txBody>
          <a:bodyPr wrap="none" rtlCol="0">
            <a:spAutoFit/>
          </a:bodyPr>
          <a:lstStyle/>
          <a:p>
            <a:r>
              <a:rPr lang="hu-HU" sz="2800" dirty="0">
                <a:solidFill>
                  <a:schemeClr val="bg1"/>
                </a:solidFill>
              </a:rPr>
              <a:t>GERONIMO</a:t>
            </a:r>
          </a:p>
        </p:txBody>
      </p:sp>
      <p:sp>
        <p:nvSpPr>
          <p:cNvPr id="18" name="TextBox 17">
            <a:extLst>
              <a:ext uri="{FF2B5EF4-FFF2-40B4-BE49-F238E27FC236}">
                <a16:creationId xmlns:a16="http://schemas.microsoft.com/office/drawing/2014/main" id="{4173BFBA-5C0B-9769-C7C3-F500A70516E4}"/>
              </a:ext>
            </a:extLst>
          </p:cNvPr>
          <p:cNvSpPr txBox="1"/>
          <p:nvPr/>
        </p:nvSpPr>
        <p:spPr>
          <a:xfrm>
            <a:off x="10517318" y="1619905"/>
            <a:ext cx="973343" cy="523220"/>
          </a:xfrm>
          <a:prstGeom prst="rect">
            <a:avLst/>
          </a:prstGeom>
          <a:noFill/>
        </p:spPr>
        <p:txBody>
          <a:bodyPr wrap="none" rtlCol="0">
            <a:spAutoFit/>
          </a:bodyPr>
          <a:lstStyle/>
          <a:p>
            <a:r>
              <a:rPr lang="hu-HU" sz="2800" dirty="0">
                <a:solidFill>
                  <a:schemeClr val="bg1"/>
                </a:solidFill>
              </a:rPr>
              <a:t>BIBO</a:t>
            </a:r>
          </a:p>
        </p:txBody>
      </p:sp>
      <p:pic>
        <p:nvPicPr>
          <p:cNvPr id="20" name="Picture 19">
            <a:extLst>
              <a:ext uri="{FF2B5EF4-FFF2-40B4-BE49-F238E27FC236}">
                <a16:creationId xmlns:a16="http://schemas.microsoft.com/office/drawing/2014/main" id="{08AA3A18-2740-D24F-2712-7AD10EA8AEBE}"/>
              </a:ext>
            </a:extLst>
          </p:cNvPr>
          <p:cNvPicPr>
            <a:picLocks noChangeAspect="1"/>
          </p:cNvPicPr>
          <p:nvPr/>
        </p:nvPicPr>
        <p:blipFill>
          <a:blip r:embed="rId5"/>
          <a:stretch>
            <a:fillRect/>
          </a:stretch>
        </p:blipFill>
        <p:spPr>
          <a:xfrm>
            <a:off x="6488498" y="4946031"/>
            <a:ext cx="5479080" cy="1641228"/>
          </a:xfrm>
          <a:prstGeom prst="rect">
            <a:avLst/>
          </a:prstGeom>
        </p:spPr>
      </p:pic>
      <p:sp>
        <p:nvSpPr>
          <p:cNvPr id="21" name="TextBox 20">
            <a:extLst>
              <a:ext uri="{FF2B5EF4-FFF2-40B4-BE49-F238E27FC236}">
                <a16:creationId xmlns:a16="http://schemas.microsoft.com/office/drawing/2014/main" id="{C442A483-32C0-BFFA-1EE2-BF02F494A293}"/>
              </a:ext>
            </a:extLst>
          </p:cNvPr>
          <p:cNvSpPr txBox="1"/>
          <p:nvPr/>
        </p:nvSpPr>
        <p:spPr>
          <a:xfrm>
            <a:off x="672573" y="3888170"/>
            <a:ext cx="2400850" cy="2246769"/>
          </a:xfrm>
          <a:prstGeom prst="rect">
            <a:avLst/>
          </a:prstGeom>
          <a:noFill/>
        </p:spPr>
        <p:txBody>
          <a:bodyPr wrap="none" rtlCol="0">
            <a:spAutoFit/>
          </a:bodyPr>
          <a:lstStyle/>
          <a:p>
            <a:r>
              <a:rPr lang="hu-HU" sz="2800" dirty="0">
                <a:solidFill>
                  <a:schemeClr val="bg1"/>
                </a:solidFill>
              </a:rPr>
              <a:t>YET</a:t>
            </a:r>
          </a:p>
          <a:p>
            <a:r>
              <a:rPr lang="hu-HU" sz="2800" dirty="0">
                <a:solidFill>
                  <a:schemeClr val="bg1"/>
                </a:solidFill>
              </a:rPr>
              <a:t>ANOTHER</a:t>
            </a:r>
          </a:p>
          <a:p>
            <a:r>
              <a:rPr lang="hu-HU" sz="2800" dirty="0">
                <a:solidFill>
                  <a:schemeClr val="bg1"/>
                </a:solidFill>
              </a:rPr>
              <a:t>NEWS</a:t>
            </a:r>
          </a:p>
          <a:p>
            <a:r>
              <a:rPr lang="hu-HU" sz="2800" dirty="0">
                <a:solidFill>
                  <a:schemeClr val="bg1"/>
                </a:solidFill>
              </a:rPr>
              <a:t>AGGREGATOR</a:t>
            </a:r>
          </a:p>
          <a:p>
            <a:r>
              <a:rPr lang="hu-HU" sz="2800" dirty="0">
                <a:solidFill>
                  <a:schemeClr val="bg1"/>
                </a:solidFill>
              </a:rPr>
              <a:t>CHANNEL</a:t>
            </a:r>
          </a:p>
        </p:txBody>
      </p:sp>
      <p:pic>
        <p:nvPicPr>
          <p:cNvPr id="22" name="Graphic 21" descr="User outline">
            <a:extLst>
              <a:ext uri="{FF2B5EF4-FFF2-40B4-BE49-F238E27FC236}">
                <a16:creationId xmlns:a16="http://schemas.microsoft.com/office/drawing/2014/main" id="{9835ACA5-CE4C-ED18-5867-60A3884B1C6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172053" y="2245468"/>
            <a:ext cx="1335932" cy="1335932"/>
          </a:xfrm>
          <a:prstGeom prst="rect">
            <a:avLst/>
          </a:prstGeom>
        </p:spPr>
      </p:pic>
      <p:sp>
        <p:nvSpPr>
          <p:cNvPr id="23" name="TextBox 22">
            <a:extLst>
              <a:ext uri="{FF2B5EF4-FFF2-40B4-BE49-F238E27FC236}">
                <a16:creationId xmlns:a16="http://schemas.microsoft.com/office/drawing/2014/main" id="{CF611A13-F090-6E1D-FABA-8B723A203440}"/>
              </a:ext>
            </a:extLst>
          </p:cNvPr>
          <p:cNvSpPr txBox="1"/>
          <p:nvPr/>
        </p:nvSpPr>
        <p:spPr>
          <a:xfrm>
            <a:off x="8844685" y="3507756"/>
            <a:ext cx="1531573" cy="523220"/>
          </a:xfrm>
          <a:prstGeom prst="rect">
            <a:avLst/>
          </a:prstGeom>
          <a:noFill/>
        </p:spPr>
        <p:txBody>
          <a:bodyPr wrap="none" rtlCol="0">
            <a:spAutoFit/>
          </a:bodyPr>
          <a:lstStyle/>
          <a:p>
            <a:r>
              <a:rPr lang="hu-HU" sz="2800" dirty="0" err="1">
                <a:solidFill>
                  <a:schemeClr val="bg1"/>
                </a:solidFill>
              </a:rPr>
              <a:t>TrainedR</a:t>
            </a:r>
            <a:endParaRPr lang="hu-HU" sz="2800" dirty="0">
              <a:solidFill>
                <a:schemeClr val="bg1"/>
              </a:solidFill>
            </a:endParaRPr>
          </a:p>
        </p:txBody>
      </p:sp>
      <p:pic>
        <p:nvPicPr>
          <p:cNvPr id="2" name="Graphic 1" descr="User outline">
            <a:extLst>
              <a:ext uri="{FF2B5EF4-FFF2-40B4-BE49-F238E27FC236}">
                <a16:creationId xmlns:a16="http://schemas.microsoft.com/office/drawing/2014/main" id="{CB4660EE-764E-8932-3425-45FDAE75F54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44685" y="2275878"/>
            <a:ext cx="1335932" cy="1335932"/>
          </a:xfrm>
          <a:prstGeom prst="rect">
            <a:avLst/>
          </a:prstGeom>
        </p:spPr>
      </p:pic>
      <p:sp>
        <p:nvSpPr>
          <p:cNvPr id="3" name="TextBox 2">
            <a:extLst>
              <a:ext uri="{FF2B5EF4-FFF2-40B4-BE49-F238E27FC236}">
                <a16:creationId xmlns:a16="http://schemas.microsoft.com/office/drawing/2014/main" id="{C36B7B89-B5BA-A50C-70D1-B80162FAB1FD}"/>
              </a:ext>
            </a:extLst>
          </p:cNvPr>
          <p:cNvSpPr txBox="1"/>
          <p:nvPr/>
        </p:nvSpPr>
        <p:spPr>
          <a:xfrm>
            <a:off x="7172053" y="3489331"/>
            <a:ext cx="1255472" cy="523220"/>
          </a:xfrm>
          <a:prstGeom prst="rect">
            <a:avLst/>
          </a:prstGeom>
          <a:noFill/>
        </p:spPr>
        <p:txBody>
          <a:bodyPr wrap="none" rtlCol="0">
            <a:spAutoFit/>
          </a:bodyPr>
          <a:lstStyle/>
          <a:p>
            <a:r>
              <a:rPr lang="hu-HU" sz="2800" dirty="0">
                <a:solidFill>
                  <a:schemeClr val="bg1"/>
                </a:solidFill>
              </a:rPr>
              <a:t>gh0o5t</a:t>
            </a:r>
          </a:p>
        </p:txBody>
      </p:sp>
    </p:spTree>
    <p:extLst>
      <p:ext uri="{BB962C8B-B14F-4D97-AF65-F5344CB8AC3E}">
        <p14:creationId xmlns:p14="http://schemas.microsoft.com/office/powerpoint/2010/main" val="21654555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D2B6620E-CC54-212B-EBD7-9559AF5908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6FF17A8-2A06-5C7C-FFD6-5D761233B5BC}"/>
              </a:ext>
            </a:extLst>
          </p:cNvPr>
          <p:cNvSpPr txBox="1"/>
          <p:nvPr/>
        </p:nvSpPr>
        <p:spPr>
          <a:xfrm>
            <a:off x="2872638" y="292627"/>
            <a:ext cx="1717137" cy="769441"/>
          </a:xfrm>
          <a:prstGeom prst="rect">
            <a:avLst/>
          </a:prstGeom>
          <a:noFill/>
        </p:spPr>
        <p:txBody>
          <a:bodyPr wrap="none" rtlCol="0">
            <a:spAutoFit/>
          </a:bodyPr>
          <a:lstStyle/>
          <a:p>
            <a:r>
              <a:rPr lang="hu-HU" sz="4400" dirty="0">
                <a:solidFill>
                  <a:schemeClr val="bg1"/>
                </a:solidFill>
              </a:rPr>
              <a:t>Miért?</a:t>
            </a:r>
          </a:p>
        </p:txBody>
      </p:sp>
      <p:sp>
        <p:nvSpPr>
          <p:cNvPr id="7" name="TextBox 6">
            <a:extLst>
              <a:ext uri="{FF2B5EF4-FFF2-40B4-BE49-F238E27FC236}">
                <a16:creationId xmlns:a16="http://schemas.microsoft.com/office/drawing/2014/main" id="{AFD8D801-DABE-47A3-D2A3-EB907CAC8E51}"/>
              </a:ext>
            </a:extLst>
          </p:cNvPr>
          <p:cNvSpPr txBox="1"/>
          <p:nvPr/>
        </p:nvSpPr>
        <p:spPr>
          <a:xfrm>
            <a:off x="0" y="4714876"/>
            <a:ext cx="6096000" cy="2585323"/>
          </a:xfrm>
          <a:prstGeom prst="rect">
            <a:avLst/>
          </a:prstGeom>
          <a:noFill/>
        </p:spPr>
        <p:txBody>
          <a:bodyPr wrap="square" rtlCol="0">
            <a:spAutoFit/>
          </a:bodyPr>
          <a:lstStyle/>
          <a:p>
            <a:pPr fontAlgn="base"/>
            <a:r>
              <a:rPr lang="hu-HU" dirty="0">
                <a:solidFill>
                  <a:schemeClr val="bg1"/>
                </a:solidFill>
              </a:rPr>
              <a:t>Mi, a YANAC alapítói úgy éreztük, hogy hazánkban nem érhető el olyan aggregátor szolgáltatás, amely csak informatikára, IT biztonságra és technológiára koncentrálna. Napról napra azon fáradozunk, hogy megtaláljuk azt az időszerű, megbízható információforrást, amelyet a mindennapi munkánkhoz felhasználhatunk. Ez az ötlet hívta életre a YANAC-ot.</a:t>
            </a:r>
          </a:p>
          <a:p>
            <a:br>
              <a:rPr lang="hu-HU" dirty="0">
                <a:solidFill>
                  <a:schemeClr val="bg1"/>
                </a:solidFill>
              </a:rPr>
            </a:br>
            <a:endParaRPr lang="en-US" b="0" i="0" dirty="0">
              <a:solidFill>
                <a:schemeClr val="bg1"/>
              </a:solidFill>
              <a:effectLst/>
              <a:latin typeface="inherit"/>
            </a:endParaRPr>
          </a:p>
        </p:txBody>
      </p:sp>
      <p:sp>
        <p:nvSpPr>
          <p:cNvPr id="2" name="TextBox 1">
            <a:extLst>
              <a:ext uri="{FF2B5EF4-FFF2-40B4-BE49-F238E27FC236}">
                <a16:creationId xmlns:a16="http://schemas.microsoft.com/office/drawing/2014/main" id="{303AEDEA-7DD2-E8C6-E551-5FF08B0D010D}"/>
              </a:ext>
            </a:extLst>
          </p:cNvPr>
          <p:cNvSpPr txBox="1"/>
          <p:nvPr/>
        </p:nvSpPr>
        <p:spPr>
          <a:xfrm>
            <a:off x="6373662" y="370214"/>
            <a:ext cx="5707075" cy="2800767"/>
          </a:xfrm>
          <a:prstGeom prst="rect">
            <a:avLst/>
          </a:prstGeom>
          <a:noFill/>
        </p:spPr>
        <p:txBody>
          <a:bodyPr wrap="none" rtlCol="0">
            <a:spAutoFit/>
          </a:bodyPr>
          <a:lstStyle/>
          <a:p>
            <a:r>
              <a:rPr lang="hu-HU" sz="4400" dirty="0">
                <a:solidFill>
                  <a:schemeClr val="bg1"/>
                </a:solidFill>
              </a:rPr>
              <a:t>KIBER HELYZETKÉP</a:t>
            </a:r>
          </a:p>
          <a:p>
            <a:pPr marL="571500" indent="-571500">
              <a:buFontTx/>
              <a:buChar char="-"/>
            </a:pPr>
            <a:r>
              <a:rPr lang="hu-HU" sz="4400" dirty="0">
                <a:solidFill>
                  <a:schemeClr val="bg1"/>
                </a:solidFill>
              </a:rPr>
              <a:t>TÁMADÁSOK</a:t>
            </a:r>
          </a:p>
          <a:p>
            <a:pPr marL="571500" indent="-571500">
              <a:buFontTx/>
              <a:buChar char="-"/>
            </a:pPr>
            <a:r>
              <a:rPr lang="hu-HU" sz="4400" dirty="0">
                <a:solidFill>
                  <a:schemeClr val="bg1"/>
                </a:solidFill>
              </a:rPr>
              <a:t>SÉRÜLÉKENYSÉGEK</a:t>
            </a:r>
          </a:p>
          <a:p>
            <a:pPr marL="571500" indent="-571500">
              <a:buFontTx/>
              <a:buChar char="-"/>
            </a:pPr>
            <a:r>
              <a:rPr lang="hu-HU" sz="4400" dirty="0">
                <a:solidFill>
                  <a:schemeClr val="bg1"/>
                </a:solidFill>
              </a:rPr>
              <a:t>CSOPORTOK</a:t>
            </a:r>
          </a:p>
        </p:txBody>
      </p:sp>
      <p:sp>
        <p:nvSpPr>
          <p:cNvPr id="3" name="TextBox 2">
            <a:extLst>
              <a:ext uri="{FF2B5EF4-FFF2-40B4-BE49-F238E27FC236}">
                <a16:creationId xmlns:a16="http://schemas.microsoft.com/office/drawing/2014/main" id="{610BA797-637D-C451-7A6F-5B56AF5D66F2}"/>
              </a:ext>
            </a:extLst>
          </p:cNvPr>
          <p:cNvSpPr txBox="1"/>
          <p:nvPr/>
        </p:nvSpPr>
        <p:spPr>
          <a:xfrm>
            <a:off x="6373662" y="3429237"/>
            <a:ext cx="5108963" cy="3477875"/>
          </a:xfrm>
          <a:prstGeom prst="rect">
            <a:avLst/>
          </a:prstGeom>
          <a:noFill/>
        </p:spPr>
        <p:txBody>
          <a:bodyPr wrap="none" rtlCol="0">
            <a:spAutoFit/>
          </a:bodyPr>
          <a:lstStyle/>
          <a:p>
            <a:r>
              <a:rPr lang="hu-HU" sz="4400" dirty="0">
                <a:solidFill>
                  <a:schemeClr val="bg1"/>
                </a:solidFill>
              </a:rPr>
              <a:t>TÁJÉKOZTATÁS</a:t>
            </a:r>
          </a:p>
          <a:p>
            <a:pPr marL="571500" indent="-571500">
              <a:buFontTx/>
              <a:buChar char="-"/>
            </a:pPr>
            <a:r>
              <a:rPr lang="hu-HU" sz="4400" dirty="0">
                <a:solidFill>
                  <a:schemeClr val="bg1"/>
                </a:solidFill>
              </a:rPr>
              <a:t>MAGYAR NYELVŰ </a:t>
            </a:r>
            <a:br>
              <a:rPr lang="hu-HU" sz="4400" dirty="0">
                <a:solidFill>
                  <a:schemeClr val="bg1"/>
                </a:solidFill>
              </a:rPr>
            </a:br>
            <a:r>
              <a:rPr lang="hu-HU" sz="4400" dirty="0">
                <a:solidFill>
                  <a:schemeClr val="bg1"/>
                </a:solidFill>
              </a:rPr>
              <a:t>CIKKEK</a:t>
            </a:r>
          </a:p>
          <a:p>
            <a:pPr marL="571500" indent="-571500">
              <a:buFontTx/>
              <a:buChar char="-"/>
            </a:pPr>
            <a:r>
              <a:rPr lang="hu-HU" sz="4400" dirty="0">
                <a:solidFill>
                  <a:schemeClr val="bg1"/>
                </a:solidFill>
              </a:rPr>
              <a:t>ELEMZÉSEK</a:t>
            </a:r>
          </a:p>
          <a:p>
            <a:pPr marL="571500" indent="-571500">
              <a:buFontTx/>
              <a:buChar char="-"/>
            </a:pPr>
            <a:r>
              <a:rPr lang="hu-HU" sz="4400" dirty="0">
                <a:solidFill>
                  <a:schemeClr val="bg1"/>
                </a:solidFill>
              </a:rPr>
              <a:t>ÖSSZEFOGLALÓK</a:t>
            </a:r>
          </a:p>
        </p:txBody>
      </p:sp>
    </p:spTree>
    <p:extLst>
      <p:ext uri="{BB962C8B-B14F-4D97-AF65-F5344CB8AC3E}">
        <p14:creationId xmlns:p14="http://schemas.microsoft.com/office/powerpoint/2010/main" val="3537715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D2B6620E-CC54-212B-EBD7-9559AF5908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6FF17A8-2A06-5C7C-FFD6-5D761233B5BC}"/>
              </a:ext>
            </a:extLst>
          </p:cNvPr>
          <p:cNvSpPr txBox="1"/>
          <p:nvPr/>
        </p:nvSpPr>
        <p:spPr>
          <a:xfrm>
            <a:off x="1872998" y="370214"/>
            <a:ext cx="1429046" cy="769441"/>
          </a:xfrm>
          <a:prstGeom prst="rect">
            <a:avLst/>
          </a:prstGeom>
          <a:noFill/>
        </p:spPr>
        <p:txBody>
          <a:bodyPr wrap="none" rtlCol="0">
            <a:spAutoFit/>
          </a:bodyPr>
          <a:lstStyle/>
          <a:p>
            <a:r>
              <a:rPr lang="hu-HU" sz="4400" dirty="0">
                <a:solidFill>
                  <a:schemeClr val="bg1"/>
                </a:solidFill>
              </a:rPr>
              <a:t>Sajtó</a:t>
            </a:r>
          </a:p>
        </p:txBody>
      </p:sp>
      <p:sp>
        <p:nvSpPr>
          <p:cNvPr id="2" name="TextBox 1">
            <a:extLst>
              <a:ext uri="{FF2B5EF4-FFF2-40B4-BE49-F238E27FC236}">
                <a16:creationId xmlns:a16="http://schemas.microsoft.com/office/drawing/2014/main" id="{4AE0F143-6631-7692-CD35-DB8A588F3B31}"/>
              </a:ext>
            </a:extLst>
          </p:cNvPr>
          <p:cNvSpPr txBox="1"/>
          <p:nvPr/>
        </p:nvSpPr>
        <p:spPr>
          <a:xfrm>
            <a:off x="0" y="1875418"/>
            <a:ext cx="12106456" cy="2308324"/>
          </a:xfrm>
          <a:prstGeom prst="rect">
            <a:avLst/>
          </a:prstGeom>
          <a:noFill/>
        </p:spPr>
        <p:txBody>
          <a:bodyPr wrap="none" rtlCol="0">
            <a:spAutoFit/>
          </a:bodyPr>
          <a:lstStyle/>
          <a:p>
            <a:r>
              <a:rPr lang="hu-HU" sz="4400" dirty="0">
                <a:solidFill>
                  <a:schemeClr val="bg1"/>
                </a:solidFill>
              </a:rPr>
              <a:t>HnL321 - Kiégés - Beszélgetés </a:t>
            </a:r>
            <a:r>
              <a:rPr lang="hu-HU" sz="4400" dirty="0" err="1">
                <a:solidFill>
                  <a:schemeClr val="bg1"/>
                </a:solidFill>
              </a:rPr>
              <a:t>Krasznay</a:t>
            </a:r>
            <a:r>
              <a:rPr lang="hu-HU" sz="4400" dirty="0">
                <a:solidFill>
                  <a:schemeClr val="bg1"/>
                </a:solidFill>
              </a:rPr>
              <a:t> Csabával</a:t>
            </a:r>
          </a:p>
          <a:p>
            <a:r>
              <a:rPr lang="hu-HU" sz="2000" dirty="0">
                <a:solidFill>
                  <a:schemeClr val="bg1"/>
                </a:solidFill>
              </a:rPr>
              <a:t>"Egy </a:t>
            </a:r>
            <a:r>
              <a:rPr lang="hu-HU" sz="2000" dirty="0" err="1">
                <a:solidFill>
                  <a:schemeClr val="bg1"/>
                </a:solidFill>
              </a:rPr>
              <a:t>securityban</a:t>
            </a:r>
            <a:r>
              <a:rPr lang="hu-HU" sz="2000" dirty="0">
                <a:solidFill>
                  <a:schemeClr val="bg1"/>
                </a:solidFill>
              </a:rPr>
              <a:t> nagyon, nagyon, nagyon fontos, hogy ami ma történt [...] arról beszéljünk. </a:t>
            </a:r>
            <a:br>
              <a:rPr lang="hu-HU" sz="2000" dirty="0">
                <a:solidFill>
                  <a:schemeClr val="bg1"/>
                </a:solidFill>
              </a:rPr>
            </a:br>
            <a:r>
              <a:rPr lang="hu-HU" sz="2000" dirty="0">
                <a:solidFill>
                  <a:schemeClr val="bg1"/>
                </a:solidFill>
              </a:rPr>
              <a:t>Mert az a legértékesebb szerintem.„  .- 30:57</a:t>
            </a:r>
          </a:p>
          <a:p>
            <a:r>
              <a:rPr lang="hu-HU" sz="2000" dirty="0">
                <a:solidFill>
                  <a:schemeClr val="bg1"/>
                </a:solidFill>
              </a:rPr>
              <a:t>"Például ez is hiányzik a magyar hírmédiából. [...] a </a:t>
            </a:r>
            <a:r>
              <a:rPr lang="hu-HU" sz="2000" dirty="0" err="1">
                <a:solidFill>
                  <a:schemeClr val="bg1"/>
                </a:solidFill>
              </a:rPr>
              <a:t>cybersecurity</a:t>
            </a:r>
            <a:r>
              <a:rPr lang="hu-HU" sz="2000" dirty="0">
                <a:solidFill>
                  <a:schemeClr val="bg1"/>
                </a:solidFill>
              </a:rPr>
              <a:t>-s hírek, amik megjelennek, </a:t>
            </a:r>
            <a:br>
              <a:rPr lang="hu-HU" sz="2000" dirty="0">
                <a:solidFill>
                  <a:schemeClr val="bg1"/>
                </a:solidFill>
              </a:rPr>
            </a:br>
            <a:r>
              <a:rPr lang="hu-HU" sz="2000" dirty="0">
                <a:solidFill>
                  <a:schemeClr val="bg1"/>
                </a:solidFill>
              </a:rPr>
              <a:t>azok vagy nagyon le vannak maradva, vagy nagyon magas szintűek, vagy egyszerűen nem azt válogatják ki, </a:t>
            </a:r>
            <a:br>
              <a:rPr lang="hu-HU" sz="2000" dirty="0">
                <a:solidFill>
                  <a:schemeClr val="bg1"/>
                </a:solidFill>
              </a:rPr>
            </a:br>
            <a:r>
              <a:rPr lang="hu-HU" sz="2000" dirty="0">
                <a:solidFill>
                  <a:schemeClr val="bg1"/>
                </a:solidFill>
              </a:rPr>
              <a:t>ami szerintem igazából érdekes. [...] nincs egy normális IT-</a:t>
            </a:r>
            <a:r>
              <a:rPr lang="hu-HU" sz="2000" dirty="0" err="1">
                <a:solidFill>
                  <a:schemeClr val="bg1"/>
                </a:solidFill>
              </a:rPr>
              <a:t>val</a:t>
            </a:r>
            <a:r>
              <a:rPr lang="hu-HU" sz="2000" dirty="0">
                <a:solidFill>
                  <a:schemeClr val="bg1"/>
                </a:solidFill>
              </a:rPr>
              <a:t> foglalkozó magyar nyelvű portál„ - 32:02</a:t>
            </a:r>
          </a:p>
        </p:txBody>
      </p:sp>
      <p:sp>
        <p:nvSpPr>
          <p:cNvPr id="3" name="TextBox 2">
            <a:extLst>
              <a:ext uri="{FF2B5EF4-FFF2-40B4-BE49-F238E27FC236}">
                <a16:creationId xmlns:a16="http://schemas.microsoft.com/office/drawing/2014/main" id="{78E87EC4-CDF9-9290-57CA-9AC58131BB50}"/>
              </a:ext>
            </a:extLst>
          </p:cNvPr>
          <p:cNvSpPr txBox="1"/>
          <p:nvPr/>
        </p:nvSpPr>
        <p:spPr>
          <a:xfrm>
            <a:off x="0" y="4919505"/>
            <a:ext cx="5374933" cy="923330"/>
          </a:xfrm>
          <a:prstGeom prst="rect">
            <a:avLst/>
          </a:prstGeom>
          <a:noFill/>
        </p:spPr>
        <p:txBody>
          <a:bodyPr wrap="none" rtlCol="0">
            <a:spAutoFit/>
          </a:bodyPr>
          <a:lstStyle/>
          <a:p>
            <a:r>
              <a:rPr lang="hu-HU" dirty="0">
                <a:solidFill>
                  <a:schemeClr val="bg1"/>
                </a:solidFill>
              </a:rPr>
              <a:t>Kémkedett a Facebook a Snapchat felhasználói után</a:t>
            </a:r>
          </a:p>
          <a:p>
            <a:r>
              <a:rPr lang="hu-HU" dirty="0">
                <a:solidFill>
                  <a:schemeClr val="bg1"/>
                </a:solidFill>
              </a:rPr>
              <a:t>HWSW: 2024. MÁRCIUS 27. 11:40</a:t>
            </a:r>
          </a:p>
          <a:p>
            <a:r>
              <a:rPr lang="en-US" dirty="0" err="1">
                <a:solidFill>
                  <a:schemeClr val="bg1"/>
                </a:solidFill>
              </a:rPr>
              <a:t>Yanac</a:t>
            </a:r>
            <a:r>
              <a:rPr lang="en-US" dirty="0">
                <a:solidFill>
                  <a:schemeClr val="bg1"/>
                </a:solidFill>
              </a:rPr>
              <a:t>: 2024</a:t>
            </a:r>
            <a:r>
              <a:rPr lang="hu-HU" dirty="0">
                <a:solidFill>
                  <a:schemeClr val="bg1"/>
                </a:solidFill>
              </a:rPr>
              <a:t>. MÁRCIUS 27.</a:t>
            </a:r>
            <a:r>
              <a:rPr lang="en-US" dirty="0">
                <a:solidFill>
                  <a:schemeClr val="bg1"/>
                </a:solidFill>
              </a:rPr>
              <a:t> </a:t>
            </a:r>
            <a:r>
              <a:rPr lang="hu-HU" dirty="0">
                <a:solidFill>
                  <a:schemeClr val="bg1"/>
                </a:solidFill>
              </a:rPr>
              <a:t>20:</a:t>
            </a:r>
            <a:r>
              <a:rPr lang="en-US" dirty="0">
                <a:solidFill>
                  <a:schemeClr val="bg1"/>
                </a:solidFill>
              </a:rPr>
              <a:t>00</a:t>
            </a:r>
            <a:endParaRPr lang="hu-HU" dirty="0">
              <a:solidFill>
                <a:schemeClr val="bg1"/>
              </a:solidFill>
            </a:endParaRPr>
          </a:p>
        </p:txBody>
      </p:sp>
      <p:sp>
        <p:nvSpPr>
          <p:cNvPr id="4" name="TextBox 3">
            <a:extLst>
              <a:ext uri="{FF2B5EF4-FFF2-40B4-BE49-F238E27FC236}">
                <a16:creationId xmlns:a16="http://schemas.microsoft.com/office/drawing/2014/main" id="{FF3F2B22-8022-2073-278F-D42825761C46}"/>
              </a:ext>
            </a:extLst>
          </p:cNvPr>
          <p:cNvSpPr txBox="1"/>
          <p:nvPr/>
        </p:nvSpPr>
        <p:spPr>
          <a:xfrm>
            <a:off x="5230" y="5934670"/>
            <a:ext cx="6090770" cy="923330"/>
          </a:xfrm>
          <a:prstGeom prst="rect">
            <a:avLst/>
          </a:prstGeom>
          <a:noFill/>
        </p:spPr>
        <p:txBody>
          <a:bodyPr wrap="none" rtlCol="0">
            <a:spAutoFit/>
          </a:bodyPr>
          <a:lstStyle/>
          <a:p>
            <a:r>
              <a:rPr lang="hu-HU" dirty="0">
                <a:solidFill>
                  <a:schemeClr val="bg1"/>
                </a:solidFill>
              </a:rPr>
              <a:t>Csalóoldalakat terjeszt a Google MI-vel támogatott keresője</a:t>
            </a:r>
          </a:p>
          <a:p>
            <a:r>
              <a:rPr lang="hu-HU" dirty="0">
                <a:solidFill>
                  <a:schemeClr val="bg1"/>
                </a:solidFill>
              </a:rPr>
              <a:t>HWSW: 2024. MÁRCIUS 26. 14:22</a:t>
            </a:r>
          </a:p>
          <a:p>
            <a:r>
              <a:rPr lang="en-US" dirty="0" err="1">
                <a:solidFill>
                  <a:schemeClr val="bg1"/>
                </a:solidFill>
              </a:rPr>
              <a:t>Yanac</a:t>
            </a:r>
            <a:r>
              <a:rPr lang="en-US" dirty="0">
                <a:solidFill>
                  <a:schemeClr val="bg1"/>
                </a:solidFill>
              </a:rPr>
              <a:t>: 2024</a:t>
            </a:r>
            <a:r>
              <a:rPr lang="hu-HU" dirty="0">
                <a:solidFill>
                  <a:schemeClr val="bg1"/>
                </a:solidFill>
              </a:rPr>
              <a:t>. MÁRCIUS 25. 16</a:t>
            </a:r>
            <a:r>
              <a:rPr lang="en-US" dirty="0">
                <a:solidFill>
                  <a:schemeClr val="bg1"/>
                </a:solidFill>
              </a:rPr>
              <a:t>:57</a:t>
            </a:r>
            <a:endParaRPr lang="hu-HU" dirty="0">
              <a:solidFill>
                <a:schemeClr val="bg1"/>
              </a:solidFill>
            </a:endParaRPr>
          </a:p>
        </p:txBody>
      </p:sp>
      <p:sp>
        <p:nvSpPr>
          <p:cNvPr id="7" name="TextBox 6">
            <a:extLst>
              <a:ext uri="{FF2B5EF4-FFF2-40B4-BE49-F238E27FC236}">
                <a16:creationId xmlns:a16="http://schemas.microsoft.com/office/drawing/2014/main" id="{D0CEAB35-3F35-CE48-EC28-DF675BF353CD}"/>
              </a:ext>
            </a:extLst>
          </p:cNvPr>
          <p:cNvSpPr txBox="1"/>
          <p:nvPr/>
        </p:nvSpPr>
        <p:spPr>
          <a:xfrm>
            <a:off x="6198509" y="4919505"/>
            <a:ext cx="6011774" cy="923330"/>
          </a:xfrm>
          <a:prstGeom prst="rect">
            <a:avLst/>
          </a:prstGeom>
          <a:noFill/>
        </p:spPr>
        <p:txBody>
          <a:bodyPr wrap="none" rtlCol="0">
            <a:spAutoFit/>
          </a:bodyPr>
          <a:lstStyle/>
          <a:p>
            <a:r>
              <a:rPr lang="hu-HU" dirty="0">
                <a:solidFill>
                  <a:schemeClr val="bg1"/>
                </a:solidFill>
              </a:rPr>
              <a:t>Facebookon taroltak a </a:t>
            </a:r>
            <a:r>
              <a:rPr lang="hu-HU" dirty="0" err="1">
                <a:solidFill>
                  <a:schemeClr val="bg1"/>
                </a:solidFill>
              </a:rPr>
              <a:t>Midjourney</a:t>
            </a:r>
            <a:r>
              <a:rPr lang="hu-HU" dirty="0">
                <a:solidFill>
                  <a:schemeClr val="bg1"/>
                </a:solidFill>
              </a:rPr>
              <a:t> nevével visszaélő csalók</a:t>
            </a:r>
          </a:p>
          <a:p>
            <a:r>
              <a:rPr lang="hu-HU" dirty="0">
                <a:solidFill>
                  <a:schemeClr val="bg1"/>
                </a:solidFill>
              </a:rPr>
              <a:t>HWSW : 2024. ÁPRILIS 9. 13:00</a:t>
            </a:r>
          </a:p>
          <a:p>
            <a:r>
              <a:rPr lang="en-US" dirty="0" err="1">
                <a:solidFill>
                  <a:schemeClr val="bg1"/>
                </a:solidFill>
              </a:rPr>
              <a:t>Yanac</a:t>
            </a:r>
            <a:r>
              <a:rPr lang="en-US" dirty="0">
                <a:solidFill>
                  <a:schemeClr val="bg1"/>
                </a:solidFill>
              </a:rPr>
              <a:t>: 2024</a:t>
            </a:r>
            <a:r>
              <a:rPr lang="hu-HU" dirty="0">
                <a:solidFill>
                  <a:schemeClr val="bg1"/>
                </a:solidFill>
              </a:rPr>
              <a:t>. ÁPRILIS 8. </a:t>
            </a:r>
            <a:r>
              <a:rPr lang="en-US" dirty="0">
                <a:solidFill>
                  <a:schemeClr val="bg1"/>
                </a:solidFill>
              </a:rPr>
              <a:t>18:56</a:t>
            </a:r>
            <a:endParaRPr lang="hu-HU" dirty="0">
              <a:solidFill>
                <a:schemeClr val="bg1"/>
              </a:solidFill>
            </a:endParaRPr>
          </a:p>
        </p:txBody>
      </p:sp>
      <p:sp>
        <p:nvSpPr>
          <p:cNvPr id="8" name="TextBox 7">
            <a:extLst>
              <a:ext uri="{FF2B5EF4-FFF2-40B4-BE49-F238E27FC236}">
                <a16:creationId xmlns:a16="http://schemas.microsoft.com/office/drawing/2014/main" id="{CE005597-5D8A-0A8F-655C-9E6B0FF16B82}"/>
              </a:ext>
            </a:extLst>
          </p:cNvPr>
          <p:cNvSpPr txBox="1"/>
          <p:nvPr/>
        </p:nvSpPr>
        <p:spPr>
          <a:xfrm>
            <a:off x="6198509" y="5934670"/>
            <a:ext cx="5592237" cy="923330"/>
          </a:xfrm>
          <a:prstGeom prst="rect">
            <a:avLst/>
          </a:prstGeom>
          <a:noFill/>
        </p:spPr>
        <p:txBody>
          <a:bodyPr wrap="none" rtlCol="0">
            <a:spAutoFit/>
          </a:bodyPr>
          <a:lstStyle/>
          <a:p>
            <a:r>
              <a:rPr lang="hu-HU" dirty="0">
                <a:solidFill>
                  <a:schemeClr val="bg1"/>
                </a:solidFill>
              </a:rPr>
              <a:t>Feltörték a webes biztonságot oktató OWASP szerverét</a:t>
            </a:r>
          </a:p>
          <a:p>
            <a:r>
              <a:rPr lang="hu-HU" dirty="0">
                <a:solidFill>
                  <a:schemeClr val="bg1"/>
                </a:solidFill>
              </a:rPr>
              <a:t>prog.hu 2024. ÁPRILIS  04.</a:t>
            </a:r>
          </a:p>
          <a:p>
            <a:r>
              <a:rPr lang="en-US" dirty="0" err="1">
                <a:solidFill>
                  <a:schemeClr val="bg1"/>
                </a:solidFill>
              </a:rPr>
              <a:t>Yanac</a:t>
            </a:r>
            <a:r>
              <a:rPr lang="en-US" dirty="0">
                <a:solidFill>
                  <a:schemeClr val="bg1"/>
                </a:solidFill>
              </a:rPr>
              <a:t>: 2024</a:t>
            </a:r>
            <a:r>
              <a:rPr lang="hu-HU" dirty="0">
                <a:solidFill>
                  <a:schemeClr val="bg1"/>
                </a:solidFill>
              </a:rPr>
              <a:t>. ÁPRILIS  04.</a:t>
            </a:r>
            <a:r>
              <a:rPr lang="en-US" dirty="0">
                <a:solidFill>
                  <a:schemeClr val="bg1"/>
                </a:solidFill>
              </a:rPr>
              <a:t> 19:13</a:t>
            </a:r>
            <a:endParaRPr lang="hu-HU" dirty="0">
              <a:solidFill>
                <a:schemeClr val="bg1"/>
              </a:solidFill>
            </a:endParaRPr>
          </a:p>
        </p:txBody>
      </p:sp>
    </p:spTree>
    <p:extLst>
      <p:ext uri="{BB962C8B-B14F-4D97-AF65-F5344CB8AC3E}">
        <p14:creationId xmlns:p14="http://schemas.microsoft.com/office/powerpoint/2010/main" val="15337440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D2B6620E-CC54-212B-EBD7-9559AF5908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6FF17A8-2A06-5C7C-FFD6-5D761233B5BC}"/>
              </a:ext>
            </a:extLst>
          </p:cNvPr>
          <p:cNvSpPr txBox="1"/>
          <p:nvPr/>
        </p:nvSpPr>
        <p:spPr>
          <a:xfrm>
            <a:off x="2390872" y="371592"/>
            <a:ext cx="2310569" cy="769441"/>
          </a:xfrm>
          <a:prstGeom prst="rect">
            <a:avLst/>
          </a:prstGeom>
          <a:noFill/>
        </p:spPr>
        <p:txBody>
          <a:bodyPr wrap="none" rtlCol="0">
            <a:spAutoFit/>
          </a:bodyPr>
          <a:lstStyle/>
          <a:p>
            <a:r>
              <a:rPr lang="hu-HU" sz="4400" dirty="0">
                <a:solidFill>
                  <a:schemeClr val="bg1"/>
                </a:solidFill>
              </a:rPr>
              <a:t>Hogyan?</a:t>
            </a:r>
          </a:p>
        </p:txBody>
      </p:sp>
      <p:sp>
        <p:nvSpPr>
          <p:cNvPr id="2" name="TextBox 1">
            <a:extLst>
              <a:ext uri="{FF2B5EF4-FFF2-40B4-BE49-F238E27FC236}">
                <a16:creationId xmlns:a16="http://schemas.microsoft.com/office/drawing/2014/main" id="{4242BBF1-C240-D988-6E5A-6E9C0B7C07B0}"/>
              </a:ext>
            </a:extLst>
          </p:cNvPr>
          <p:cNvSpPr txBox="1"/>
          <p:nvPr/>
        </p:nvSpPr>
        <p:spPr>
          <a:xfrm>
            <a:off x="475707" y="3791546"/>
            <a:ext cx="2180212" cy="1477328"/>
          </a:xfrm>
          <a:prstGeom prst="rect">
            <a:avLst/>
          </a:prstGeom>
          <a:noFill/>
        </p:spPr>
        <p:txBody>
          <a:bodyPr wrap="none" rtlCol="0">
            <a:spAutoFit/>
          </a:bodyPr>
          <a:lstStyle/>
          <a:p>
            <a:r>
              <a:rPr lang="hu-HU" dirty="0">
                <a:solidFill>
                  <a:schemeClr val="bg1"/>
                </a:solidFill>
              </a:rPr>
              <a:t>GERONIMO</a:t>
            </a:r>
          </a:p>
          <a:p>
            <a:pPr marL="285750" indent="-285750">
              <a:buFontTx/>
              <a:buChar char="-"/>
            </a:pPr>
            <a:r>
              <a:rPr lang="hu-HU" dirty="0">
                <a:solidFill>
                  <a:schemeClr val="bg1"/>
                </a:solidFill>
              </a:rPr>
              <a:t>5538 POSZT</a:t>
            </a:r>
          </a:p>
          <a:p>
            <a:pPr marL="285750" indent="-285750">
              <a:buFontTx/>
              <a:buChar char="-"/>
            </a:pPr>
            <a:r>
              <a:rPr lang="hu-HU" dirty="0">
                <a:solidFill>
                  <a:schemeClr val="bg1"/>
                </a:solidFill>
              </a:rPr>
              <a:t>HETI 5 NAP</a:t>
            </a:r>
          </a:p>
          <a:p>
            <a:pPr marL="285750" indent="-285750">
              <a:buFontTx/>
              <a:buChar char="-"/>
            </a:pPr>
            <a:r>
              <a:rPr lang="hu-HU" dirty="0">
                <a:solidFill>
                  <a:schemeClr val="bg1"/>
                </a:solidFill>
              </a:rPr>
              <a:t>SZERKESZTÉS</a:t>
            </a:r>
          </a:p>
          <a:p>
            <a:pPr marL="285750" indent="-285750">
              <a:buFontTx/>
              <a:buChar char="-"/>
            </a:pPr>
            <a:r>
              <a:rPr lang="hu-HU" dirty="0">
                <a:solidFill>
                  <a:schemeClr val="bg1"/>
                </a:solidFill>
              </a:rPr>
              <a:t>FORRÁSKUTATÁS</a:t>
            </a:r>
          </a:p>
        </p:txBody>
      </p:sp>
      <p:sp>
        <p:nvSpPr>
          <p:cNvPr id="4" name="TextBox 3">
            <a:extLst>
              <a:ext uri="{FF2B5EF4-FFF2-40B4-BE49-F238E27FC236}">
                <a16:creationId xmlns:a16="http://schemas.microsoft.com/office/drawing/2014/main" id="{E1F1AD26-128E-D8CB-AE9F-9C2684D001B5}"/>
              </a:ext>
            </a:extLst>
          </p:cNvPr>
          <p:cNvSpPr txBox="1"/>
          <p:nvPr/>
        </p:nvSpPr>
        <p:spPr>
          <a:xfrm>
            <a:off x="7320737" y="918644"/>
            <a:ext cx="2180212" cy="1754326"/>
          </a:xfrm>
          <a:prstGeom prst="rect">
            <a:avLst/>
          </a:prstGeom>
          <a:noFill/>
        </p:spPr>
        <p:txBody>
          <a:bodyPr wrap="none" rtlCol="0">
            <a:spAutoFit/>
          </a:bodyPr>
          <a:lstStyle/>
          <a:p>
            <a:r>
              <a:rPr lang="hu-HU" dirty="0">
                <a:solidFill>
                  <a:schemeClr val="bg1"/>
                </a:solidFill>
              </a:rPr>
              <a:t>BIBÓ</a:t>
            </a:r>
          </a:p>
          <a:p>
            <a:pPr marL="285750" indent="-285750">
              <a:buFontTx/>
              <a:buChar char="-"/>
            </a:pPr>
            <a:r>
              <a:rPr lang="hu-HU" dirty="0">
                <a:solidFill>
                  <a:schemeClr val="bg1"/>
                </a:solidFill>
              </a:rPr>
              <a:t>731 POSZT</a:t>
            </a:r>
          </a:p>
          <a:p>
            <a:pPr marL="285750" indent="-285750">
              <a:buFontTx/>
              <a:buChar char="-"/>
            </a:pPr>
            <a:r>
              <a:rPr lang="hu-HU" dirty="0">
                <a:solidFill>
                  <a:schemeClr val="bg1"/>
                </a:solidFill>
              </a:rPr>
              <a:t>HETI 1-2 NAP</a:t>
            </a:r>
          </a:p>
          <a:p>
            <a:pPr marL="285750" indent="-285750">
              <a:buFontTx/>
              <a:buChar char="-"/>
            </a:pPr>
            <a:r>
              <a:rPr lang="hu-HU" dirty="0">
                <a:solidFill>
                  <a:schemeClr val="bg1"/>
                </a:solidFill>
              </a:rPr>
              <a:t>BACK-END</a:t>
            </a:r>
          </a:p>
          <a:p>
            <a:pPr marL="285750" indent="-285750">
              <a:buFontTx/>
              <a:buChar char="-"/>
            </a:pPr>
            <a:r>
              <a:rPr lang="hu-HU" dirty="0">
                <a:solidFill>
                  <a:schemeClr val="bg1"/>
                </a:solidFill>
              </a:rPr>
              <a:t>FORRÁSKUTATÁS</a:t>
            </a:r>
          </a:p>
          <a:p>
            <a:pPr marL="285750" indent="-285750">
              <a:buFontTx/>
              <a:buChar char="-"/>
            </a:pPr>
            <a:r>
              <a:rPr lang="hu-HU" dirty="0">
                <a:solidFill>
                  <a:schemeClr val="bg1"/>
                </a:solidFill>
              </a:rPr>
              <a:t>INFRA</a:t>
            </a:r>
          </a:p>
        </p:txBody>
      </p:sp>
      <p:sp>
        <p:nvSpPr>
          <p:cNvPr id="7" name="TextBox 6">
            <a:extLst>
              <a:ext uri="{FF2B5EF4-FFF2-40B4-BE49-F238E27FC236}">
                <a16:creationId xmlns:a16="http://schemas.microsoft.com/office/drawing/2014/main" id="{DB2BB8CC-FCB3-51B6-3777-0628DFF42581}"/>
              </a:ext>
            </a:extLst>
          </p:cNvPr>
          <p:cNvSpPr txBox="1"/>
          <p:nvPr/>
        </p:nvSpPr>
        <p:spPr>
          <a:xfrm>
            <a:off x="7320737" y="3791546"/>
            <a:ext cx="1893467" cy="1477328"/>
          </a:xfrm>
          <a:prstGeom prst="rect">
            <a:avLst/>
          </a:prstGeom>
          <a:noFill/>
        </p:spPr>
        <p:txBody>
          <a:bodyPr wrap="none" rtlCol="0">
            <a:spAutoFit/>
          </a:bodyPr>
          <a:lstStyle/>
          <a:p>
            <a:r>
              <a:rPr lang="hu-HU" dirty="0">
                <a:solidFill>
                  <a:schemeClr val="bg1"/>
                </a:solidFill>
              </a:rPr>
              <a:t>SZULEJ</a:t>
            </a:r>
          </a:p>
          <a:p>
            <a:pPr marL="285750" indent="-285750">
              <a:buFontTx/>
              <a:buChar char="-"/>
            </a:pPr>
            <a:r>
              <a:rPr lang="hu-HU" dirty="0">
                <a:solidFill>
                  <a:schemeClr val="bg1"/>
                </a:solidFill>
              </a:rPr>
              <a:t>63 POSZT</a:t>
            </a:r>
          </a:p>
          <a:p>
            <a:pPr marL="285750" indent="-285750">
              <a:buFontTx/>
              <a:buChar char="-"/>
            </a:pPr>
            <a:r>
              <a:rPr lang="hu-HU" dirty="0">
                <a:solidFill>
                  <a:schemeClr val="bg1"/>
                </a:solidFill>
              </a:rPr>
              <a:t>HAVI 1 NAP</a:t>
            </a:r>
          </a:p>
          <a:p>
            <a:pPr marL="285750" indent="-285750">
              <a:buFontTx/>
              <a:buChar char="-"/>
            </a:pPr>
            <a:r>
              <a:rPr lang="hu-HU" dirty="0">
                <a:solidFill>
                  <a:schemeClr val="bg1"/>
                </a:solidFill>
              </a:rPr>
              <a:t>TUDATOSÍTÁS</a:t>
            </a:r>
          </a:p>
          <a:p>
            <a:pPr marL="285750" indent="-285750">
              <a:buFontTx/>
              <a:buChar char="-"/>
            </a:pPr>
            <a:r>
              <a:rPr lang="hu-HU" dirty="0">
                <a:solidFill>
                  <a:schemeClr val="bg1"/>
                </a:solidFill>
              </a:rPr>
              <a:t>TIPPEK</a:t>
            </a:r>
          </a:p>
        </p:txBody>
      </p:sp>
      <p:sp>
        <p:nvSpPr>
          <p:cNvPr id="8" name="TextBox 7">
            <a:extLst>
              <a:ext uri="{FF2B5EF4-FFF2-40B4-BE49-F238E27FC236}">
                <a16:creationId xmlns:a16="http://schemas.microsoft.com/office/drawing/2014/main" id="{4D105572-6627-22FF-B67B-83B2B9F8C053}"/>
              </a:ext>
            </a:extLst>
          </p:cNvPr>
          <p:cNvSpPr txBox="1"/>
          <p:nvPr/>
        </p:nvSpPr>
        <p:spPr>
          <a:xfrm>
            <a:off x="3389601" y="3791546"/>
            <a:ext cx="1866217" cy="1477328"/>
          </a:xfrm>
          <a:prstGeom prst="rect">
            <a:avLst/>
          </a:prstGeom>
          <a:noFill/>
        </p:spPr>
        <p:txBody>
          <a:bodyPr wrap="none" rtlCol="0">
            <a:spAutoFit/>
          </a:bodyPr>
          <a:lstStyle/>
          <a:p>
            <a:r>
              <a:rPr lang="hu-HU" dirty="0" err="1">
                <a:solidFill>
                  <a:schemeClr val="bg1"/>
                </a:solidFill>
              </a:rPr>
              <a:t>TrainedR</a:t>
            </a:r>
            <a:endParaRPr lang="hu-HU" dirty="0">
              <a:solidFill>
                <a:schemeClr val="bg1"/>
              </a:solidFill>
            </a:endParaRPr>
          </a:p>
          <a:p>
            <a:pPr marL="285750" indent="-285750">
              <a:buFontTx/>
              <a:buChar char="-"/>
            </a:pPr>
            <a:r>
              <a:rPr lang="hu-HU" dirty="0">
                <a:solidFill>
                  <a:schemeClr val="bg1"/>
                </a:solidFill>
              </a:rPr>
              <a:t>941 POSZT</a:t>
            </a:r>
          </a:p>
          <a:p>
            <a:pPr marL="285750" indent="-285750">
              <a:buFontTx/>
              <a:buChar char="-"/>
            </a:pPr>
            <a:r>
              <a:rPr lang="hu-HU" dirty="0">
                <a:solidFill>
                  <a:schemeClr val="bg1"/>
                </a:solidFill>
              </a:rPr>
              <a:t>HETI 1-2 NAP</a:t>
            </a:r>
          </a:p>
          <a:p>
            <a:pPr marL="285750" indent="-285750">
              <a:buFontTx/>
              <a:buChar char="-"/>
            </a:pPr>
            <a:r>
              <a:rPr lang="hu-HU" dirty="0">
                <a:solidFill>
                  <a:schemeClr val="bg1"/>
                </a:solidFill>
              </a:rPr>
              <a:t>SZERKESZTÉS</a:t>
            </a:r>
          </a:p>
          <a:p>
            <a:pPr marL="285750" indent="-285750">
              <a:buFontTx/>
              <a:buChar char="-"/>
            </a:pPr>
            <a:r>
              <a:rPr lang="hu-HU" dirty="0">
                <a:solidFill>
                  <a:schemeClr val="bg1"/>
                </a:solidFill>
              </a:rPr>
              <a:t>STRATÉGIA</a:t>
            </a:r>
          </a:p>
        </p:txBody>
      </p:sp>
      <p:sp>
        <p:nvSpPr>
          <p:cNvPr id="9" name="TextBox 8">
            <a:extLst>
              <a:ext uri="{FF2B5EF4-FFF2-40B4-BE49-F238E27FC236}">
                <a16:creationId xmlns:a16="http://schemas.microsoft.com/office/drawing/2014/main" id="{392DED48-28E1-F052-027F-F4FEA007D2A7}"/>
              </a:ext>
            </a:extLst>
          </p:cNvPr>
          <p:cNvSpPr txBox="1"/>
          <p:nvPr/>
        </p:nvSpPr>
        <p:spPr>
          <a:xfrm>
            <a:off x="3924530" y="1866125"/>
            <a:ext cx="1553823" cy="1200329"/>
          </a:xfrm>
          <a:prstGeom prst="rect">
            <a:avLst/>
          </a:prstGeom>
          <a:noFill/>
        </p:spPr>
        <p:txBody>
          <a:bodyPr wrap="none" rtlCol="0">
            <a:spAutoFit/>
          </a:bodyPr>
          <a:lstStyle/>
          <a:p>
            <a:r>
              <a:rPr lang="hu-HU" dirty="0">
                <a:solidFill>
                  <a:schemeClr val="bg1"/>
                </a:solidFill>
              </a:rPr>
              <a:t>gh0o5t</a:t>
            </a:r>
          </a:p>
          <a:p>
            <a:pPr marL="285750" indent="-285750">
              <a:buFontTx/>
              <a:buChar char="-"/>
            </a:pPr>
            <a:r>
              <a:rPr lang="hu-HU" dirty="0">
                <a:solidFill>
                  <a:schemeClr val="bg1"/>
                </a:solidFill>
              </a:rPr>
              <a:t>BACK-END</a:t>
            </a:r>
          </a:p>
          <a:p>
            <a:pPr marL="285750" indent="-285750">
              <a:buFontTx/>
              <a:buChar char="-"/>
            </a:pPr>
            <a:r>
              <a:rPr lang="hu-HU" dirty="0">
                <a:solidFill>
                  <a:schemeClr val="bg1"/>
                </a:solidFill>
              </a:rPr>
              <a:t>OPENCTI</a:t>
            </a:r>
          </a:p>
          <a:p>
            <a:pPr marL="285750" indent="-285750">
              <a:buFontTx/>
              <a:buChar char="-"/>
            </a:pPr>
            <a:r>
              <a:rPr lang="hu-HU" dirty="0">
                <a:solidFill>
                  <a:schemeClr val="bg1"/>
                </a:solidFill>
              </a:rPr>
              <a:t>INFRA</a:t>
            </a:r>
          </a:p>
        </p:txBody>
      </p:sp>
    </p:spTree>
    <p:extLst>
      <p:ext uri="{BB962C8B-B14F-4D97-AF65-F5344CB8AC3E}">
        <p14:creationId xmlns:p14="http://schemas.microsoft.com/office/powerpoint/2010/main" val="10067900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D2B6620E-CC54-212B-EBD7-9559AF5908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6FF17A8-2A06-5C7C-FFD6-5D761233B5BC}"/>
              </a:ext>
            </a:extLst>
          </p:cNvPr>
          <p:cNvSpPr txBox="1"/>
          <p:nvPr/>
        </p:nvSpPr>
        <p:spPr>
          <a:xfrm>
            <a:off x="2143125" y="374937"/>
            <a:ext cx="2219325" cy="769441"/>
          </a:xfrm>
          <a:prstGeom prst="rect">
            <a:avLst/>
          </a:prstGeom>
          <a:noFill/>
        </p:spPr>
        <p:txBody>
          <a:bodyPr wrap="none" rtlCol="0">
            <a:spAutoFit/>
          </a:bodyPr>
          <a:lstStyle/>
          <a:p>
            <a:r>
              <a:rPr lang="hu-HU" sz="4400" dirty="0">
                <a:solidFill>
                  <a:schemeClr val="bg1"/>
                </a:solidFill>
              </a:rPr>
              <a:t>Mennyi?</a:t>
            </a:r>
          </a:p>
        </p:txBody>
      </p:sp>
      <p:pic>
        <p:nvPicPr>
          <p:cNvPr id="4" name="Picture 3">
            <a:extLst>
              <a:ext uri="{FF2B5EF4-FFF2-40B4-BE49-F238E27FC236}">
                <a16:creationId xmlns:a16="http://schemas.microsoft.com/office/drawing/2014/main" id="{893355B3-F559-3E93-4D91-E8D27286030F}"/>
              </a:ext>
            </a:extLst>
          </p:cNvPr>
          <p:cNvPicPr>
            <a:picLocks noChangeAspect="1"/>
          </p:cNvPicPr>
          <p:nvPr/>
        </p:nvPicPr>
        <p:blipFill>
          <a:blip r:embed="rId4"/>
          <a:stretch>
            <a:fillRect/>
          </a:stretch>
        </p:blipFill>
        <p:spPr>
          <a:xfrm>
            <a:off x="5399727" y="3642917"/>
            <a:ext cx="6792273" cy="3215083"/>
          </a:xfrm>
          <a:prstGeom prst="rect">
            <a:avLst/>
          </a:prstGeom>
        </p:spPr>
      </p:pic>
      <p:pic>
        <p:nvPicPr>
          <p:cNvPr id="8" name="Picture 7">
            <a:extLst>
              <a:ext uri="{FF2B5EF4-FFF2-40B4-BE49-F238E27FC236}">
                <a16:creationId xmlns:a16="http://schemas.microsoft.com/office/drawing/2014/main" id="{D6705985-3E09-6157-0A44-24AF983EE7D9}"/>
              </a:ext>
            </a:extLst>
          </p:cNvPr>
          <p:cNvPicPr>
            <a:picLocks noChangeAspect="1"/>
          </p:cNvPicPr>
          <p:nvPr/>
        </p:nvPicPr>
        <p:blipFill>
          <a:blip r:embed="rId5"/>
          <a:stretch>
            <a:fillRect/>
          </a:stretch>
        </p:blipFill>
        <p:spPr>
          <a:xfrm>
            <a:off x="5399727" y="0"/>
            <a:ext cx="6792273" cy="3215083"/>
          </a:xfrm>
          <a:prstGeom prst="rect">
            <a:avLst/>
          </a:prstGeom>
        </p:spPr>
      </p:pic>
      <p:pic>
        <p:nvPicPr>
          <p:cNvPr id="10" name="Picture 9">
            <a:extLst>
              <a:ext uri="{FF2B5EF4-FFF2-40B4-BE49-F238E27FC236}">
                <a16:creationId xmlns:a16="http://schemas.microsoft.com/office/drawing/2014/main" id="{A0BA7FD2-C86F-1F74-BB64-405C8CD46A44}"/>
              </a:ext>
            </a:extLst>
          </p:cNvPr>
          <p:cNvPicPr>
            <a:picLocks noChangeAspect="1"/>
          </p:cNvPicPr>
          <p:nvPr/>
        </p:nvPicPr>
        <p:blipFill>
          <a:blip r:embed="rId6"/>
          <a:stretch>
            <a:fillRect/>
          </a:stretch>
        </p:blipFill>
        <p:spPr>
          <a:xfrm>
            <a:off x="0" y="3642917"/>
            <a:ext cx="5344271" cy="3215083"/>
          </a:xfrm>
          <a:prstGeom prst="rect">
            <a:avLst/>
          </a:prstGeom>
        </p:spPr>
      </p:pic>
      <p:sp>
        <p:nvSpPr>
          <p:cNvPr id="14" name="TextBox 13">
            <a:extLst>
              <a:ext uri="{FF2B5EF4-FFF2-40B4-BE49-F238E27FC236}">
                <a16:creationId xmlns:a16="http://schemas.microsoft.com/office/drawing/2014/main" id="{DAFF1E2B-5509-1DC4-BA45-B01D7060FF86}"/>
              </a:ext>
            </a:extLst>
          </p:cNvPr>
          <p:cNvSpPr txBox="1"/>
          <p:nvPr/>
        </p:nvSpPr>
        <p:spPr>
          <a:xfrm>
            <a:off x="2217257" y="1265962"/>
            <a:ext cx="2838211" cy="1754326"/>
          </a:xfrm>
          <a:prstGeom prst="rect">
            <a:avLst/>
          </a:prstGeom>
          <a:noFill/>
        </p:spPr>
        <p:txBody>
          <a:bodyPr wrap="square">
            <a:spAutoFit/>
          </a:bodyPr>
          <a:lstStyle/>
          <a:p>
            <a:r>
              <a:rPr lang="hu-HU" dirty="0">
                <a:solidFill>
                  <a:schemeClr val="bg1"/>
                </a:solidFill>
              </a:rPr>
              <a:t>TOP 3 KATEGÓRIA</a:t>
            </a:r>
          </a:p>
          <a:p>
            <a:pPr marL="285750" indent="-285750">
              <a:buFontTx/>
              <a:buChar char="-"/>
            </a:pPr>
            <a:r>
              <a:rPr lang="hu-HU" dirty="0">
                <a:solidFill>
                  <a:schemeClr val="bg1"/>
                </a:solidFill>
              </a:rPr>
              <a:t>EDITORS’ PICK</a:t>
            </a:r>
          </a:p>
          <a:p>
            <a:pPr marL="285750" indent="-285750">
              <a:buFontTx/>
              <a:buChar char="-"/>
            </a:pPr>
            <a:r>
              <a:rPr lang="hu-HU" dirty="0">
                <a:solidFill>
                  <a:schemeClr val="bg1"/>
                </a:solidFill>
              </a:rPr>
              <a:t>SÉRÜLÉKENYSÉGEK</a:t>
            </a:r>
          </a:p>
          <a:p>
            <a:pPr marL="285750" indent="-285750">
              <a:buFontTx/>
              <a:buChar char="-"/>
            </a:pPr>
            <a:r>
              <a:rPr lang="hu-HU" dirty="0">
                <a:solidFill>
                  <a:schemeClr val="bg1"/>
                </a:solidFill>
              </a:rPr>
              <a:t>HÍREK</a:t>
            </a:r>
          </a:p>
          <a:p>
            <a:pPr marL="285750" indent="-285750">
              <a:buFontTx/>
              <a:buChar char="-"/>
            </a:pPr>
            <a:endParaRPr lang="hu-HU" dirty="0">
              <a:solidFill>
                <a:schemeClr val="bg1"/>
              </a:solidFill>
            </a:endParaRPr>
          </a:p>
          <a:p>
            <a:r>
              <a:rPr lang="hu-HU" dirty="0">
                <a:solidFill>
                  <a:schemeClr val="bg1"/>
                </a:solidFill>
              </a:rPr>
              <a:t>15.310 OLDALLETÖLTÉS</a:t>
            </a:r>
          </a:p>
        </p:txBody>
      </p:sp>
      <p:sp>
        <p:nvSpPr>
          <p:cNvPr id="16" name="TextBox 15">
            <a:extLst>
              <a:ext uri="{FF2B5EF4-FFF2-40B4-BE49-F238E27FC236}">
                <a16:creationId xmlns:a16="http://schemas.microsoft.com/office/drawing/2014/main" id="{02961A0F-5B4C-A885-33FE-CF2D6EA868D5}"/>
              </a:ext>
            </a:extLst>
          </p:cNvPr>
          <p:cNvSpPr txBox="1"/>
          <p:nvPr/>
        </p:nvSpPr>
        <p:spPr>
          <a:xfrm>
            <a:off x="2143125" y="2386293"/>
            <a:ext cx="6094378" cy="369332"/>
          </a:xfrm>
          <a:prstGeom prst="rect">
            <a:avLst/>
          </a:prstGeom>
          <a:noFill/>
        </p:spPr>
        <p:txBody>
          <a:bodyPr wrap="square">
            <a:spAutoFit/>
          </a:bodyPr>
          <a:lstStyle/>
          <a:p>
            <a:r>
              <a:rPr lang="hu-HU" sz="1800" b="0" i="0" u="none" strike="noStrike" baseline="0" dirty="0">
                <a:solidFill>
                  <a:schemeClr val="bg1"/>
                </a:solidFill>
              </a:rPr>
              <a:t>2023. okt. 1.–2024. ápr. 5.</a:t>
            </a:r>
            <a:endParaRPr lang="hu-HU" dirty="0">
              <a:solidFill>
                <a:schemeClr val="bg1"/>
              </a:solidFill>
            </a:endParaRPr>
          </a:p>
        </p:txBody>
      </p:sp>
    </p:spTree>
    <p:extLst>
      <p:ext uri="{BB962C8B-B14F-4D97-AF65-F5344CB8AC3E}">
        <p14:creationId xmlns:p14="http://schemas.microsoft.com/office/powerpoint/2010/main" val="9129240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D2B6620E-CC54-212B-EBD7-9559AF5908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6FF17A8-2A06-5C7C-FFD6-5D761233B5BC}"/>
              </a:ext>
            </a:extLst>
          </p:cNvPr>
          <p:cNvSpPr txBox="1"/>
          <p:nvPr/>
        </p:nvSpPr>
        <p:spPr>
          <a:xfrm>
            <a:off x="2252707" y="302121"/>
            <a:ext cx="1948419" cy="769441"/>
          </a:xfrm>
          <a:prstGeom prst="rect">
            <a:avLst/>
          </a:prstGeom>
          <a:noFill/>
        </p:spPr>
        <p:txBody>
          <a:bodyPr wrap="none" rtlCol="0">
            <a:spAutoFit/>
          </a:bodyPr>
          <a:lstStyle/>
          <a:p>
            <a:r>
              <a:rPr lang="hu-HU" sz="4400" dirty="0">
                <a:solidFill>
                  <a:schemeClr val="bg1"/>
                </a:solidFill>
              </a:rPr>
              <a:t>CTI </a:t>
            </a:r>
            <a:r>
              <a:rPr lang="hu-HU" sz="1100" dirty="0">
                <a:solidFill>
                  <a:schemeClr val="bg1"/>
                </a:solidFill>
              </a:rPr>
              <a:t>(na jó, nem is)</a:t>
            </a:r>
          </a:p>
        </p:txBody>
      </p:sp>
      <p:sp>
        <p:nvSpPr>
          <p:cNvPr id="7" name="TextBox 6">
            <a:extLst>
              <a:ext uri="{FF2B5EF4-FFF2-40B4-BE49-F238E27FC236}">
                <a16:creationId xmlns:a16="http://schemas.microsoft.com/office/drawing/2014/main" id="{8FA0CC15-FD6A-EDCB-9EE7-FAED754C4421}"/>
              </a:ext>
            </a:extLst>
          </p:cNvPr>
          <p:cNvSpPr txBox="1"/>
          <p:nvPr/>
        </p:nvSpPr>
        <p:spPr>
          <a:xfrm>
            <a:off x="2117774" y="1230348"/>
            <a:ext cx="4278864" cy="1200329"/>
          </a:xfrm>
          <a:prstGeom prst="rect">
            <a:avLst/>
          </a:prstGeom>
          <a:noFill/>
        </p:spPr>
        <p:txBody>
          <a:bodyPr wrap="none" rtlCol="0">
            <a:spAutoFit/>
          </a:bodyPr>
          <a:lstStyle/>
          <a:p>
            <a:r>
              <a:rPr lang="hu-HU" dirty="0">
                <a:solidFill>
                  <a:schemeClr val="bg1"/>
                </a:solidFill>
              </a:rPr>
              <a:t>STATISZTIKA</a:t>
            </a:r>
          </a:p>
          <a:p>
            <a:pPr marL="285750" indent="-285750">
              <a:buFontTx/>
              <a:buChar char="-"/>
            </a:pPr>
            <a:r>
              <a:rPr lang="en-GB" dirty="0">
                <a:solidFill>
                  <a:schemeClr val="bg1"/>
                </a:solidFill>
              </a:rPr>
              <a:t>7273</a:t>
            </a:r>
            <a:r>
              <a:rPr lang="hu-HU" dirty="0">
                <a:solidFill>
                  <a:schemeClr val="bg1"/>
                </a:solidFill>
              </a:rPr>
              <a:t> MAGYAR NYELVŰ POSZT</a:t>
            </a:r>
          </a:p>
          <a:p>
            <a:pPr marL="285750" indent="-285750">
              <a:buFontTx/>
              <a:buChar char="-"/>
            </a:pPr>
            <a:r>
              <a:rPr lang="en-GB" dirty="0">
                <a:solidFill>
                  <a:schemeClr val="bg1"/>
                </a:solidFill>
              </a:rPr>
              <a:t>169</a:t>
            </a:r>
            <a:r>
              <a:rPr lang="hu-HU" dirty="0">
                <a:solidFill>
                  <a:schemeClr val="bg1"/>
                </a:solidFill>
              </a:rPr>
              <a:t>.</a:t>
            </a:r>
            <a:r>
              <a:rPr lang="en-GB" dirty="0">
                <a:solidFill>
                  <a:schemeClr val="bg1"/>
                </a:solidFill>
              </a:rPr>
              <a:t>075</a:t>
            </a:r>
            <a:r>
              <a:rPr lang="hu-HU" dirty="0">
                <a:solidFill>
                  <a:schemeClr val="bg1"/>
                </a:solidFill>
              </a:rPr>
              <a:t> PAGEVIEW AZ ELMÚLT ÉVBEN</a:t>
            </a:r>
          </a:p>
          <a:p>
            <a:pPr marL="285750" indent="-285750">
              <a:buFontTx/>
              <a:buChar char="-"/>
            </a:pPr>
            <a:endParaRPr lang="hu-HU" dirty="0">
              <a:solidFill>
                <a:schemeClr val="bg1"/>
              </a:solidFill>
            </a:endParaRPr>
          </a:p>
        </p:txBody>
      </p:sp>
      <p:graphicFrame>
        <p:nvGraphicFramePr>
          <p:cNvPr id="3" name="Chart 2">
            <a:extLst>
              <a:ext uri="{FF2B5EF4-FFF2-40B4-BE49-F238E27FC236}">
                <a16:creationId xmlns:a16="http://schemas.microsoft.com/office/drawing/2014/main" id="{DABABCEA-6DFE-E17E-13CC-48412F12E4DC}"/>
              </a:ext>
            </a:extLst>
          </p:cNvPr>
          <p:cNvGraphicFramePr>
            <a:graphicFrameLocks/>
          </p:cNvGraphicFramePr>
          <p:nvPr>
            <p:extLst>
              <p:ext uri="{D42A27DB-BD31-4B8C-83A1-F6EECF244321}">
                <p14:modId xmlns:p14="http://schemas.microsoft.com/office/powerpoint/2010/main" val="2831243181"/>
              </p:ext>
            </p:extLst>
          </p:nvPr>
        </p:nvGraphicFramePr>
        <p:xfrm>
          <a:off x="6194853" y="3550596"/>
          <a:ext cx="5708143" cy="330740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9" name="Chart 8">
            <a:extLst>
              <a:ext uri="{FF2B5EF4-FFF2-40B4-BE49-F238E27FC236}">
                <a16:creationId xmlns:a16="http://schemas.microsoft.com/office/drawing/2014/main" id="{9E67A5D9-24FD-03E7-1A97-AD3B0D3397DC}"/>
              </a:ext>
            </a:extLst>
          </p:cNvPr>
          <p:cNvGraphicFramePr>
            <a:graphicFrameLocks/>
          </p:cNvGraphicFramePr>
          <p:nvPr>
            <p:extLst>
              <p:ext uri="{D42A27DB-BD31-4B8C-83A1-F6EECF244321}">
                <p14:modId xmlns:p14="http://schemas.microsoft.com/office/powerpoint/2010/main" val="3942975324"/>
              </p:ext>
            </p:extLst>
          </p:nvPr>
        </p:nvGraphicFramePr>
        <p:xfrm>
          <a:off x="6371287" y="0"/>
          <a:ext cx="5531709" cy="3305431"/>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0" name="Chart 9">
            <a:extLst>
              <a:ext uri="{FF2B5EF4-FFF2-40B4-BE49-F238E27FC236}">
                <a16:creationId xmlns:a16="http://schemas.microsoft.com/office/drawing/2014/main" id="{0418ED0E-571D-8209-5A04-7BC4CE207BFF}"/>
              </a:ext>
            </a:extLst>
          </p:cNvPr>
          <p:cNvGraphicFramePr>
            <a:graphicFrameLocks/>
          </p:cNvGraphicFramePr>
          <p:nvPr>
            <p:extLst>
              <p:ext uri="{D42A27DB-BD31-4B8C-83A1-F6EECF244321}">
                <p14:modId xmlns:p14="http://schemas.microsoft.com/office/powerpoint/2010/main" val="4074383678"/>
              </p:ext>
            </p:extLst>
          </p:nvPr>
        </p:nvGraphicFramePr>
        <p:xfrm>
          <a:off x="153078" y="2430677"/>
          <a:ext cx="5844069" cy="4340825"/>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42550610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7A9FCD1-FE91-F93E-2920-4A7400B11BA2}"/>
            </a:ext>
          </a:extLst>
        </p:cNvPr>
        <p:cNvGrpSpPr/>
        <p:nvPr/>
      </p:nvGrpSpPr>
      <p:grpSpPr>
        <a:xfrm>
          <a:off x="0" y="0"/>
          <a:ext cx="0" cy="0"/>
          <a:chOff x="0" y="0"/>
          <a:chExt cx="0" cy="0"/>
        </a:xfrm>
      </p:grpSpPr>
      <p:pic>
        <p:nvPicPr>
          <p:cNvPr id="5" name="Picture 2">
            <a:extLst>
              <a:ext uri="{FF2B5EF4-FFF2-40B4-BE49-F238E27FC236}">
                <a16:creationId xmlns:a16="http://schemas.microsoft.com/office/drawing/2014/main" id="{818C1728-D9B2-E566-147E-AA5FF50911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BC98695-B047-E740-7A7E-8A63C800F618}"/>
              </a:ext>
            </a:extLst>
          </p:cNvPr>
          <p:cNvSpPr txBox="1"/>
          <p:nvPr/>
        </p:nvSpPr>
        <p:spPr>
          <a:xfrm>
            <a:off x="2477432" y="370214"/>
            <a:ext cx="4232954" cy="769441"/>
          </a:xfrm>
          <a:prstGeom prst="rect">
            <a:avLst/>
          </a:prstGeom>
          <a:noFill/>
        </p:spPr>
        <p:txBody>
          <a:bodyPr wrap="none" rtlCol="0">
            <a:spAutoFit/>
          </a:bodyPr>
          <a:lstStyle/>
          <a:p>
            <a:r>
              <a:rPr lang="hu-HU" sz="4400" dirty="0">
                <a:solidFill>
                  <a:schemeClr val="bg1"/>
                </a:solidFill>
              </a:rPr>
              <a:t>CTI INTEGRÁCIÓ</a:t>
            </a:r>
          </a:p>
        </p:txBody>
      </p:sp>
      <p:pic>
        <p:nvPicPr>
          <p:cNvPr id="3074" name="Picture 2" descr="Cyber Threat Intelligence tool endorsed by ANSSI | Interoperable Europe  Portal">
            <a:extLst>
              <a:ext uri="{FF2B5EF4-FFF2-40B4-BE49-F238E27FC236}">
                <a16:creationId xmlns:a16="http://schemas.microsoft.com/office/drawing/2014/main" id="{BAD343B6-7773-BB1D-DA1D-0422DE1073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62161" y="2157684"/>
            <a:ext cx="4338639" cy="1300163"/>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a:extLst>
              <a:ext uri="{FF2B5EF4-FFF2-40B4-BE49-F238E27FC236}">
                <a16:creationId xmlns:a16="http://schemas.microsoft.com/office/drawing/2014/main" id="{9F597549-1C95-E740-AF95-64AAE85F3E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99334" y="370214"/>
            <a:ext cx="893735" cy="89373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D67B0DC-25C5-EB1C-D48C-981D63DE9E53}"/>
              </a:ext>
            </a:extLst>
          </p:cNvPr>
          <p:cNvSpPr txBox="1"/>
          <p:nvPr/>
        </p:nvSpPr>
        <p:spPr>
          <a:xfrm>
            <a:off x="8872780" y="1773793"/>
            <a:ext cx="1346844" cy="369332"/>
          </a:xfrm>
          <a:prstGeom prst="rect">
            <a:avLst/>
          </a:prstGeom>
          <a:noFill/>
        </p:spPr>
        <p:txBody>
          <a:bodyPr wrap="none" rtlCol="0">
            <a:spAutoFit/>
          </a:bodyPr>
          <a:lstStyle/>
          <a:p>
            <a:r>
              <a:rPr lang="hu-HU" dirty="0">
                <a:solidFill>
                  <a:schemeClr val="bg1"/>
                </a:solidFill>
              </a:rPr>
              <a:t>CÍMKE: IOC</a:t>
            </a:r>
            <a:endParaRPr lang="en-GB" dirty="0">
              <a:solidFill>
                <a:schemeClr val="bg1"/>
              </a:solidFill>
            </a:endParaRPr>
          </a:p>
        </p:txBody>
      </p:sp>
      <p:sp>
        <p:nvSpPr>
          <p:cNvPr id="9" name="TextBox 8">
            <a:extLst>
              <a:ext uri="{FF2B5EF4-FFF2-40B4-BE49-F238E27FC236}">
                <a16:creationId xmlns:a16="http://schemas.microsoft.com/office/drawing/2014/main" id="{8DC7D38E-55B2-1537-350D-4E9B663208BC}"/>
              </a:ext>
            </a:extLst>
          </p:cNvPr>
          <p:cNvSpPr txBox="1"/>
          <p:nvPr/>
        </p:nvSpPr>
        <p:spPr>
          <a:xfrm>
            <a:off x="8465679" y="2654114"/>
            <a:ext cx="2161046" cy="369332"/>
          </a:xfrm>
          <a:prstGeom prst="rect">
            <a:avLst/>
          </a:prstGeom>
          <a:noFill/>
        </p:spPr>
        <p:txBody>
          <a:bodyPr wrap="square">
            <a:spAutoFit/>
          </a:bodyPr>
          <a:lstStyle/>
          <a:p>
            <a:r>
              <a:rPr lang="hu-HU" dirty="0">
                <a:solidFill>
                  <a:schemeClr val="bg1"/>
                </a:solidFill>
              </a:rPr>
              <a:t>OPEN CTI SZERVER</a:t>
            </a:r>
          </a:p>
        </p:txBody>
      </p:sp>
      <p:sp>
        <p:nvSpPr>
          <p:cNvPr id="10" name="TextBox 9">
            <a:extLst>
              <a:ext uri="{FF2B5EF4-FFF2-40B4-BE49-F238E27FC236}">
                <a16:creationId xmlns:a16="http://schemas.microsoft.com/office/drawing/2014/main" id="{94D80D7D-2644-69C1-551F-C1D33C8E3410}"/>
              </a:ext>
            </a:extLst>
          </p:cNvPr>
          <p:cNvSpPr txBox="1"/>
          <p:nvPr/>
        </p:nvSpPr>
        <p:spPr>
          <a:xfrm>
            <a:off x="8479114" y="3534435"/>
            <a:ext cx="2134174" cy="369332"/>
          </a:xfrm>
          <a:prstGeom prst="rect">
            <a:avLst/>
          </a:prstGeom>
          <a:noFill/>
        </p:spPr>
        <p:txBody>
          <a:bodyPr wrap="none" rtlCol="0">
            <a:spAutoFit/>
          </a:bodyPr>
          <a:lstStyle/>
          <a:p>
            <a:r>
              <a:rPr lang="hu-HU" dirty="0">
                <a:solidFill>
                  <a:schemeClr val="bg1"/>
                </a:solidFill>
              </a:rPr>
              <a:t>IOC FELDOLGOZÁS</a:t>
            </a:r>
            <a:endParaRPr lang="en-GB" dirty="0">
              <a:solidFill>
                <a:schemeClr val="bg1"/>
              </a:solidFill>
            </a:endParaRPr>
          </a:p>
        </p:txBody>
      </p:sp>
      <p:sp>
        <p:nvSpPr>
          <p:cNvPr id="11" name="TextBox 10">
            <a:extLst>
              <a:ext uri="{FF2B5EF4-FFF2-40B4-BE49-F238E27FC236}">
                <a16:creationId xmlns:a16="http://schemas.microsoft.com/office/drawing/2014/main" id="{D391B140-B7AA-7831-9475-B1925C23E5FF}"/>
              </a:ext>
            </a:extLst>
          </p:cNvPr>
          <p:cNvSpPr txBox="1"/>
          <p:nvPr/>
        </p:nvSpPr>
        <p:spPr>
          <a:xfrm>
            <a:off x="8727623" y="4414756"/>
            <a:ext cx="1637155" cy="369332"/>
          </a:xfrm>
          <a:prstGeom prst="rect">
            <a:avLst/>
          </a:prstGeom>
          <a:noFill/>
        </p:spPr>
        <p:txBody>
          <a:bodyPr wrap="square">
            <a:spAutoFit/>
          </a:bodyPr>
          <a:lstStyle/>
          <a:p>
            <a:r>
              <a:rPr lang="hu-HU" dirty="0">
                <a:solidFill>
                  <a:schemeClr val="bg1"/>
                </a:solidFill>
              </a:rPr>
              <a:t>ENRICHMENT</a:t>
            </a:r>
          </a:p>
        </p:txBody>
      </p:sp>
      <p:sp>
        <p:nvSpPr>
          <p:cNvPr id="12" name="TextBox 11">
            <a:extLst>
              <a:ext uri="{FF2B5EF4-FFF2-40B4-BE49-F238E27FC236}">
                <a16:creationId xmlns:a16="http://schemas.microsoft.com/office/drawing/2014/main" id="{D9279ACC-BFD5-A941-EB08-7701A84BF16E}"/>
              </a:ext>
            </a:extLst>
          </p:cNvPr>
          <p:cNvSpPr txBox="1"/>
          <p:nvPr/>
        </p:nvSpPr>
        <p:spPr>
          <a:xfrm>
            <a:off x="8770186" y="5295077"/>
            <a:ext cx="1552028" cy="369332"/>
          </a:xfrm>
          <a:prstGeom prst="rect">
            <a:avLst/>
          </a:prstGeom>
          <a:noFill/>
        </p:spPr>
        <p:txBody>
          <a:bodyPr wrap="none" rtlCol="0">
            <a:spAutoFit/>
          </a:bodyPr>
          <a:lstStyle/>
          <a:p>
            <a:r>
              <a:rPr lang="hu-HU" dirty="0">
                <a:solidFill>
                  <a:schemeClr val="bg1"/>
                </a:solidFill>
              </a:rPr>
              <a:t>PUBLIKÁCIÓ?</a:t>
            </a:r>
            <a:endParaRPr lang="en-GB" dirty="0">
              <a:solidFill>
                <a:schemeClr val="bg1"/>
              </a:solidFill>
            </a:endParaRPr>
          </a:p>
        </p:txBody>
      </p:sp>
      <p:sp>
        <p:nvSpPr>
          <p:cNvPr id="13" name="Arrow: Down 12">
            <a:extLst>
              <a:ext uri="{FF2B5EF4-FFF2-40B4-BE49-F238E27FC236}">
                <a16:creationId xmlns:a16="http://schemas.microsoft.com/office/drawing/2014/main" id="{F6C543A2-D56D-0686-4D03-3FE40BCAE22D}"/>
              </a:ext>
            </a:extLst>
          </p:cNvPr>
          <p:cNvSpPr/>
          <p:nvPr/>
        </p:nvSpPr>
        <p:spPr>
          <a:xfrm>
            <a:off x="9364095" y="1263949"/>
            <a:ext cx="364210" cy="509844"/>
          </a:xfrm>
          <a:prstGeom prst="downArrow">
            <a:avLst/>
          </a:prstGeom>
          <a:solidFill>
            <a:srgbClr val="FF3F5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sp>
        <p:nvSpPr>
          <p:cNvPr id="14" name="Arrow: Down 13">
            <a:extLst>
              <a:ext uri="{FF2B5EF4-FFF2-40B4-BE49-F238E27FC236}">
                <a16:creationId xmlns:a16="http://schemas.microsoft.com/office/drawing/2014/main" id="{E864F388-B9CF-1610-5FE7-ABCA0A61B91D}"/>
              </a:ext>
            </a:extLst>
          </p:cNvPr>
          <p:cNvSpPr/>
          <p:nvPr/>
        </p:nvSpPr>
        <p:spPr>
          <a:xfrm>
            <a:off x="9364095" y="2157684"/>
            <a:ext cx="364210" cy="509844"/>
          </a:xfrm>
          <a:prstGeom prst="downArrow">
            <a:avLst/>
          </a:prstGeom>
          <a:solidFill>
            <a:srgbClr val="FF3F5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sp>
        <p:nvSpPr>
          <p:cNvPr id="15" name="Arrow: Down 14">
            <a:extLst>
              <a:ext uri="{FF2B5EF4-FFF2-40B4-BE49-F238E27FC236}">
                <a16:creationId xmlns:a16="http://schemas.microsoft.com/office/drawing/2014/main" id="{9A78F701-E075-BB92-4FCA-454B4DD120A7}"/>
              </a:ext>
            </a:extLst>
          </p:cNvPr>
          <p:cNvSpPr/>
          <p:nvPr/>
        </p:nvSpPr>
        <p:spPr>
          <a:xfrm>
            <a:off x="9364095" y="3023446"/>
            <a:ext cx="364210" cy="509844"/>
          </a:xfrm>
          <a:prstGeom prst="downArrow">
            <a:avLst/>
          </a:prstGeom>
          <a:solidFill>
            <a:srgbClr val="FF3F5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sp>
        <p:nvSpPr>
          <p:cNvPr id="16" name="Arrow: Down 15">
            <a:extLst>
              <a:ext uri="{FF2B5EF4-FFF2-40B4-BE49-F238E27FC236}">
                <a16:creationId xmlns:a16="http://schemas.microsoft.com/office/drawing/2014/main" id="{10A71E41-27E9-2AF0-3FDA-CE4BAD21059D}"/>
              </a:ext>
            </a:extLst>
          </p:cNvPr>
          <p:cNvSpPr/>
          <p:nvPr/>
        </p:nvSpPr>
        <p:spPr>
          <a:xfrm>
            <a:off x="9364095" y="3904912"/>
            <a:ext cx="364210" cy="509844"/>
          </a:xfrm>
          <a:prstGeom prst="downArrow">
            <a:avLst/>
          </a:prstGeom>
          <a:solidFill>
            <a:srgbClr val="FF3F5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sp>
        <p:nvSpPr>
          <p:cNvPr id="17" name="Arrow: Down 16">
            <a:extLst>
              <a:ext uri="{FF2B5EF4-FFF2-40B4-BE49-F238E27FC236}">
                <a16:creationId xmlns:a16="http://schemas.microsoft.com/office/drawing/2014/main" id="{D1202ADF-5846-49B2-1749-7EB9A5D50F0A}"/>
              </a:ext>
            </a:extLst>
          </p:cNvPr>
          <p:cNvSpPr/>
          <p:nvPr/>
        </p:nvSpPr>
        <p:spPr>
          <a:xfrm>
            <a:off x="9367214" y="4784088"/>
            <a:ext cx="364210" cy="509844"/>
          </a:xfrm>
          <a:prstGeom prst="downArrow">
            <a:avLst/>
          </a:prstGeom>
          <a:solidFill>
            <a:srgbClr val="FF3F5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pic>
        <p:nvPicPr>
          <p:cNvPr id="3076" name="Picture 4" descr="MineMeld: threat intelligence automation – connect to STIX/TAXII service  [5] – Scubarda">
            <a:extLst>
              <a:ext uri="{FF2B5EF4-FFF2-40B4-BE49-F238E27FC236}">
                <a16:creationId xmlns:a16="http://schemas.microsoft.com/office/drawing/2014/main" id="{3B494797-707C-8502-A89B-1C8C4A69706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6403" y="3533290"/>
            <a:ext cx="2847975" cy="2514600"/>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YARA Rules in Cyber Threat Intelligence | by Chad Warner | Medium">
            <a:extLst>
              <a:ext uri="{FF2B5EF4-FFF2-40B4-BE49-F238E27FC236}">
                <a16:creationId xmlns:a16="http://schemas.microsoft.com/office/drawing/2014/main" id="{F113945B-2D83-F38C-B900-79FE721912B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49359" y="4013583"/>
            <a:ext cx="3224783" cy="15410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48225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E7909FF-5356-5D12-7C42-D35D14E6FBB3}"/>
            </a:ext>
          </a:extLst>
        </p:cNvPr>
        <p:cNvGrpSpPr/>
        <p:nvPr/>
      </p:nvGrpSpPr>
      <p:grpSpPr>
        <a:xfrm>
          <a:off x="0" y="0"/>
          <a:ext cx="0" cy="0"/>
          <a:chOff x="0" y="0"/>
          <a:chExt cx="0" cy="0"/>
        </a:xfrm>
      </p:grpSpPr>
      <p:pic>
        <p:nvPicPr>
          <p:cNvPr id="5" name="Picture 2">
            <a:extLst>
              <a:ext uri="{FF2B5EF4-FFF2-40B4-BE49-F238E27FC236}">
                <a16:creationId xmlns:a16="http://schemas.microsoft.com/office/drawing/2014/main" id="{CD419ED7-144E-57D7-36BE-2AC32478DA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E682B91-754D-E6DA-CF33-CBC6BD1801BA}"/>
              </a:ext>
            </a:extLst>
          </p:cNvPr>
          <p:cNvSpPr txBox="1"/>
          <p:nvPr/>
        </p:nvSpPr>
        <p:spPr>
          <a:xfrm>
            <a:off x="2198462" y="314338"/>
            <a:ext cx="4121834" cy="769441"/>
          </a:xfrm>
          <a:prstGeom prst="rect">
            <a:avLst/>
          </a:prstGeom>
          <a:noFill/>
        </p:spPr>
        <p:txBody>
          <a:bodyPr wrap="none" rtlCol="0">
            <a:spAutoFit/>
          </a:bodyPr>
          <a:lstStyle/>
          <a:p>
            <a:r>
              <a:rPr lang="hu-HU" sz="4400" dirty="0">
                <a:solidFill>
                  <a:schemeClr val="bg1"/>
                </a:solidFill>
              </a:rPr>
              <a:t>CTI TÁMOGATÁS</a:t>
            </a:r>
          </a:p>
        </p:txBody>
      </p:sp>
      <p:graphicFrame>
        <p:nvGraphicFramePr>
          <p:cNvPr id="7" name="Table 6">
            <a:extLst>
              <a:ext uri="{FF2B5EF4-FFF2-40B4-BE49-F238E27FC236}">
                <a16:creationId xmlns:a16="http://schemas.microsoft.com/office/drawing/2014/main" id="{8DB48E84-4F9B-8EA1-D566-68C88835C145}"/>
              </a:ext>
            </a:extLst>
          </p:cNvPr>
          <p:cNvGraphicFramePr>
            <a:graphicFrameLocks noGrp="1"/>
          </p:cNvGraphicFramePr>
          <p:nvPr>
            <p:extLst>
              <p:ext uri="{D42A27DB-BD31-4B8C-83A1-F6EECF244321}">
                <p14:modId xmlns:p14="http://schemas.microsoft.com/office/powerpoint/2010/main" val="11892705"/>
              </p:ext>
            </p:extLst>
          </p:nvPr>
        </p:nvGraphicFramePr>
        <p:xfrm>
          <a:off x="1402884" y="1398116"/>
          <a:ext cx="10699857" cy="2601286"/>
        </p:xfrm>
        <a:graphic>
          <a:graphicData uri="http://schemas.openxmlformats.org/drawingml/2006/table">
            <a:tbl>
              <a:tblPr firstRow="1" bandRow="1">
                <a:tableStyleId>{5C22544A-7EE6-4342-B048-85BDC9FD1C3A}</a:tableStyleId>
              </a:tblPr>
              <a:tblGrid>
                <a:gridCol w="3566619">
                  <a:extLst>
                    <a:ext uri="{9D8B030D-6E8A-4147-A177-3AD203B41FA5}">
                      <a16:colId xmlns:a16="http://schemas.microsoft.com/office/drawing/2014/main" val="2797865709"/>
                    </a:ext>
                  </a:extLst>
                </a:gridCol>
                <a:gridCol w="1639089">
                  <a:extLst>
                    <a:ext uri="{9D8B030D-6E8A-4147-A177-3AD203B41FA5}">
                      <a16:colId xmlns:a16="http://schemas.microsoft.com/office/drawing/2014/main" val="82696053"/>
                    </a:ext>
                  </a:extLst>
                </a:gridCol>
                <a:gridCol w="5494149">
                  <a:extLst>
                    <a:ext uri="{9D8B030D-6E8A-4147-A177-3AD203B41FA5}">
                      <a16:colId xmlns:a16="http://schemas.microsoft.com/office/drawing/2014/main" val="3824607963"/>
                    </a:ext>
                  </a:extLst>
                </a:gridCol>
              </a:tblGrid>
              <a:tr h="376246">
                <a:tc>
                  <a:txBody>
                    <a:bodyPr/>
                    <a:lstStyle/>
                    <a:p>
                      <a:r>
                        <a:rPr lang="hu-HU" dirty="0"/>
                        <a:t>Címke</a:t>
                      </a:r>
                      <a:endParaRPr lang="en-GB" dirty="0"/>
                    </a:p>
                  </a:txBody>
                  <a:tcPr>
                    <a:solidFill>
                      <a:srgbClr val="FF3F5A"/>
                    </a:solidFill>
                  </a:tcPr>
                </a:tc>
                <a:tc>
                  <a:txBody>
                    <a:bodyPr/>
                    <a:lstStyle/>
                    <a:p>
                      <a:r>
                        <a:rPr lang="hu-HU" dirty="0"/>
                        <a:t>Cikkek száma</a:t>
                      </a:r>
                      <a:endParaRPr lang="en-GB" dirty="0"/>
                    </a:p>
                  </a:txBody>
                  <a:tcPr>
                    <a:solidFill>
                      <a:srgbClr val="FF3F5A"/>
                    </a:solidFill>
                  </a:tcPr>
                </a:tc>
                <a:tc>
                  <a:txBody>
                    <a:bodyPr/>
                    <a:lstStyle/>
                    <a:p>
                      <a:r>
                        <a:rPr lang="hu-HU" dirty="0"/>
                        <a:t>URL</a:t>
                      </a:r>
                      <a:endParaRPr lang="en-GB" dirty="0"/>
                    </a:p>
                  </a:txBody>
                  <a:tcPr>
                    <a:solidFill>
                      <a:srgbClr val="FF3F5A"/>
                    </a:solidFill>
                  </a:tcPr>
                </a:tc>
                <a:extLst>
                  <a:ext uri="{0D108BD9-81ED-4DB2-BD59-A6C34878D82A}">
                    <a16:rowId xmlns:a16="http://schemas.microsoft.com/office/drawing/2014/main" val="1559483732"/>
                  </a:ext>
                </a:extLst>
              </a:tr>
              <a:tr h="370840">
                <a:tc>
                  <a:txBody>
                    <a:bodyPr/>
                    <a:lstStyle/>
                    <a:p>
                      <a:r>
                        <a:rPr lang="hu-HU" dirty="0"/>
                        <a:t>Oroszország</a:t>
                      </a:r>
                      <a:endParaRPr lang="en-GB" dirty="0"/>
                    </a:p>
                  </a:txBody>
                  <a:tcPr/>
                </a:tc>
                <a:tc>
                  <a:txBody>
                    <a:bodyPr/>
                    <a:lstStyle/>
                    <a:p>
                      <a:r>
                        <a:rPr lang="hu-HU" dirty="0"/>
                        <a:t>270</a:t>
                      </a:r>
                      <a:endParaRPr lang="en-GB" dirty="0"/>
                    </a:p>
                  </a:txBody>
                  <a:tcPr/>
                </a:tc>
                <a:tc>
                  <a:txBody>
                    <a:bodyPr/>
                    <a:lstStyle/>
                    <a:p>
                      <a:r>
                        <a:rPr lang="en-GB" dirty="0"/>
                        <a:t>HTTPS://YANAC.HU/TAG/OROSZORSZAG/</a:t>
                      </a:r>
                    </a:p>
                  </a:txBody>
                  <a:tcPr/>
                </a:tc>
                <a:extLst>
                  <a:ext uri="{0D108BD9-81ED-4DB2-BD59-A6C34878D82A}">
                    <a16:rowId xmlns:a16="http://schemas.microsoft.com/office/drawing/2014/main" val="470032902"/>
                  </a:ext>
                </a:extLst>
              </a:tr>
              <a:tr h="370840">
                <a:tc>
                  <a:txBody>
                    <a:bodyPr/>
                    <a:lstStyle/>
                    <a:p>
                      <a:r>
                        <a:rPr lang="hu-HU" dirty="0"/>
                        <a:t>Ukrajna</a:t>
                      </a:r>
                      <a:endParaRPr lang="en-GB" dirty="0"/>
                    </a:p>
                  </a:txBody>
                  <a:tcPr/>
                </a:tc>
                <a:tc>
                  <a:txBody>
                    <a:bodyPr/>
                    <a:lstStyle/>
                    <a:p>
                      <a:r>
                        <a:rPr lang="hu-HU" dirty="0"/>
                        <a:t>126</a:t>
                      </a:r>
                      <a:endParaRPr lang="en-GB" dirty="0"/>
                    </a:p>
                  </a:txBody>
                  <a:tcPr/>
                </a:tc>
                <a:tc>
                  <a:txBody>
                    <a:bodyPr/>
                    <a:lstStyle/>
                    <a:p>
                      <a:r>
                        <a:rPr lang="en-GB" dirty="0"/>
                        <a:t>HTTPS://YANAC.HU/TAG/UKRAJNA/</a:t>
                      </a:r>
                    </a:p>
                  </a:txBody>
                  <a:tcPr/>
                </a:tc>
                <a:extLst>
                  <a:ext uri="{0D108BD9-81ED-4DB2-BD59-A6C34878D82A}">
                    <a16:rowId xmlns:a16="http://schemas.microsoft.com/office/drawing/2014/main" val="1254568493"/>
                  </a:ext>
                </a:extLst>
              </a:tr>
              <a:tr h="370840">
                <a:tc>
                  <a:txBody>
                    <a:bodyPr/>
                    <a:lstStyle/>
                    <a:p>
                      <a:r>
                        <a:rPr lang="hu-HU" dirty="0"/>
                        <a:t>Kína</a:t>
                      </a:r>
                      <a:endParaRPr lang="en-GB" dirty="0"/>
                    </a:p>
                  </a:txBody>
                  <a:tcPr/>
                </a:tc>
                <a:tc>
                  <a:txBody>
                    <a:bodyPr/>
                    <a:lstStyle/>
                    <a:p>
                      <a:r>
                        <a:rPr lang="hu-HU" dirty="0"/>
                        <a:t>230</a:t>
                      </a:r>
                      <a:endParaRPr lang="en-GB" dirty="0"/>
                    </a:p>
                  </a:txBody>
                  <a:tcPr/>
                </a:tc>
                <a:tc>
                  <a:txBody>
                    <a:bodyPr/>
                    <a:lstStyle/>
                    <a:p>
                      <a:r>
                        <a:rPr lang="en-GB" dirty="0"/>
                        <a:t>HTTPS://YANAC.HU/TAG/KINA/</a:t>
                      </a:r>
                    </a:p>
                  </a:txBody>
                  <a:tcPr/>
                </a:tc>
                <a:extLst>
                  <a:ext uri="{0D108BD9-81ED-4DB2-BD59-A6C34878D82A}">
                    <a16:rowId xmlns:a16="http://schemas.microsoft.com/office/drawing/2014/main" val="682614901"/>
                  </a:ext>
                </a:extLst>
              </a:tr>
              <a:tr h="370840">
                <a:tc>
                  <a:txBody>
                    <a:bodyPr/>
                    <a:lstStyle/>
                    <a:p>
                      <a:r>
                        <a:rPr lang="hu-HU" dirty="0"/>
                        <a:t>ENISA</a:t>
                      </a:r>
                      <a:endParaRPr lang="en-GB" dirty="0"/>
                    </a:p>
                  </a:txBody>
                  <a:tcPr/>
                </a:tc>
                <a:tc>
                  <a:txBody>
                    <a:bodyPr/>
                    <a:lstStyle/>
                    <a:p>
                      <a:r>
                        <a:rPr lang="hu-HU" dirty="0"/>
                        <a:t>28</a:t>
                      </a:r>
                      <a:endParaRPr lang="en-GB" dirty="0"/>
                    </a:p>
                  </a:txBody>
                  <a:tcPr/>
                </a:tc>
                <a:tc>
                  <a:txBody>
                    <a:bodyPr/>
                    <a:lstStyle/>
                    <a:p>
                      <a:r>
                        <a:rPr lang="en-GB" dirty="0"/>
                        <a:t>HTTPS://YANAC.HU/TAG/ENISA/</a:t>
                      </a:r>
                    </a:p>
                  </a:txBody>
                  <a:tcPr/>
                </a:tc>
                <a:extLst>
                  <a:ext uri="{0D108BD9-81ED-4DB2-BD59-A6C34878D82A}">
                    <a16:rowId xmlns:a16="http://schemas.microsoft.com/office/drawing/2014/main" val="1860687710"/>
                  </a:ext>
                </a:extLst>
              </a:tr>
              <a:tr h="370840">
                <a:tc>
                  <a:txBody>
                    <a:bodyPr/>
                    <a:lstStyle/>
                    <a:p>
                      <a:r>
                        <a:rPr lang="hu-HU" dirty="0"/>
                        <a:t>CCDCOE</a:t>
                      </a:r>
                      <a:endParaRPr lang="en-GB" dirty="0"/>
                    </a:p>
                  </a:txBody>
                  <a:tcPr/>
                </a:tc>
                <a:tc>
                  <a:txBody>
                    <a:bodyPr/>
                    <a:lstStyle/>
                    <a:p>
                      <a:r>
                        <a:rPr lang="hu-HU" dirty="0"/>
                        <a:t>10</a:t>
                      </a:r>
                      <a:endParaRPr lang="en-GB" dirty="0"/>
                    </a:p>
                  </a:txBody>
                  <a:tcPr/>
                </a:tc>
                <a:tc>
                  <a:txBody>
                    <a:bodyPr/>
                    <a:lstStyle/>
                    <a:p>
                      <a:r>
                        <a:rPr lang="en-GB" dirty="0"/>
                        <a:t>HTTPS://YANAC.HU/TAG/CCDCOE/</a:t>
                      </a:r>
                    </a:p>
                  </a:txBody>
                  <a:tcPr/>
                </a:tc>
                <a:extLst>
                  <a:ext uri="{0D108BD9-81ED-4DB2-BD59-A6C34878D82A}">
                    <a16:rowId xmlns:a16="http://schemas.microsoft.com/office/drawing/2014/main" val="1004630607"/>
                  </a:ext>
                </a:extLst>
              </a:tr>
              <a:tr h="370840">
                <a:tc>
                  <a:txBody>
                    <a:bodyPr/>
                    <a:lstStyle/>
                    <a:p>
                      <a:r>
                        <a:rPr lang="hu-HU" dirty="0" err="1"/>
                        <a:t>Ransomware</a:t>
                      </a:r>
                      <a:endParaRPr lang="en-GB" dirty="0"/>
                    </a:p>
                  </a:txBody>
                  <a:tcPr/>
                </a:tc>
                <a:tc>
                  <a:txBody>
                    <a:bodyPr/>
                    <a:lstStyle/>
                    <a:p>
                      <a:r>
                        <a:rPr lang="hu-HU" dirty="0"/>
                        <a:t>177</a:t>
                      </a:r>
                      <a:endParaRPr lang="en-GB" dirty="0"/>
                    </a:p>
                  </a:txBody>
                  <a:tcPr/>
                </a:tc>
                <a:tc>
                  <a:txBody>
                    <a:bodyPr/>
                    <a:lstStyle/>
                    <a:p>
                      <a:r>
                        <a:rPr lang="en-GB" dirty="0"/>
                        <a:t>HTTPS://YANAC.HU/TAG/RANSOMWARE/</a:t>
                      </a:r>
                    </a:p>
                  </a:txBody>
                  <a:tcPr/>
                </a:tc>
                <a:extLst>
                  <a:ext uri="{0D108BD9-81ED-4DB2-BD59-A6C34878D82A}">
                    <a16:rowId xmlns:a16="http://schemas.microsoft.com/office/drawing/2014/main" val="1961491110"/>
                  </a:ext>
                </a:extLst>
              </a:tr>
            </a:tbl>
          </a:graphicData>
        </a:graphic>
      </p:graphicFrame>
      <p:graphicFrame>
        <p:nvGraphicFramePr>
          <p:cNvPr id="8" name="Chart 7">
            <a:extLst>
              <a:ext uri="{FF2B5EF4-FFF2-40B4-BE49-F238E27FC236}">
                <a16:creationId xmlns:a16="http://schemas.microsoft.com/office/drawing/2014/main" id="{6FBAF9A6-978E-3424-EB11-17EF3950C2DA}"/>
              </a:ext>
            </a:extLst>
          </p:cNvPr>
          <p:cNvGraphicFramePr>
            <a:graphicFrameLocks/>
          </p:cNvGraphicFramePr>
          <p:nvPr>
            <p:extLst>
              <p:ext uri="{D42A27DB-BD31-4B8C-83A1-F6EECF244321}">
                <p14:modId xmlns:p14="http://schemas.microsoft.com/office/powerpoint/2010/main" val="209933008"/>
              </p:ext>
            </p:extLst>
          </p:nvPr>
        </p:nvGraphicFramePr>
        <p:xfrm>
          <a:off x="6752813" y="4107180"/>
          <a:ext cx="4568190" cy="275082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2269470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09ACD5F-FAEB-B116-0251-BA8EED04174A}"/>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77F5C2F1-3777-6D6D-668A-07E83F1B355D}"/>
              </a:ext>
            </a:extLst>
          </p:cNvPr>
          <p:cNvPicPr>
            <a:picLocks noChangeAspect="1"/>
          </p:cNvPicPr>
          <p:nvPr/>
        </p:nvPicPr>
        <p:blipFill>
          <a:blip r:embed="rId3"/>
          <a:stretch>
            <a:fillRect/>
          </a:stretch>
        </p:blipFill>
        <p:spPr>
          <a:xfrm>
            <a:off x="131115" y="3834244"/>
            <a:ext cx="7055708" cy="2732435"/>
          </a:xfrm>
          <a:prstGeom prst="rect">
            <a:avLst/>
          </a:prstGeom>
        </p:spPr>
      </p:pic>
      <p:pic>
        <p:nvPicPr>
          <p:cNvPr id="5" name="Picture 2">
            <a:extLst>
              <a:ext uri="{FF2B5EF4-FFF2-40B4-BE49-F238E27FC236}">
                <a16:creationId xmlns:a16="http://schemas.microsoft.com/office/drawing/2014/main" id="{9499D710-F91E-7E5F-0560-CEFACFFEF6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5CA5E56-27C9-34FC-D41B-945F6A4C6B4A}"/>
              </a:ext>
            </a:extLst>
          </p:cNvPr>
          <p:cNvSpPr txBox="1"/>
          <p:nvPr/>
        </p:nvSpPr>
        <p:spPr>
          <a:xfrm>
            <a:off x="2143125" y="362465"/>
            <a:ext cx="4121834" cy="769441"/>
          </a:xfrm>
          <a:prstGeom prst="rect">
            <a:avLst/>
          </a:prstGeom>
          <a:noFill/>
        </p:spPr>
        <p:txBody>
          <a:bodyPr wrap="none" rtlCol="0">
            <a:spAutoFit/>
          </a:bodyPr>
          <a:lstStyle/>
          <a:p>
            <a:r>
              <a:rPr lang="hu-HU" sz="4400" dirty="0">
                <a:solidFill>
                  <a:schemeClr val="bg1"/>
                </a:solidFill>
              </a:rPr>
              <a:t>CTI TÁMOGATÁS</a:t>
            </a:r>
          </a:p>
        </p:txBody>
      </p:sp>
      <p:pic>
        <p:nvPicPr>
          <p:cNvPr id="3" name="Picture 2">
            <a:extLst>
              <a:ext uri="{FF2B5EF4-FFF2-40B4-BE49-F238E27FC236}">
                <a16:creationId xmlns:a16="http://schemas.microsoft.com/office/drawing/2014/main" id="{63C0AA63-B743-910F-D89D-15032D68A603}"/>
              </a:ext>
            </a:extLst>
          </p:cNvPr>
          <p:cNvPicPr>
            <a:picLocks noChangeAspect="1"/>
          </p:cNvPicPr>
          <p:nvPr/>
        </p:nvPicPr>
        <p:blipFill>
          <a:blip r:embed="rId5"/>
          <a:stretch>
            <a:fillRect/>
          </a:stretch>
        </p:blipFill>
        <p:spPr>
          <a:xfrm>
            <a:off x="3658969" y="1297458"/>
            <a:ext cx="8233326" cy="3719385"/>
          </a:xfrm>
          <a:prstGeom prst="rect">
            <a:avLst/>
          </a:prstGeom>
        </p:spPr>
      </p:pic>
    </p:spTree>
    <p:extLst>
      <p:ext uri="{BB962C8B-B14F-4D97-AF65-F5344CB8AC3E}">
        <p14:creationId xmlns:p14="http://schemas.microsoft.com/office/powerpoint/2010/main" val="18246785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E8A5C87-374F-9762-4CAC-CBFCCD83032A}"/>
            </a:ext>
          </a:extLst>
        </p:cNvPr>
        <p:cNvGrpSpPr/>
        <p:nvPr/>
      </p:nvGrpSpPr>
      <p:grpSpPr>
        <a:xfrm>
          <a:off x="0" y="0"/>
          <a:ext cx="0" cy="0"/>
          <a:chOff x="0" y="0"/>
          <a:chExt cx="0" cy="0"/>
        </a:xfrm>
      </p:grpSpPr>
      <p:pic>
        <p:nvPicPr>
          <p:cNvPr id="5" name="Picture 2">
            <a:extLst>
              <a:ext uri="{FF2B5EF4-FFF2-40B4-BE49-F238E27FC236}">
                <a16:creationId xmlns:a16="http://schemas.microsoft.com/office/drawing/2014/main" id="{0B840D71-FF35-FA9D-8EBA-85DFBCA448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9A406E6-1C41-5AE0-39BC-246F2C018135}"/>
              </a:ext>
            </a:extLst>
          </p:cNvPr>
          <p:cNvSpPr txBox="1"/>
          <p:nvPr/>
        </p:nvSpPr>
        <p:spPr>
          <a:xfrm>
            <a:off x="1872998" y="370214"/>
            <a:ext cx="3241593" cy="769441"/>
          </a:xfrm>
          <a:prstGeom prst="rect">
            <a:avLst/>
          </a:prstGeom>
          <a:noFill/>
        </p:spPr>
        <p:txBody>
          <a:bodyPr wrap="none" rtlCol="0">
            <a:spAutoFit/>
          </a:bodyPr>
          <a:lstStyle/>
          <a:p>
            <a:r>
              <a:rPr lang="hu-HU" sz="4400" dirty="0">
                <a:highlight>
                  <a:srgbClr val="FF3F5A"/>
                </a:highlight>
              </a:rPr>
              <a:t>Kollaboráció</a:t>
            </a:r>
          </a:p>
        </p:txBody>
      </p:sp>
      <p:pic>
        <p:nvPicPr>
          <p:cNvPr id="2050" name="Picture 2" descr="Seconsys">
            <a:extLst>
              <a:ext uri="{FF2B5EF4-FFF2-40B4-BE49-F238E27FC236}">
                <a16:creationId xmlns:a16="http://schemas.microsoft.com/office/drawing/2014/main" id="{93B9DC35-8351-0F55-DF83-7DD7434B75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7021" y="1359436"/>
            <a:ext cx="2433545" cy="1277611"/>
          </a:xfrm>
          <a:prstGeom prst="rect">
            <a:avLst/>
          </a:prstGeom>
          <a:solidFill>
            <a:schemeClr val="tx2"/>
          </a:solidFill>
        </p:spPr>
      </p:pic>
      <p:sp>
        <p:nvSpPr>
          <p:cNvPr id="9" name="TextBox 8">
            <a:extLst>
              <a:ext uri="{FF2B5EF4-FFF2-40B4-BE49-F238E27FC236}">
                <a16:creationId xmlns:a16="http://schemas.microsoft.com/office/drawing/2014/main" id="{78CA2951-E2F7-9926-CADA-75DFD699FF36}"/>
              </a:ext>
            </a:extLst>
          </p:cNvPr>
          <p:cNvSpPr txBox="1"/>
          <p:nvPr/>
        </p:nvSpPr>
        <p:spPr>
          <a:xfrm>
            <a:off x="5114591" y="1414900"/>
            <a:ext cx="5870261" cy="1477328"/>
          </a:xfrm>
          <a:prstGeom prst="rect">
            <a:avLst/>
          </a:prstGeom>
          <a:noFill/>
        </p:spPr>
        <p:txBody>
          <a:bodyPr wrap="none" rtlCol="0">
            <a:spAutoFit/>
          </a:bodyPr>
          <a:lstStyle/>
          <a:p>
            <a:r>
              <a:rPr lang="hu-HU" dirty="0" err="1">
                <a:highlight>
                  <a:srgbClr val="FF3F5A"/>
                </a:highlight>
              </a:rPr>
              <a:t>SeCONSys</a:t>
            </a:r>
            <a:endParaRPr lang="hu-HU" dirty="0">
              <a:highlight>
                <a:srgbClr val="FF3F5A"/>
              </a:highlight>
            </a:endParaRPr>
          </a:p>
          <a:p>
            <a:pPr marL="285750" indent="-285750">
              <a:buFontTx/>
              <a:buChar char="-"/>
            </a:pPr>
            <a:r>
              <a:rPr lang="hu-HU" dirty="0"/>
              <a:t>IPARI ÉS OT RENDSZEREKKEL KAPCSOLATOS HÍREK</a:t>
            </a:r>
            <a:endParaRPr lang="hu-HU" dirty="0">
              <a:highlight>
                <a:srgbClr val="000000"/>
              </a:highlight>
            </a:endParaRPr>
          </a:p>
          <a:p>
            <a:pPr marL="285750" indent="-285750">
              <a:buFontTx/>
              <a:buChar char="-"/>
            </a:pPr>
            <a:r>
              <a:rPr lang="hu-HU" dirty="0">
                <a:highlight>
                  <a:srgbClr val="000000"/>
                </a:highlight>
              </a:rPr>
              <a:t>HAVI 1-2 CIKK</a:t>
            </a:r>
          </a:p>
          <a:p>
            <a:pPr marL="285750" indent="-285750">
              <a:buFontTx/>
              <a:buChar char="-"/>
            </a:pPr>
            <a:r>
              <a:rPr lang="hu-HU" dirty="0">
                <a:highlight>
                  <a:srgbClr val="000000"/>
                </a:highlight>
              </a:rPr>
              <a:t>SECONSYS FÓKUSZBAN (VILLAMOSENERGIA ÁGAZAT)</a:t>
            </a:r>
          </a:p>
          <a:p>
            <a:pPr marL="285750" indent="-285750">
              <a:buFontTx/>
              <a:buChar char="-"/>
            </a:pPr>
            <a:r>
              <a:rPr lang="en-GB" dirty="0">
                <a:hlinkClick r:id="rId4"/>
              </a:rPr>
              <a:t>HTTPS://YANAC.HU/TAG/SECONSYS/</a:t>
            </a:r>
            <a:endParaRPr lang="hu-HU" dirty="0">
              <a:highlight>
                <a:srgbClr val="000000"/>
              </a:highlight>
            </a:endParaRPr>
          </a:p>
        </p:txBody>
      </p:sp>
      <p:sp>
        <p:nvSpPr>
          <p:cNvPr id="12" name="TextBox 11">
            <a:extLst>
              <a:ext uri="{FF2B5EF4-FFF2-40B4-BE49-F238E27FC236}">
                <a16:creationId xmlns:a16="http://schemas.microsoft.com/office/drawing/2014/main" id="{F1C2238F-9C7A-0830-EC3A-920592F21ED6}"/>
              </a:ext>
            </a:extLst>
          </p:cNvPr>
          <p:cNvSpPr txBox="1"/>
          <p:nvPr/>
        </p:nvSpPr>
        <p:spPr>
          <a:xfrm>
            <a:off x="5114591" y="3063273"/>
            <a:ext cx="5595314" cy="1754326"/>
          </a:xfrm>
          <a:prstGeom prst="rect">
            <a:avLst/>
          </a:prstGeom>
          <a:noFill/>
        </p:spPr>
        <p:txBody>
          <a:bodyPr wrap="none" rtlCol="0">
            <a:spAutoFit/>
          </a:bodyPr>
          <a:lstStyle/>
          <a:p>
            <a:r>
              <a:rPr lang="hu-HU" dirty="0">
                <a:highlight>
                  <a:srgbClr val="FF3F5A"/>
                </a:highlight>
              </a:rPr>
              <a:t>ALVERAD</a:t>
            </a:r>
          </a:p>
          <a:p>
            <a:pPr marL="285750" indent="-285750">
              <a:buFontTx/>
              <a:buChar char="-"/>
            </a:pPr>
            <a:r>
              <a:rPr lang="hu-HU" dirty="0">
                <a:highlight>
                  <a:srgbClr val="000000"/>
                </a:highlight>
              </a:rPr>
              <a:t>HETI HÍRLEVÉL</a:t>
            </a:r>
          </a:p>
          <a:p>
            <a:pPr marL="285750" indent="-285750">
              <a:buFontTx/>
              <a:buChar char="-"/>
            </a:pPr>
            <a:r>
              <a:rPr lang="hu-HU" dirty="0"/>
              <a:t>FENYEGETÉSI SZEREPLŐK ÉS KAMPÁNYOK</a:t>
            </a:r>
          </a:p>
          <a:p>
            <a:pPr marL="285750" indent="-285750">
              <a:buFontTx/>
              <a:buChar char="-"/>
            </a:pPr>
            <a:r>
              <a:rPr lang="hu-HU" dirty="0"/>
              <a:t>TÁMADÁSI TECHNIKÁK ÉS MALWARE</a:t>
            </a:r>
          </a:p>
          <a:p>
            <a:pPr marL="285750" indent="-285750">
              <a:buFontTx/>
              <a:buChar char="-"/>
            </a:pPr>
            <a:r>
              <a:rPr lang="hu-HU" dirty="0"/>
              <a:t>OT / KRITIKUS INFRASTRUKTÚRA</a:t>
            </a:r>
          </a:p>
          <a:p>
            <a:pPr marL="285750" indent="-285750">
              <a:buFontTx/>
              <a:buChar char="-"/>
            </a:pPr>
            <a:r>
              <a:rPr lang="hu-HU" dirty="0"/>
              <a:t>KIBERBIZTONSÁGI IRÁNYÍTÁS, VÉDELEM ÉS POLICY</a:t>
            </a:r>
            <a:endParaRPr lang="hu-HU" dirty="0">
              <a:highlight>
                <a:srgbClr val="000000"/>
              </a:highlight>
            </a:endParaRPr>
          </a:p>
        </p:txBody>
      </p:sp>
      <p:pic>
        <p:nvPicPr>
          <p:cNvPr id="2054" name="Picture 6" descr="CyberSecTV.eu - The EU Cybersecurity Streaming Channel">
            <a:extLst>
              <a:ext uri="{FF2B5EF4-FFF2-40B4-BE49-F238E27FC236}">
                <a16:creationId xmlns:a16="http://schemas.microsoft.com/office/drawing/2014/main" id="{F0833099-9CB7-8E0A-4EC0-63D99B4776A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3075" y="4565112"/>
            <a:ext cx="2437750" cy="731325"/>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765C0EB9-D566-B67B-40CB-50604CD4DBA1}"/>
              </a:ext>
            </a:extLst>
          </p:cNvPr>
          <p:cNvSpPr txBox="1"/>
          <p:nvPr/>
        </p:nvSpPr>
        <p:spPr>
          <a:xfrm>
            <a:off x="654588" y="5470748"/>
            <a:ext cx="4460003" cy="923330"/>
          </a:xfrm>
          <a:prstGeom prst="rect">
            <a:avLst/>
          </a:prstGeom>
          <a:noFill/>
        </p:spPr>
        <p:txBody>
          <a:bodyPr wrap="none" rtlCol="0">
            <a:spAutoFit/>
          </a:bodyPr>
          <a:lstStyle/>
          <a:p>
            <a:r>
              <a:rPr lang="hu-HU" dirty="0">
                <a:highlight>
                  <a:srgbClr val="FF3F5A"/>
                </a:highlight>
              </a:rPr>
              <a:t>CyberSecTV.eu</a:t>
            </a:r>
          </a:p>
          <a:p>
            <a:pPr marL="285750" indent="-285750">
              <a:buFontTx/>
              <a:buChar char="-"/>
            </a:pPr>
            <a:r>
              <a:rPr lang="hu-HU" dirty="0">
                <a:highlight>
                  <a:srgbClr val="000000"/>
                </a:highlight>
              </a:rPr>
              <a:t>NEM FORMALIZÁLT, DE BARÁTI VISZONY</a:t>
            </a:r>
          </a:p>
          <a:p>
            <a:pPr marL="285750" indent="-285750">
              <a:buFontTx/>
              <a:buChar char="-"/>
            </a:pPr>
            <a:r>
              <a:rPr lang="hu-HU" dirty="0">
                <a:highlight>
                  <a:srgbClr val="000000"/>
                </a:highlight>
              </a:rPr>
              <a:t>ANYAGOK ÁTVÉTELE</a:t>
            </a:r>
          </a:p>
        </p:txBody>
      </p:sp>
      <p:pic>
        <p:nvPicPr>
          <p:cNvPr id="1026" name="Picture 2" descr="Alverad | Biztonságosabbá tesszük a világot">
            <a:extLst>
              <a:ext uri="{FF2B5EF4-FFF2-40B4-BE49-F238E27FC236}">
                <a16:creationId xmlns:a16="http://schemas.microsoft.com/office/drawing/2014/main" id="{11195CBE-79C1-CDAE-C219-E70942BB955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3075" y="2765888"/>
            <a:ext cx="4333102" cy="1624913"/>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TechLabify | LinkedIn">
            <a:extLst>
              <a:ext uri="{FF2B5EF4-FFF2-40B4-BE49-F238E27FC236}">
                <a16:creationId xmlns:a16="http://schemas.microsoft.com/office/drawing/2014/main" id="{4AEB61F3-8D45-087C-1214-E8C44FEBE8E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95239" y="5090606"/>
            <a:ext cx="1353143" cy="133499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172107F-3FD3-2A5B-0744-2E424AE206A7}"/>
              </a:ext>
            </a:extLst>
          </p:cNvPr>
          <p:cNvSpPr txBox="1"/>
          <p:nvPr/>
        </p:nvSpPr>
        <p:spPr>
          <a:xfrm>
            <a:off x="7056463" y="5090606"/>
            <a:ext cx="2295821" cy="923330"/>
          </a:xfrm>
          <a:prstGeom prst="rect">
            <a:avLst/>
          </a:prstGeom>
          <a:noFill/>
        </p:spPr>
        <p:txBody>
          <a:bodyPr wrap="none" rtlCol="0">
            <a:spAutoFit/>
          </a:bodyPr>
          <a:lstStyle/>
          <a:p>
            <a:r>
              <a:rPr lang="hu-HU" dirty="0" err="1">
                <a:highlight>
                  <a:srgbClr val="FF3F5A"/>
                </a:highlight>
              </a:rPr>
              <a:t>TechLabify</a:t>
            </a:r>
            <a:endParaRPr lang="hu-HU" dirty="0">
              <a:highlight>
                <a:srgbClr val="FF3F5A"/>
              </a:highlight>
            </a:endParaRPr>
          </a:p>
          <a:p>
            <a:pPr marL="285750" indent="-285750">
              <a:buFontTx/>
              <a:buChar char="-"/>
            </a:pPr>
            <a:r>
              <a:rPr lang="hu-HU" dirty="0">
                <a:highlight>
                  <a:srgbClr val="000000"/>
                </a:highlight>
              </a:rPr>
              <a:t>INFRASTRUKTÚRA</a:t>
            </a:r>
          </a:p>
          <a:p>
            <a:pPr marL="285750" indent="-285750">
              <a:buFontTx/>
              <a:buChar char="-"/>
            </a:pPr>
            <a:r>
              <a:rPr lang="hu-HU" dirty="0">
                <a:highlight>
                  <a:srgbClr val="000000"/>
                </a:highlight>
              </a:rPr>
              <a:t>?OKTATÁS?</a:t>
            </a:r>
          </a:p>
        </p:txBody>
      </p:sp>
    </p:spTree>
    <p:extLst>
      <p:ext uri="{BB962C8B-B14F-4D97-AF65-F5344CB8AC3E}">
        <p14:creationId xmlns:p14="http://schemas.microsoft.com/office/powerpoint/2010/main" val="36496243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D2B6620E-CC54-212B-EBD7-9559AF5908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6FF17A8-2A06-5C7C-FFD6-5D761233B5BC}"/>
              </a:ext>
            </a:extLst>
          </p:cNvPr>
          <p:cNvSpPr txBox="1"/>
          <p:nvPr/>
        </p:nvSpPr>
        <p:spPr>
          <a:xfrm>
            <a:off x="2291452" y="302121"/>
            <a:ext cx="3394199" cy="769441"/>
          </a:xfrm>
          <a:prstGeom prst="rect">
            <a:avLst/>
          </a:prstGeom>
          <a:noFill/>
        </p:spPr>
        <p:txBody>
          <a:bodyPr wrap="none" rtlCol="0">
            <a:spAutoFit/>
          </a:bodyPr>
          <a:lstStyle/>
          <a:p>
            <a:r>
              <a:rPr lang="hu-HU" sz="4400" dirty="0">
                <a:solidFill>
                  <a:schemeClr val="bg1"/>
                </a:solidFill>
              </a:rPr>
              <a:t>Hová, Merre?</a:t>
            </a:r>
          </a:p>
        </p:txBody>
      </p:sp>
      <p:sp>
        <p:nvSpPr>
          <p:cNvPr id="3" name="TextBox 2">
            <a:extLst>
              <a:ext uri="{FF2B5EF4-FFF2-40B4-BE49-F238E27FC236}">
                <a16:creationId xmlns:a16="http://schemas.microsoft.com/office/drawing/2014/main" id="{68CAA59D-5BC6-4AE6-CBDC-3199CD5E4859}"/>
              </a:ext>
            </a:extLst>
          </p:cNvPr>
          <p:cNvSpPr txBox="1"/>
          <p:nvPr/>
        </p:nvSpPr>
        <p:spPr>
          <a:xfrm>
            <a:off x="6295944" y="293269"/>
            <a:ext cx="3210128" cy="1754326"/>
          </a:xfrm>
          <a:prstGeom prst="rect">
            <a:avLst/>
          </a:prstGeom>
          <a:noFill/>
        </p:spPr>
        <p:txBody>
          <a:bodyPr wrap="square" rtlCol="0">
            <a:spAutoFit/>
          </a:bodyPr>
          <a:lstStyle/>
          <a:p>
            <a:r>
              <a:rPr lang="hu-HU" dirty="0">
                <a:solidFill>
                  <a:schemeClr val="bg1"/>
                </a:solidFill>
              </a:rPr>
              <a:t>SZERKESZTŐK</a:t>
            </a:r>
          </a:p>
          <a:p>
            <a:pPr marL="285750" indent="-285750">
              <a:buFontTx/>
              <a:buChar char="-"/>
            </a:pPr>
            <a:r>
              <a:rPr lang="hu-HU" dirty="0">
                <a:solidFill>
                  <a:schemeClr val="bg1"/>
                </a:solidFill>
              </a:rPr>
              <a:t>TÖBB CIKK</a:t>
            </a:r>
          </a:p>
          <a:p>
            <a:pPr marL="285750" indent="-285750">
              <a:buFontTx/>
              <a:buChar char="-"/>
            </a:pPr>
            <a:r>
              <a:rPr lang="hu-HU" dirty="0">
                <a:solidFill>
                  <a:schemeClr val="bg1"/>
                </a:solidFill>
              </a:rPr>
              <a:t>NAGYOBB TERJEDELEM</a:t>
            </a:r>
          </a:p>
          <a:p>
            <a:pPr marL="285750" indent="-285750">
              <a:buFontTx/>
              <a:buChar char="-"/>
            </a:pPr>
            <a:r>
              <a:rPr lang="hu-HU" dirty="0">
                <a:solidFill>
                  <a:schemeClr val="bg1"/>
                </a:solidFill>
              </a:rPr>
              <a:t>TÖBB ELEMZÉS</a:t>
            </a:r>
          </a:p>
          <a:p>
            <a:pPr marL="285750" indent="-285750">
              <a:buFontTx/>
              <a:buChar char="-"/>
            </a:pPr>
            <a:r>
              <a:rPr lang="hu-HU" dirty="0">
                <a:solidFill>
                  <a:schemeClr val="bg1"/>
                </a:solidFill>
              </a:rPr>
              <a:t>FOLYAMATOS MŰKÖDÉS</a:t>
            </a:r>
          </a:p>
          <a:p>
            <a:pPr marL="285750" indent="-285750">
              <a:buFontTx/>
              <a:buChar char="-"/>
            </a:pPr>
            <a:endParaRPr lang="hu-HU" dirty="0">
              <a:solidFill>
                <a:schemeClr val="bg1"/>
              </a:solidFill>
            </a:endParaRPr>
          </a:p>
        </p:txBody>
      </p:sp>
      <p:sp>
        <p:nvSpPr>
          <p:cNvPr id="4" name="TextBox 3">
            <a:extLst>
              <a:ext uri="{FF2B5EF4-FFF2-40B4-BE49-F238E27FC236}">
                <a16:creationId xmlns:a16="http://schemas.microsoft.com/office/drawing/2014/main" id="{702EECAA-27BA-E85F-CEE7-5500C7FFC967}"/>
              </a:ext>
            </a:extLst>
          </p:cNvPr>
          <p:cNvSpPr txBox="1"/>
          <p:nvPr/>
        </p:nvSpPr>
        <p:spPr>
          <a:xfrm>
            <a:off x="9782055" y="293269"/>
            <a:ext cx="3210128" cy="923330"/>
          </a:xfrm>
          <a:prstGeom prst="rect">
            <a:avLst/>
          </a:prstGeom>
          <a:noFill/>
        </p:spPr>
        <p:txBody>
          <a:bodyPr wrap="square" rtlCol="0">
            <a:spAutoFit/>
          </a:bodyPr>
          <a:lstStyle/>
          <a:p>
            <a:r>
              <a:rPr lang="hu-HU" dirty="0">
                <a:solidFill>
                  <a:schemeClr val="bg1"/>
                </a:solidFill>
              </a:rPr>
              <a:t>KÖZÖSSÉG</a:t>
            </a:r>
          </a:p>
          <a:p>
            <a:pPr marL="285750" indent="-285750">
              <a:buFontTx/>
              <a:buChar char="-"/>
            </a:pPr>
            <a:r>
              <a:rPr lang="hu-HU" dirty="0">
                <a:solidFill>
                  <a:schemeClr val="bg1"/>
                </a:solidFill>
              </a:rPr>
              <a:t>FORRÁSOK</a:t>
            </a:r>
          </a:p>
          <a:p>
            <a:pPr marL="285750" indent="-285750">
              <a:buFontTx/>
              <a:buChar char="-"/>
            </a:pPr>
            <a:r>
              <a:rPr lang="hu-HU" dirty="0">
                <a:solidFill>
                  <a:schemeClr val="bg1"/>
                </a:solidFill>
              </a:rPr>
              <a:t>HÍRLEVÉL</a:t>
            </a:r>
          </a:p>
        </p:txBody>
      </p:sp>
      <p:sp>
        <p:nvSpPr>
          <p:cNvPr id="11" name="TextBox 10">
            <a:extLst>
              <a:ext uri="{FF2B5EF4-FFF2-40B4-BE49-F238E27FC236}">
                <a16:creationId xmlns:a16="http://schemas.microsoft.com/office/drawing/2014/main" id="{4808E682-728E-2E84-0048-C19DFE704326}"/>
              </a:ext>
            </a:extLst>
          </p:cNvPr>
          <p:cNvSpPr txBox="1"/>
          <p:nvPr/>
        </p:nvSpPr>
        <p:spPr>
          <a:xfrm>
            <a:off x="176697" y="2836685"/>
            <a:ext cx="3097482" cy="369332"/>
          </a:xfrm>
          <a:prstGeom prst="rect">
            <a:avLst/>
          </a:prstGeom>
          <a:noFill/>
        </p:spPr>
        <p:txBody>
          <a:bodyPr wrap="square">
            <a:spAutoFit/>
          </a:bodyPr>
          <a:lstStyle/>
          <a:p>
            <a:r>
              <a:rPr lang="hu-HU" dirty="0">
                <a:solidFill>
                  <a:schemeClr val="bg1"/>
                </a:solidFill>
              </a:rPr>
              <a:t>SZERKESZTŐT KERESÜNK!!!</a:t>
            </a:r>
          </a:p>
        </p:txBody>
      </p:sp>
      <p:sp>
        <p:nvSpPr>
          <p:cNvPr id="49" name="TextBox 48">
            <a:extLst>
              <a:ext uri="{FF2B5EF4-FFF2-40B4-BE49-F238E27FC236}">
                <a16:creationId xmlns:a16="http://schemas.microsoft.com/office/drawing/2014/main" id="{0F7C6543-D1D5-F8B6-027D-B95010AF72E9}"/>
              </a:ext>
            </a:extLst>
          </p:cNvPr>
          <p:cNvSpPr txBox="1"/>
          <p:nvPr/>
        </p:nvSpPr>
        <p:spPr>
          <a:xfrm>
            <a:off x="390397" y="3206017"/>
            <a:ext cx="11277728" cy="3539430"/>
          </a:xfrm>
          <a:prstGeom prst="rect">
            <a:avLst/>
          </a:prstGeom>
          <a:noFill/>
        </p:spPr>
        <p:txBody>
          <a:bodyPr wrap="square">
            <a:spAutoFit/>
          </a:bodyPr>
          <a:lstStyle/>
          <a:p>
            <a:r>
              <a:rPr lang="en-GB" sz="1600" dirty="0" err="1">
                <a:solidFill>
                  <a:schemeClr val="bg1"/>
                </a:solidFill>
              </a:rPr>
              <a:t>Társ</a:t>
            </a:r>
            <a:r>
              <a:rPr lang="en-GB" sz="1600" dirty="0">
                <a:solidFill>
                  <a:schemeClr val="bg1"/>
                </a:solidFill>
              </a:rPr>
              <a:t> </a:t>
            </a:r>
            <a:r>
              <a:rPr lang="en-GB" sz="1600" dirty="0" err="1">
                <a:solidFill>
                  <a:schemeClr val="bg1"/>
                </a:solidFill>
              </a:rPr>
              <a:t>szerkesztőt</a:t>
            </a:r>
            <a:r>
              <a:rPr lang="en-GB" sz="1600" dirty="0">
                <a:solidFill>
                  <a:schemeClr val="bg1"/>
                </a:solidFill>
              </a:rPr>
              <a:t>, </a:t>
            </a:r>
            <a:r>
              <a:rPr lang="en-GB" sz="1600" dirty="0" err="1">
                <a:solidFill>
                  <a:schemeClr val="bg1"/>
                </a:solidFill>
              </a:rPr>
              <a:t>szerkesztőket</a:t>
            </a:r>
            <a:r>
              <a:rPr lang="en-GB" sz="1600" dirty="0">
                <a:solidFill>
                  <a:schemeClr val="bg1"/>
                </a:solidFill>
              </a:rPr>
              <a:t>  📖 </a:t>
            </a:r>
            <a:r>
              <a:rPr lang="en-GB" sz="1600" dirty="0" err="1">
                <a:solidFill>
                  <a:schemeClr val="bg1"/>
                </a:solidFill>
              </a:rPr>
              <a:t>keresek</a:t>
            </a:r>
            <a:r>
              <a:rPr lang="en-GB" sz="1600" dirty="0">
                <a:solidFill>
                  <a:schemeClr val="bg1"/>
                </a:solidFill>
              </a:rPr>
              <a:t>, </a:t>
            </a:r>
            <a:r>
              <a:rPr lang="en-GB" sz="1600" dirty="0" err="1">
                <a:solidFill>
                  <a:schemeClr val="bg1"/>
                </a:solidFill>
              </a:rPr>
              <a:t>aki</a:t>
            </a:r>
            <a:r>
              <a:rPr lang="en-GB" sz="1600" dirty="0">
                <a:solidFill>
                  <a:schemeClr val="bg1"/>
                </a:solidFill>
              </a:rPr>
              <a:t>(k) </a:t>
            </a:r>
            <a:r>
              <a:rPr lang="en-GB" sz="1600" dirty="0" err="1">
                <a:solidFill>
                  <a:schemeClr val="bg1"/>
                </a:solidFill>
              </a:rPr>
              <a:t>napi</a:t>
            </a:r>
            <a:r>
              <a:rPr lang="en-GB" sz="1600" dirty="0">
                <a:solidFill>
                  <a:schemeClr val="bg1"/>
                </a:solidFill>
              </a:rPr>
              <a:t> </a:t>
            </a:r>
            <a:r>
              <a:rPr lang="en-GB" sz="1600" dirty="0" err="1">
                <a:solidFill>
                  <a:schemeClr val="bg1"/>
                </a:solidFill>
              </a:rPr>
              <a:t>szinten</a:t>
            </a:r>
            <a:r>
              <a:rPr lang="en-GB" sz="1600" dirty="0">
                <a:solidFill>
                  <a:schemeClr val="bg1"/>
                </a:solidFill>
              </a:rPr>
              <a:t> </a:t>
            </a:r>
            <a:r>
              <a:rPr lang="en-GB" sz="1600" dirty="0" err="1">
                <a:solidFill>
                  <a:schemeClr val="bg1"/>
                </a:solidFill>
              </a:rPr>
              <a:t>követi</a:t>
            </a:r>
            <a:r>
              <a:rPr lang="en-GB" sz="1600" dirty="0">
                <a:solidFill>
                  <a:schemeClr val="bg1"/>
                </a:solidFill>
              </a:rPr>
              <a:t>(k) </a:t>
            </a:r>
            <a:r>
              <a:rPr lang="en-GB" sz="1600" dirty="0" err="1">
                <a:solidFill>
                  <a:schemeClr val="bg1"/>
                </a:solidFill>
              </a:rPr>
              <a:t>az</a:t>
            </a:r>
            <a:r>
              <a:rPr lang="en-GB" sz="1600" dirty="0">
                <a:solidFill>
                  <a:schemeClr val="bg1"/>
                </a:solidFill>
              </a:rPr>
              <a:t> </a:t>
            </a:r>
            <a:r>
              <a:rPr lang="en-GB" sz="1600" dirty="0" err="1">
                <a:solidFill>
                  <a:schemeClr val="bg1"/>
                </a:solidFill>
              </a:rPr>
              <a:t>szakmai</a:t>
            </a:r>
            <a:r>
              <a:rPr lang="en-GB" sz="1600" dirty="0">
                <a:solidFill>
                  <a:schemeClr val="bg1"/>
                </a:solidFill>
              </a:rPr>
              <a:t> </a:t>
            </a:r>
            <a:r>
              <a:rPr lang="en-GB" sz="1600" dirty="0" err="1">
                <a:solidFill>
                  <a:schemeClr val="bg1"/>
                </a:solidFill>
              </a:rPr>
              <a:t>híreket</a:t>
            </a:r>
            <a:r>
              <a:rPr lang="en-GB" sz="1600" dirty="0">
                <a:solidFill>
                  <a:schemeClr val="bg1"/>
                </a:solidFill>
              </a:rPr>
              <a:t> 🗞️ , </a:t>
            </a:r>
            <a:r>
              <a:rPr lang="en-GB" sz="1600" dirty="0" err="1">
                <a:solidFill>
                  <a:schemeClr val="bg1"/>
                </a:solidFill>
              </a:rPr>
              <a:t>és</a:t>
            </a:r>
            <a:r>
              <a:rPr lang="en-GB" sz="1600" dirty="0">
                <a:solidFill>
                  <a:schemeClr val="bg1"/>
                </a:solidFill>
              </a:rPr>
              <a:t> van </a:t>
            </a:r>
            <a:r>
              <a:rPr lang="en-GB" sz="1600" dirty="0" err="1">
                <a:solidFill>
                  <a:schemeClr val="bg1"/>
                </a:solidFill>
              </a:rPr>
              <a:t>hétköznaponta</a:t>
            </a:r>
            <a:r>
              <a:rPr lang="en-GB" sz="1600" dirty="0">
                <a:solidFill>
                  <a:schemeClr val="bg1"/>
                </a:solidFill>
              </a:rPr>
              <a:t> 30-60  🕧 </a:t>
            </a:r>
            <a:r>
              <a:rPr lang="en-GB" sz="1600" dirty="0" err="1">
                <a:solidFill>
                  <a:schemeClr val="bg1"/>
                </a:solidFill>
              </a:rPr>
              <a:t>percük</a:t>
            </a:r>
            <a:r>
              <a:rPr lang="en-GB" sz="1600" dirty="0">
                <a:solidFill>
                  <a:schemeClr val="bg1"/>
                </a:solidFill>
              </a:rPr>
              <a:t> </a:t>
            </a:r>
            <a:r>
              <a:rPr lang="en-GB" sz="1600" dirty="0" err="1">
                <a:solidFill>
                  <a:schemeClr val="bg1"/>
                </a:solidFill>
              </a:rPr>
              <a:t>arra</a:t>
            </a:r>
            <a:r>
              <a:rPr lang="en-GB" sz="1600" dirty="0">
                <a:solidFill>
                  <a:schemeClr val="bg1"/>
                </a:solidFill>
              </a:rPr>
              <a:t>, </a:t>
            </a:r>
            <a:r>
              <a:rPr lang="en-GB" sz="1600" dirty="0" err="1">
                <a:solidFill>
                  <a:schemeClr val="bg1"/>
                </a:solidFill>
              </a:rPr>
              <a:t>hogy</a:t>
            </a:r>
            <a:r>
              <a:rPr lang="en-GB" sz="1600" dirty="0">
                <a:solidFill>
                  <a:schemeClr val="bg1"/>
                </a:solidFill>
              </a:rPr>
              <a:t> </a:t>
            </a:r>
            <a:r>
              <a:rPr lang="en-GB" sz="1600" dirty="0" err="1">
                <a:solidFill>
                  <a:schemeClr val="bg1"/>
                </a:solidFill>
              </a:rPr>
              <a:t>híreket</a:t>
            </a:r>
            <a:r>
              <a:rPr lang="en-GB" sz="1600" dirty="0">
                <a:solidFill>
                  <a:schemeClr val="bg1"/>
                </a:solidFill>
              </a:rPr>
              <a:t> </a:t>
            </a:r>
            <a:r>
              <a:rPr lang="en-GB" sz="1600" dirty="0" err="1">
                <a:solidFill>
                  <a:schemeClr val="bg1"/>
                </a:solidFill>
              </a:rPr>
              <a:t>keresgéljenek</a:t>
            </a:r>
            <a:r>
              <a:rPr lang="en-GB" sz="1600" dirty="0">
                <a:solidFill>
                  <a:schemeClr val="bg1"/>
                </a:solidFill>
              </a:rPr>
              <a:t>, </a:t>
            </a:r>
            <a:r>
              <a:rPr lang="en-GB" sz="1600" dirty="0" err="1">
                <a:solidFill>
                  <a:schemeClr val="bg1"/>
                </a:solidFill>
              </a:rPr>
              <a:t>azokat</a:t>
            </a:r>
            <a:r>
              <a:rPr lang="en-GB" sz="1600" dirty="0">
                <a:solidFill>
                  <a:schemeClr val="bg1"/>
                </a:solidFill>
              </a:rPr>
              <a:t> </a:t>
            </a:r>
            <a:r>
              <a:rPr lang="en-GB" sz="1600" dirty="0" err="1">
                <a:solidFill>
                  <a:schemeClr val="bg1"/>
                </a:solidFill>
              </a:rPr>
              <a:t>összegezzék</a:t>
            </a:r>
            <a:r>
              <a:rPr lang="en-GB" sz="1600" dirty="0">
                <a:solidFill>
                  <a:schemeClr val="bg1"/>
                </a:solidFill>
              </a:rPr>
              <a:t>, </a:t>
            </a:r>
            <a:r>
              <a:rPr lang="en-GB" sz="1600" dirty="0" err="1">
                <a:solidFill>
                  <a:schemeClr val="bg1"/>
                </a:solidFill>
              </a:rPr>
              <a:t>lefordítsák</a:t>
            </a:r>
            <a:r>
              <a:rPr lang="en-GB" sz="1600" dirty="0">
                <a:solidFill>
                  <a:schemeClr val="bg1"/>
                </a:solidFill>
              </a:rPr>
              <a:t>.</a:t>
            </a:r>
          </a:p>
          <a:p>
            <a:endParaRPr lang="en-GB" sz="1600" dirty="0">
              <a:solidFill>
                <a:schemeClr val="bg1"/>
              </a:solidFill>
            </a:endParaRPr>
          </a:p>
          <a:p>
            <a:r>
              <a:rPr lang="en-GB" sz="1600" dirty="0">
                <a:solidFill>
                  <a:schemeClr val="bg1"/>
                </a:solidFill>
              </a:rPr>
              <a:t>A https://yanac.hu/ </a:t>
            </a:r>
            <a:r>
              <a:rPr lang="en-GB" sz="1600" dirty="0" err="1">
                <a:solidFill>
                  <a:schemeClr val="bg1"/>
                </a:solidFill>
              </a:rPr>
              <a:t>oldalunk</a:t>
            </a:r>
            <a:r>
              <a:rPr lang="en-GB" sz="1600" dirty="0">
                <a:solidFill>
                  <a:schemeClr val="bg1"/>
                </a:solidFill>
              </a:rPr>
              <a:t> </a:t>
            </a:r>
            <a:r>
              <a:rPr lang="en-GB" sz="1600" dirty="0" err="1">
                <a:solidFill>
                  <a:schemeClr val="bg1"/>
                </a:solidFill>
              </a:rPr>
              <a:t>már</a:t>
            </a:r>
            <a:r>
              <a:rPr lang="en-GB" sz="1600" dirty="0">
                <a:solidFill>
                  <a:schemeClr val="bg1"/>
                </a:solidFill>
              </a:rPr>
              <a:t> </a:t>
            </a:r>
            <a:r>
              <a:rPr lang="en-GB" sz="1600" dirty="0" err="1">
                <a:solidFill>
                  <a:schemeClr val="bg1"/>
                </a:solidFill>
              </a:rPr>
              <a:t>több</a:t>
            </a:r>
            <a:r>
              <a:rPr lang="en-GB" sz="1600" dirty="0">
                <a:solidFill>
                  <a:schemeClr val="bg1"/>
                </a:solidFill>
              </a:rPr>
              <a:t>, mint </a:t>
            </a:r>
            <a:r>
              <a:rPr lang="hu-HU" sz="1600" dirty="0">
                <a:solidFill>
                  <a:schemeClr val="bg1"/>
                </a:solidFill>
              </a:rPr>
              <a:t>négy</a:t>
            </a:r>
            <a:r>
              <a:rPr lang="en-GB" sz="1600" dirty="0">
                <a:solidFill>
                  <a:schemeClr val="bg1"/>
                </a:solidFill>
              </a:rPr>
              <a:t> </a:t>
            </a:r>
            <a:r>
              <a:rPr lang="en-GB" sz="1600" dirty="0" err="1">
                <a:solidFill>
                  <a:schemeClr val="bg1"/>
                </a:solidFill>
              </a:rPr>
              <a:t>éve</a:t>
            </a:r>
            <a:r>
              <a:rPr lang="en-GB" sz="1600" dirty="0">
                <a:solidFill>
                  <a:schemeClr val="bg1"/>
                </a:solidFill>
              </a:rPr>
              <a:t>  👶 </a:t>
            </a:r>
            <a:r>
              <a:rPr lang="en-GB" sz="1600" dirty="0" err="1">
                <a:solidFill>
                  <a:schemeClr val="bg1"/>
                </a:solidFill>
              </a:rPr>
              <a:t>üzemel</a:t>
            </a:r>
            <a:r>
              <a:rPr lang="en-GB" sz="1600" dirty="0">
                <a:solidFill>
                  <a:schemeClr val="bg1"/>
                </a:solidFill>
              </a:rPr>
              <a:t>, </a:t>
            </a:r>
            <a:r>
              <a:rPr lang="en-GB" sz="1600" dirty="0" err="1">
                <a:solidFill>
                  <a:schemeClr val="bg1"/>
                </a:solidFill>
              </a:rPr>
              <a:t>ez</a:t>
            </a:r>
            <a:r>
              <a:rPr lang="en-GB" sz="1600" dirty="0">
                <a:solidFill>
                  <a:schemeClr val="bg1"/>
                </a:solidFill>
              </a:rPr>
              <a:t> </a:t>
            </a:r>
            <a:r>
              <a:rPr lang="en-GB" sz="1600" dirty="0" err="1">
                <a:solidFill>
                  <a:schemeClr val="bg1"/>
                </a:solidFill>
              </a:rPr>
              <a:t>idő</a:t>
            </a:r>
            <a:r>
              <a:rPr lang="en-GB" sz="1600" dirty="0">
                <a:solidFill>
                  <a:schemeClr val="bg1"/>
                </a:solidFill>
              </a:rPr>
              <a:t> </a:t>
            </a:r>
            <a:r>
              <a:rPr lang="en-GB" sz="1600" dirty="0" err="1">
                <a:solidFill>
                  <a:schemeClr val="bg1"/>
                </a:solidFill>
              </a:rPr>
              <a:t>alatt</a:t>
            </a:r>
            <a:r>
              <a:rPr lang="en-GB" sz="1600" dirty="0">
                <a:solidFill>
                  <a:schemeClr val="bg1"/>
                </a:solidFill>
              </a:rPr>
              <a:t> </a:t>
            </a:r>
            <a:r>
              <a:rPr lang="en-GB" sz="1600" dirty="0" err="1">
                <a:solidFill>
                  <a:schemeClr val="bg1"/>
                </a:solidFill>
              </a:rPr>
              <a:t>majdnem</a:t>
            </a:r>
            <a:r>
              <a:rPr lang="en-GB" sz="1600" dirty="0">
                <a:solidFill>
                  <a:schemeClr val="bg1"/>
                </a:solidFill>
              </a:rPr>
              <a:t> 5000 </a:t>
            </a:r>
            <a:r>
              <a:rPr lang="en-GB" sz="1600" dirty="0" err="1">
                <a:solidFill>
                  <a:schemeClr val="bg1"/>
                </a:solidFill>
              </a:rPr>
              <a:t>saját</a:t>
            </a:r>
            <a:r>
              <a:rPr lang="en-GB" sz="1600" dirty="0">
                <a:solidFill>
                  <a:schemeClr val="bg1"/>
                </a:solidFill>
              </a:rPr>
              <a:t> </a:t>
            </a:r>
            <a:r>
              <a:rPr lang="en-GB" sz="1600" dirty="0" err="1">
                <a:solidFill>
                  <a:schemeClr val="bg1"/>
                </a:solidFill>
              </a:rPr>
              <a:t>fordítást</a:t>
            </a:r>
            <a:r>
              <a:rPr lang="en-GB" sz="1600" dirty="0">
                <a:solidFill>
                  <a:schemeClr val="bg1"/>
                </a:solidFill>
              </a:rPr>
              <a:t>, </a:t>
            </a:r>
            <a:r>
              <a:rPr lang="en-GB" sz="1600" dirty="0" err="1">
                <a:solidFill>
                  <a:schemeClr val="bg1"/>
                </a:solidFill>
              </a:rPr>
              <a:t>összegzést</a:t>
            </a:r>
            <a:r>
              <a:rPr lang="en-GB" sz="1600" dirty="0">
                <a:solidFill>
                  <a:schemeClr val="bg1"/>
                </a:solidFill>
              </a:rPr>
              <a:t> </a:t>
            </a:r>
            <a:r>
              <a:rPr lang="en-GB" sz="1600" dirty="0" err="1">
                <a:solidFill>
                  <a:schemeClr val="bg1"/>
                </a:solidFill>
              </a:rPr>
              <a:t>publikáltunk</a:t>
            </a:r>
            <a:r>
              <a:rPr lang="en-GB" sz="1600" dirty="0">
                <a:solidFill>
                  <a:schemeClr val="bg1"/>
                </a:solidFill>
              </a:rPr>
              <a:t>, </a:t>
            </a:r>
            <a:r>
              <a:rPr lang="en-GB" sz="1600" dirty="0" err="1">
                <a:solidFill>
                  <a:schemeClr val="bg1"/>
                </a:solidFill>
              </a:rPr>
              <a:t>és</a:t>
            </a:r>
            <a:r>
              <a:rPr lang="en-GB" sz="1600" dirty="0">
                <a:solidFill>
                  <a:schemeClr val="bg1"/>
                </a:solidFill>
              </a:rPr>
              <a:t> </a:t>
            </a:r>
            <a:r>
              <a:rPr lang="en-GB" sz="1600" dirty="0" err="1">
                <a:solidFill>
                  <a:schemeClr val="bg1"/>
                </a:solidFill>
              </a:rPr>
              <a:t>nagyon</a:t>
            </a:r>
            <a:r>
              <a:rPr lang="en-GB" sz="1600" dirty="0">
                <a:solidFill>
                  <a:schemeClr val="bg1"/>
                </a:solidFill>
              </a:rPr>
              <a:t> </a:t>
            </a:r>
            <a:r>
              <a:rPr lang="en-GB" sz="1600" dirty="0" err="1">
                <a:solidFill>
                  <a:schemeClr val="bg1"/>
                </a:solidFill>
              </a:rPr>
              <a:t>sok</a:t>
            </a:r>
            <a:r>
              <a:rPr lang="en-GB" sz="1600" dirty="0">
                <a:solidFill>
                  <a:schemeClr val="bg1"/>
                </a:solidFill>
              </a:rPr>
              <a:t> </a:t>
            </a:r>
            <a:r>
              <a:rPr lang="en-GB" sz="1600" dirty="0" err="1">
                <a:solidFill>
                  <a:schemeClr val="bg1"/>
                </a:solidFill>
              </a:rPr>
              <a:t>esetben</a:t>
            </a:r>
            <a:r>
              <a:rPr lang="en-GB" sz="1600" dirty="0">
                <a:solidFill>
                  <a:schemeClr val="bg1"/>
                </a:solidFill>
              </a:rPr>
              <a:t> mi </a:t>
            </a:r>
            <a:r>
              <a:rPr lang="en-GB" sz="1600" dirty="0" err="1">
                <a:solidFill>
                  <a:schemeClr val="bg1"/>
                </a:solidFill>
              </a:rPr>
              <a:t>voltunk</a:t>
            </a:r>
            <a:r>
              <a:rPr lang="en-GB" sz="1600" dirty="0">
                <a:solidFill>
                  <a:schemeClr val="bg1"/>
                </a:solidFill>
              </a:rPr>
              <a:t> </a:t>
            </a:r>
            <a:r>
              <a:rPr lang="en-GB" sz="1600" dirty="0" err="1">
                <a:solidFill>
                  <a:schemeClr val="bg1"/>
                </a:solidFill>
              </a:rPr>
              <a:t>azok</a:t>
            </a:r>
            <a:r>
              <a:rPr lang="en-GB" sz="1600" dirty="0">
                <a:solidFill>
                  <a:schemeClr val="bg1"/>
                </a:solidFill>
              </a:rPr>
              <a:t>, </a:t>
            </a:r>
            <a:r>
              <a:rPr lang="en-GB" sz="1600" dirty="0" err="1">
                <a:solidFill>
                  <a:schemeClr val="bg1"/>
                </a:solidFill>
              </a:rPr>
              <a:t>akik</a:t>
            </a:r>
            <a:r>
              <a:rPr lang="en-GB" sz="1600" dirty="0">
                <a:solidFill>
                  <a:schemeClr val="bg1"/>
                </a:solidFill>
              </a:rPr>
              <a:t> </a:t>
            </a:r>
            <a:r>
              <a:rPr lang="en-GB" sz="1600" dirty="0" err="1">
                <a:solidFill>
                  <a:schemeClr val="bg1"/>
                </a:solidFill>
              </a:rPr>
              <a:t>egy-egy</a:t>
            </a:r>
            <a:r>
              <a:rPr lang="en-GB" sz="1600" dirty="0">
                <a:solidFill>
                  <a:schemeClr val="bg1"/>
                </a:solidFill>
              </a:rPr>
              <a:t> </a:t>
            </a:r>
            <a:r>
              <a:rPr lang="en-GB" sz="1600" dirty="0" err="1">
                <a:solidFill>
                  <a:schemeClr val="bg1"/>
                </a:solidFill>
              </a:rPr>
              <a:t>fontosabb</a:t>
            </a:r>
            <a:r>
              <a:rPr lang="en-GB" sz="1600" dirty="0">
                <a:solidFill>
                  <a:schemeClr val="bg1"/>
                </a:solidFill>
              </a:rPr>
              <a:t> </a:t>
            </a:r>
            <a:r>
              <a:rPr lang="en-GB" sz="1600" dirty="0" err="1">
                <a:solidFill>
                  <a:schemeClr val="bg1"/>
                </a:solidFill>
              </a:rPr>
              <a:t>hírről</a:t>
            </a:r>
            <a:r>
              <a:rPr lang="en-GB" sz="1600" dirty="0">
                <a:solidFill>
                  <a:schemeClr val="bg1"/>
                </a:solidFill>
              </a:rPr>
              <a:t> </a:t>
            </a:r>
            <a:r>
              <a:rPr lang="en-GB" sz="1600" dirty="0" err="1">
                <a:solidFill>
                  <a:schemeClr val="bg1"/>
                </a:solidFill>
              </a:rPr>
              <a:t>elsőként</a:t>
            </a:r>
            <a:r>
              <a:rPr lang="en-GB" sz="1600" dirty="0">
                <a:solidFill>
                  <a:schemeClr val="bg1"/>
                </a:solidFill>
              </a:rPr>
              <a:t>  🏁 </a:t>
            </a:r>
            <a:r>
              <a:rPr lang="en-GB" sz="1600" dirty="0" err="1">
                <a:solidFill>
                  <a:schemeClr val="bg1"/>
                </a:solidFill>
              </a:rPr>
              <a:t>számoltak</a:t>
            </a:r>
            <a:r>
              <a:rPr lang="en-GB" sz="1600" dirty="0">
                <a:solidFill>
                  <a:schemeClr val="bg1"/>
                </a:solidFill>
              </a:rPr>
              <a:t> be </a:t>
            </a:r>
            <a:r>
              <a:rPr lang="en-GB" sz="1600" dirty="0" err="1">
                <a:solidFill>
                  <a:schemeClr val="bg1"/>
                </a:solidFill>
              </a:rPr>
              <a:t>magyar</a:t>
            </a:r>
            <a:r>
              <a:rPr lang="en-GB" sz="1600" dirty="0">
                <a:solidFill>
                  <a:schemeClr val="bg1"/>
                </a:solidFill>
              </a:rPr>
              <a:t> </a:t>
            </a:r>
            <a:r>
              <a:rPr lang="en-GB" sz="1600" dirty="0" err="1">
                <a:solidFill>
                  <a:schemeClr val="bg1"/>
                </a:solidFill>
              </a:rPr>
              <a:t>nyelven</a:t>
            </a:r>
            <a:r>
              <a:rPr lang="en-GB" sz="1600" dirty="0">
                <a:solidFill>
                  <a:schemeClr val="bg1"/>
                </a:solidFill>
              </a:rPr>
              <a:t> (SolarWinds pl.)  </a:t>
            </a:r>
            <a:r>
              <a:rPr lang="en-GB" sz="1600" dirty="0" err="1">
                <a:solidFill>
                  <a:schemeClr val="bg1"/>
                </a:solidFill>
              </a:rPr>
              <a:t>Mostanában</a:t>
            </a:r>
            <a:r>
              <a:rPr lang="en-GB" sz="1600" dirty="0">
                <a:solidFill>
                  <a:schemeClr val="bg1"/>
                </a:solidFill>
              </a:rPr>
              <a:t> </a:t>
            </a:r>
            <a:r>
              <a:rPr lang="en-GB" sz="1600" dirty="0" err="1">
                <a:solidFill>
                  <a:schemeClr val="bg1"/>
                </a:solidFill>
              </a:rPr>
              <a:t>azt</a:t>
            </a:r>
            <a:r>
              <a:rPr lang="en-GB" sz="1600" dirty="0">
                <a:solidFill>
                  <a:schemeClr val="bg1"/>
                </a:solidFill>
              </a:rPr>
              <a:t> </a:t>
            </a:r>
            <a:r>
              <a:rPr lang="en-GB" sz="1600" dirty="0" err="1">
                <a:solidFill>
                  <a:schemeClr val="bg1"/>
                </a:solidFill>
              </a:rPr>
              <a:t>tapasztaljuk</a:t>
            </a:r>
            <a:r>
              <a:rPr lang="en-GB" sz="1600" dirty="0">
                <a:solidFill>
                  <a:schemeClr val="bg1"/>
                </a:solidFill>
              </a:rPr>
              <a:t>, </a:t>
            </a:r>
            <a:r>
              <a:rPr lang="en-GB" sz="1600" dirty="0" err="1">
                <a:solidFill>
                  <a:schemeClr val="bg1"/>
                </a:solidFill>
              </a:rPr>
              <a:t>hogy</a:t>
            </a:r>
            <a:r>
              <a:rPr lang="en-GB" sz="1600" dirty="0">
                <a:solidFill>
                  <a:schemeClr val="bg1"/>
                </a:solidFill>
              </a:rPr>
              <a:t> a </a:t>
            </a:r>
            <a:r>
              <a:rPr lang="en-GB" sz="1600" dirty="0" err="1">
                <a:solidFill>
                  <a:schemeClr val="bg1"/>
                </a:solidFill>
              </a:rPr>
              <a:t>nagyobb</a:t>
            </a:r>
            <a:r>
              <a:rPr lang="en-GB" sz="1600" dirty="0">
                <a:solidFill>
                  <a:schemeClr val="bg1"/>
                </a:solidFill>
              </a:rPr>
              <a:t> </a:t>
            </a:r>
            <a:r>
              <a:rPr lang="en-GB" sz="1600" dirty="0" err="1">
                <a:solidFill>
                  <a:schemeClr val="bg1"/>
                </a:solidFill>
              </a:rPr>
              <a:t>portálok</a:t>
            </a:r>
            <a:r>
              <a:rPr lang="en-GB" sz="1600" dirty="0">
                <a:solidFill>
                  <a:schemeClr val="bg1"/>
                </a:solidFill>
              </a:rPr>
              <a:t> 📰  is </a:t>
            </a:r>
            <a:r>
              <a:rPr lang="en-GB" sz="1600" dirty="0" err="1">
                <a:solidFill>
                  <a:schemeClr val="bg1"/>
                </a:solidFill>
              </a:rPr>
              <a:t>követik</a:t>
            </a:r>
            <a:r>
              <a:rPr lang="en-GB" sz="1600" dirty="0">
                <a:solidFill>
                  <a:schemeClr val="bg1"/>
                </a:solidFill>
              </a:rPr>
              <a:t> </a:t>
            </a:r>
            <a:r>
              <a:rPr lang="en-GB" sz="1600" dirty="0" err="1">
                <a:solidFill>
                  <a:schemeClr val="bg1"/>
                </a:solidFill>
              </a:rPr>
              <a:t>az</a:t>
            </a:r>
            <a:r>
              <a:rPr lang="en-GB" sz="1600" dirty="0">
                <a:solidFill>
                  <a:schemeClr val="bg1"/>
                </a:solidFill>
              </a:rPr>
              <a:t> </a:t>
            </a:r>
            <a:r>
              <a:rPr lang="en-GB" sz="1600" dirty="0" err="1">
                <a:solidFill>
                  <a:schemeClr val="bg1"/>
                </a:solidFill>
              </a:rPr>
              <a:t>anyagainkat</a:t>
            </a:r>
            <a:r>
              <a:rPr lang="en-GB" sz="1600" dirty="0">
                <a:solidFill>
                  <a:schemeClr val="bg1"/>
                </a:solidFill>
              </a:rPr>
              <a:t>, </a:t>
            </a:r>
            <a:r>
              <a:rPr lang="en-GB" sz="1600" dirty="0" err="1">
                <a:solidFill>
                  <a:schemeClr val="bg1"/>
                </a:solidFill>
              </a:rPr>
              <a:t>és</a:t>
            </a:r>
            <a:r>
              <a:rPr lang="en-GB" sz="1600" dirty="0">
                <a:solidFill>
                  <a:schemeClr val="bg1"/>
                </a:solidFill>
              </a:rPr>
              <a:t> </a:t>
            </a:r>
            <a:r>
              <a:rPr lang="en-GB" sz="1600" dirty="0" err="1">
                <a:solidFill>
                  <a:schemeClr val="bg1"/>
                </a:solidFill>
              </a:rPr>
              <a:t>egyes</a:t>
            </a:r>
            <a:r>
              <a:rPr lang="en-GB" sz="1600" dirty="0">
                <a:solidFill>
                  <a:schemeClr val="bg1"/>
                </a:solidFill>
              </a:rPr>
              <a:t> </a:t>
            </a:r>
            <a:r>
              <a:rPr lang="en-GB" sz="1600" dirty="0" err="1">
                <a:solidFill>
                  <a:schemeClr val="bg1"/>
                </a:solidFill>
              </a:rPr>
              <a:t>esetekben</a:t>
            </a:r>
            <a:r>
              <a:rPr lang="en-GB" sz="1600" dirty="0">
                <a:solidFill>
                  <a:schemeClr val="bg1"/>
                </a:solidFill>
              </a:rPr>
              <a:t> </a:t>
            </a:r>
            <a:r>
              <a:rPr lang="en-GB" sz="1600" dirty="0" err="1">
                <a:solidFill>
                  <a:schemeClr val="bg1"/>
                </a:solidFill>
              </a:rPr>
              <a:t>azok</a:t>
            </a:r>
            <a:r>
              <a:rPr lang="en-GB" sz="1600" dirty="0">
                <a:solidFill>
                  <a:schemeClr val="bg1"/>
                </a:solidFill>
              </a:rPr>
              <a:t> </a:t>
            </a:r>
            <a:r>
              <a:rPr lang="en-GB" sz="1600" dirty="0" err="1">
                <a:solidFill>
                  <a:schemeClr val="bg1"/>
                </a:solidFill>
              </a:rPr>
              <a:t>alapján</a:t>
            </a:r>
            <a:r>
              <a:rPr lang="en-GB" sz="1600" dirty="0">
                <a:solidFill>
                  <a:schemeClr val="bg1"/>
                </a:solidFill>
              </a:rPr>
              <a:t> </a:t>
            </a:r>
            <a:r>
              <a:rPr lang="en-GB" sz="1600" dirty="0" err="1">
                <a:solidFill>
                  <a:schemeClr val="bg1"/>
                </a:solidFill>
              </a:rPr>
              <a:t>hozzák</a:t>
            </a:r>
            <a:r>
              <a:rPr lang="en-GB" sz="1600" dirty="0">
                <a:solidFill>
                  <a:schemeClr val="bg1"/>
                </a:solidFill>
              </a:rPr>
              <a:t> le </a:t>
            </a:r>
            <a:r>
              <a:rPr lang="en-GB" sz="1600" dirty="0" err="1">
                <a:solidFill>
                  <a:schemeClr val="bg1"/>
                </a:solidFill>
              </a:rPr>
              <a:t>saját</a:t>
            </a:r>
            <a:r>
              <a:rPr lang="en-GB" sz="1600" dirty="0">
                <a:solidFill>
                  <a:schemeClr val="bg1"/>
                </a:solidFill>
              </a:rPr>
              <a:t> </a:t>
            </a:r>
            <a:r>
              <a:rPr lang="en-GB" sz="1600" dirty="0" err="1">
                <a:solidFill>
                  <a:schemeClr val="bg1"/>
                </a:solidFill>
              </a:rPr>
              <a:t>híreiket</a:t>
            </a:r>
            <a:r>
              <a:rPr lang="en-GB" sz="1600" dirty="0">
                <a:solidFill>
                  <a:schemeClr val="bg1"/>
                </a:solidFill>
              </a:rPr>
              <a:t>. 📺 </a:t>
            </a:r>
          </a:p>
          <a:p>
            <a:endParaRPr lang="en-GB" sz="1600" dirty="0">
              <a:solidFill>
                <a:schemeClr val="bg1"/>
              </a:solidFill>
            </a:endParaRPr>
          </a:p>
          <a:p>
            <a:r>
              <a:rPr lang="en-GB" sz="1600" dirty="0" err="1">
                <a:solidFill>
                  <a:schemeClr val="bg1"/>
                </a:solidFill>
              </a:rPr>
              <a:t>Szóval</a:t>
            </a:r>
            <a:r>
              <a:rPr lang="en-GB" sz="1600" dirty="0">
                <a:solidFill>
                  <a:schemeClr val="bg1"/>
                </a:solidFill>
              </a:rPr>
              <a:t>, ha </a:t>
            </a:r>
            <a:r>
              <a:rPr lang="en-GB" sz="1600" dirty="0" err="1">
                <a:solidFill>
                  <a:schemeClr val="bg1"/>
                </a:solidFill>
              </a:rPr>
              <a:t>valakinek</a:t>
            </a:r>
            <a:r>
              <a:rPr lang="en-GB" sz="1600" dirty="0">
                <a:solidFill>
                  <a:schemeClr val="bg1"/>
                </a:solidFill>
              </a:rPr>
              <a:t> van </a:t>
            </a:r>
            <a:r>
              <a:rPr lang="en-GB" sz="1600" dirty="0" err="1">
                <a:solidFill>
                  <a:schemeClr val="bg1"/>
                </a:solidFill>
              </a:rPr>
              <a:t>kedve</a:t>
            </a:r>
            <a:r>
              <a:rPr lang="en-GB" sz="1600" dirty="0">
                <a:solidFill>
                  <a:schemeClr val="bg1"/>
                </a:solidFill>
              </a:rPr>
              <a:t>, </a:t>
            </a:r>
            <a:r>
              <a:rPr lang="en-GB" sz="1600" dirty="0" err="1">
                <a:solidFill>
                  <a:schemeClr val="bg1"/>
                </a:solidFill>
              </a:rPr>
              <a:t>legfőbbként</a:t>
            </a:r>
            <a:r>
              <a:rPr lang="en-GB" sz="1600" dirty="0">
                <a:solidFill>
                  <a:schemeClr val="bg1"/>
                </a:solidFill>
              </a:rPr>
              <a:t> </a:t>
            </a:r>
            <a:r>
              <a:rPr lang="en-GB" sz="1600" dirty="0" err="1">
                <a:solidFill>
                  <a:schemeClr val="bg1"/>
                </a:solidFill>
              </a:rPr>
              <a:t>kitartása</a:t>
            </a:r>
            <a:r>
              <a:rPr lang="en-GB" sz="1600" dirty="0">
                <a:solidFill>
                  <a:schemeClr val="bg1"/>
                </a:solidFill>
              </a:rPr>
              <a:t> </a:t>
            </a:r>
            <a:r>
              <a:rPr lang="en-GB" sz="1600" dirty="0" err="1">
                <a:solidFill>
                  <a:schemeClr val="bg1"/>
                </a:solidFill>
              </a:rPr>
              <a:t>arra</a:t>
            </a:r>
            <a:r>
              <a:rPr lang="en-GB" sz="1600" dirty="0">
                <a:solidFill>
                  <a:schemeClr val="bg1"/>
                </a:solidFill>
              </a:rPr>
              <a:t>, </a:t>
            </a:r>
            <a:r>
              <a:rPr lang="en-GB" sz="1600" dirty="0" err="1">
                <a:solidFill>
                  <a:schemeClr val="bg1"/>
                </a:solidFill>
              </a:rPr>
              <a:t>hogy</a:t>
            </a:r>
            <a:r>
              <a:rPr lang="en-GB" sz="1600" dirty="0">
                <a:solidFill>
                  <a:schemeClr val="bg1"/>
                </a:solidFill>
              </a:rPr>
              <a:t> </a:t>
            </a:r>
            <a:r>
              <a:rPr lang="en-GB" sz="1600" dirty="0" err="1">
                <a:solidFill>
                  <a:schemeClr val="bg1"/>
                </a:solidFill>
              </a:rPr>
              <a:t>friss</a:t>
            </a:r>
            <a:r>
              <a:rPr lang="en-GB" sz="1600" dirty="0">
                <a:solidFill>
                  <a:schemeClr val="bg1"/>
                </a:solidFill>
              </a:rPr>
              <a:t>, </a:t>
            </a:r>
            <a:r>
              <a:rPr lang="en-GB" sz="1600" dirty="0" err="1">
                <a:solidFill>
                  <a:schemeClr val="bg1"/>
                </a:solidFill>
              </a:rPr>
              <a:t>aktuális</a:t>
            </a:r>
            <a:r>
              <a:rPr lang="en-GB" sz="1600" dirty="0">
                <a:solidFill>
                  <a:schemeClr val="bg1"/>
                </a:solidFill>
              </a:rPr>
              <a:t> </a:t>
            </a:r>
            <a:r>
              <a:rPr lang="en-GB" sz="1600" dirty="0" err="1">
                <a:solidFill>
                  <a:schemeClr val="bg1"/>
                </a:solidFill>
              </a:rPr>
              <a:t>és</a:t>
            </a:r>
            <a:r>
              <a:rPr lang="en-GB" sz="1600" dirty="0">
                <a:solidFill>
                  <a:schemeClr val="bg1"/>
                </a:solidFill>
              </a:rPr>
              <a:t> </a:t>
            </a:r>
            <a:r>
              <a:rPr lang="en-GB" sz="1600" dirty="0" err="1">
                <a:solidFill>
                  <a:schemeClr val="bg1"/>
                </a:solidFill>
              </a:rPr>
              <a:t>releváns</a:t>
            </a:r>
            <a:r>
              <a:rPr lang="en-GB" sz="1600" dirty="0">
                <a:solidFill>
                  <a:schemeClr val="bg1"/>
                </a:solidFill>
              </a:rPr>
              <a:t> </a:t>
            </a:r>
            <a:r>
              <a:rPr lang="en-GB" sz="1600" dirty="0" err="1">
                <a:solidFill>
                  <a:schemeClr val="bg1"/>
                </a:solidFill>
              </a:rPr>
              <a:t>híreket</a:t>
            </a:r>
            <a:r>
              <a:rPr lang="en-GB" sz="1600" dirty="0">
                <a:solidFill>
                  <a:schemeClr val="bg1"/>
                </a:solidFill>
              </a:rPr>
              <a:t> </a:t>
            </a:r>
            <a:r>
              <a:rPr lang="en-GB" sz="1600" dirty="0" err="1">
                <a:solidFill>
                  <a:schemeClr val="bg1"/>
                </a:solidFill>
              </a:rPr>
              <a:t>összegezzen</a:t>
            </a:r>
            <a:r>
              <a:rPr lang="en-GB" sz="1600" dirty="0">
                <a:solidFill>
                  <a:schemeClr val="bg1"/>
                </a:solidFill>
              </a:rPr>
              <a:t> </a:t>
            </a:r>
            <a:r>
              <a:rPr lang="en-GB" sz="1600" dirty="0" err="1">
                <a:solidFill>
                  <a:schemeClr val="bg1"/>
                </a:solidFill>
              </a:rPr>
              <a:t>magyarul</a:t>
            </a:r>
            <a:r>
              <a:rPr lang="en-GB" sz="1600" dirty="0">
                <a:solidFill>
                  <a:schemeClr val="bg1"/>
                </a:solidFill>
              </a:rPr>
              <a:t> 🇭🇺 , </a:t>
            </a:r>
            <a:r>
              <a:rPr lang="en-GB" sz="1600" dirty="0" err="1">
                <a:solidFill>
                  <a:schemeClr val="bg1"/>
                </a:solidFill>
              </a:rPr>
              <a:t>jelentkezzen</a:t>
            </a:r>
            <a:r>
              <a:rPr lang="en-GB" sz="1600" dirty="0">
                <a:solidFill>
                  <a:schemeClr val="bg1"/>
                </a:solidFill>
              </a:rPr>
              <a:t> </a:t>
            </a:r>
            <a:r>
              <a:rPr lang="en-GB" sz="1600" dirty="0" err="1">
                <a:solidFill>
                  <a:schemeClr val="bg1"/>
                </a:solidFill>
              </a:rPr>
              <a:t>bátran</a:t>
            </a:r>
            <a:r>
              <a:rPr lang="en-GB" sz="1600" dirty="0">
                <a:solidFill>
                  <a:schemeClr val="bg1"/>
                </a:solidFill>
              </a:rPr>
              <a:t> </a:t>
            </a:r>
            <a:r>
              <a:rPr lang="en-GB" sz="1600" dirty="0" err="1">
                <a:solidFill>
                  <a:schemeClr val="bg1"/>
                </a:solidFill>
              </a:rPr>
              <a:t>nálam</a:t>
            </a:r>
            <a:r>
              <a:rPr lang="en-GB" sz="1600" dirty="0">
                <a:solidFill>
                  <a:schemeClr val="bg1"/>
                </a:solidFill>
              </a:rPr>
              <a:t>, </a:t>
            </a:r>
            <a:r>
              <a:rPr lang="en-GB" sz="1600" dirty="0" err="1">
                <a:solidFill>
                  <a:schemeClr val="bg1"/>
                </a:solidFill>
              </a:rPr>
              <a:t>tudok</a:t>
            </a:r>
            <a:r>
              <a:rPr lang="en-GB" sz="1600" dirty="0">
                <a:solidFill>
                  <a:schemeClr val="bg1"/>
                </a:solidFill>
              </a:rPr>
              <a:t> </a:t>
            </a:r>
            <a:r>
              <a:rPr lang="en-GB" sz="1600" dirty="0" err="1">
                <a:solidFill>
                  <a:schemeClr val="bg1"/>
                </a:solidFill>
              </a:rPr>
              <a:t>hozzá</a:t>
            </a:r>
            <a:r>
              <a:rPr lang="en-GB" sz="1600" dirty="0">
                <a:solidFill>
                  <a:schemeClr val="bg1"/>
                </a:solidFill>
              </a:rPr>
              <a:t> </a:t>
            </a:r>
            <a:r>
              <a:rPr lang="en-GB" sz="1600" dirty="0" err="1">
                <a:solidFill>
                  <a:schemeClr val="bg1"/>
                </a:solidFill>
              </a:rPr>
              <a:t>adni</a:t>
            </a:r>
            <a:r>
              <a:rPr lang="en-GB" sz="1600" dirty="0">
                <a:solidFill>
                  <a:schemeClr val="bg1"/>
                </a:solidFill>
              </a:rPr>
              <a:t> </a:t>
            </a:r>
            <a:r>
              <a:rPr lang="en-GB" sz="1600" dirty="0" err="1">
                <a:solidFill>
                  <a:schemeClr val="bg1"/>
                </a:solidFill>
              </a:rPr>
              <a:t>felülelet</a:t>
            </a:r>
            <a:r>
              <a:rPr lang="en-GB" sz="1600" dirty="0">
                <a:solidFill>
                  <a:schemeClr val="bg1"/>
                </a:solidFill>
              </a:rPr>
              <a:t>. 📋 </a:t>
            </a:r>
          </a:p>
          <a:p>
            <a:endParaRPr lang="en-GB" sz="1600" dirty="0">
              <a:solidFill>
                <a:schemeClr val="bg1"/>
              </a:solidFill>
            </a:endParaRPr>
          </a:p>
          <a:p>
            <a:r>
              <a:rPr lang="en-GB" sz="1600" dirty="0" err="1">
                <a:solidFill>
                  <a:schemeClr val="bg1"/>
                </a:solidFill>
              </a:rPr>
              <a:t>Ahogy</a:t>
            </a:r>
            <a:r>
              <a:rPr lang="en-GB" sz="1600" dirty="0">
                <a:solidFill>
                  <a:schemeClr val="bg1"/>
                </a:solidFill>
              </a:rPr>
              <a:t> </a:t>
            </a:r>
            <a:r>
              <a:rPr lang="en-GB" sz="1600" dirty="0" err="1">
                <a:solidFill>
                  <a:schemeClr val="bg1"/>
                </a:solidFill>
              </a:rPr>
              <a:t>az</a:t>
            </a:r>
            <a:r>
              <a:rPr lang="en-GB" sz="1600" dirty="0">
                <a:solidFill>
                  <a:schemeClr val="bg1"/>
                </a:solidFill>
              </a:rPr>
              <a:t> </a:t>
            </a:r>
            <a:r>
              <a:rPr lang="en-GB" sz="1600" dirty="0" err="1">
                <a:solidFill>
                  <a:schemeClr val="bg1"/>
                </a:solidFill>
              </a:rPr>
              <a:t>alapítóknak</a:t>
            </a:r>
            <a:r>
              <a:rPr lang="en-GB" sz="1600" dirty="0">
                <a:solidFill>
                  <a:schemeClr val="bg1"/>
                </a:solidFill>
              </a:rPr>
              <a:t>, </a:t>
            </a:r>
            <a:r>
              <a:rPr lang="en-GB" sz="1600" dirty="0" err="1">
                <a:solidFill>
                  <a:schemeClr val="bg1"/>
                </a:solidFill>
              </a:rPr>
              <a:t>úgy</a:t>
            </a:r>
            <a:r>
              <a:rPr lang="en-GB" sz="1600" dirty="0">
                <a:solidFill>
                  <a:schemeClr val="bg1"/>
                </a:solidFill>
              </a:rPr>
              <a:t> a </a:t>
            </a:r>
            <a:r>
              <a:rPr lang="en-GB" sz="1600" dirty="0" err="1">
                <a:solidFill>
                  <a:schemeClr val="bg1"/>
                </a:solidFill>
              </a:rPr>
              <a:t>társszerzőnek</a:t>
            </a:r>
            <a:r>
              <a:rPr lang="en-GB" sz="1600" dirty="0">
                <a:solidFill>
                  <a:schemeClr val="bg1"/>
                </a:solidFill>
              </a:rPr>
              <a:t> </a:t>
            </a:r>
            <a:r>
              <a:rPr lang="en-GB" sz="1600" dirty="0" err="1">
                <a:solidFill>
                  <a:schemeClr val="bg1"/>
                </a:solidFill>
              </a:rPr>
              <a:t>sem</a:t>
            </a:r>
            <a:r>
              <a:rPr lang="en-GB" sz="1600" dirty="0">
                <a:solidFill>
                  <a:schemeClr val="bg1"/>
                </a:solidFill>
              </a:rPr>
              <a:t> </a:t>
            </a:r>
            <a:r>
              <a:rPr lang="en-GB" sz="1600" dirty="0" err="1">
                <a:solidFill>
                  <a:schemeClr val="bg1"/>
                </a:solidFill>
              </a:rPr>
              <a:t>tudok</a:t>
            </a:r>
            <a:r>
              <a:rPr lang="en-GB" sz="1600" dirty="0">
                <a:solidFill>
                  <a:schemeClr val="bg1"/>
                </a:solidFill>
              </a:rPr>
              <a:t> </a:t>
            </a:r>
            <a:r>
              <a:rPr lang="en-GB" sz="1600" dirty="0" err="1">
                <a:solidFill>
                  <a:schemeClr val="bg1"/>
                </a:solidFill>
              </a:rPr>
              <a:t>fizetni</a:t>
            </a:r>
            <a:r>
              <a:rPr lang="en-GB" sz="1600" dirty="0">
                <a:solidFill>
                  <a:schemeClr val="bg1"/>
                </a:solidFill>
              </a:rPr>
              <a:t> 🚫 💶 , </a:t>
            </a:r>
            <a:r>
              <a:rPr lang="en-GB" sz="1600" dirty="0" err="1">
                <a:solidFill>
                  <a:schemeClr val="bg1"/>
                </a:solidFill>
              </a:rPr>
              <a:t>hisz</a:t>
            </a:r>
            <a:r>
              <a:rPr lang="en-GB" sz="1600" dirty="0">
                <a:solidFill>
                  <a:schemeClr val="bg1"/>
                </a:solidFill>
              </a:rPr>
              <a:t> </a:t>
            </a:r>
            <a:r>
              <a:rPr lang="en-GB" sz="1600" dirty="0" err="1">
                <a:solidFill>
                  <a:schemeClr val="bg1"/>
                </a:solidFill>
              </a:rPr>
              <a:t>az</a:t>
            </a:r>
            <a:r>
              <a:rPr lang="en-GB" sz="1600" dirty="0">
                <a:solidFill>
                  <a:schemeClr val="bg1"/>
                </a:solidFill>
              </a:rPr>
              <a:t> </a:t>
            </a:r>
            <a:r>
              <a:rPr lang="en-GB" sz="1600" dirty="0" err="1">
                <a:solidFill>
                  <a:schemeClr val="bg1"/>
                </a:solidFill>
              </a:rPr>
              <a:t>egész</a:t>
            </a:r>
            <a:r>
              <a:rPr lang="en-GB" sz="1600" dirty="0">
                <a:solidFill>
                  <a:schemeClr val="bg1"/>
                </a:solidFill>
              </a:rPr>
              <a:t> </a:t>
            </a:r>
            <a:r>
              <a:rPr lang="en-GB" sz="1600" dirty="0" err="1">
                <a:solidFill>
                  <a:schemeClr val="bg1"/>
                </a:solidFill>
              </a:rPr>
              <a:t>oldal</a:t>
            </a:r>
            <a:r>
              <a:rPr lang="en-GB" sz="1600" dirty="0">
                <a:solidFill>
                  <a:schemeClr val="bg1"/>
                </a:solidFill>
              </a:rPr>
              <a:t> non-profit, de </a:t>
            </a:r>
            <a:r>
              <a:rPr lang="en-GB" sz="1600" dirty="0" err="1">
                <a:solidFill>
                  <a:schemeClr val="bg1"/>
                </a:solidFill>
              </a:rPr>
              <a:t>minket</a:t>
            </a:r>
            <a:r>
              <a:rPr lang="en-GB" sz="1600" dirty="0">
                <a:solidFill>
                  <a:schemeClr val="bg1"/>
                </a:solidFill>
              </a:rPr>
              <a:t> </a:t>
            </a:r>
            <a:r>
              <a:rPr lang="en-GB" sz="1600" dirty="0" err="1">
                <a:solidFill>
                  <a:schemeClr val="bg1"/>
                </a:solidFill>
              </a:rPr>
              <a:t>például</a:t>
            </a:r>
            <a:r>
              <a:rPr lang="en-GB" sz="1600" dirty="0">
                <a:solidFill>
                  <a:schemeClr val="bg1"/>
                </a:solidFill>
              </a:rPr>
              <a:t> </a:t>
            </a:r>
            <a:r>
              <a:rPr lang="en-GB" sz="1600" dirty="0" err="1">
                <a:solidFill>
                  <a:schemeClr val="bg1"/>
                </a:solidFill>
              </a:rPr>
              <a:t>motivál</a:t>
            </a:r>
            <a:r>
              <a:rPr lang="en-GB" sz="1600" dirty="0">
                <a:solidFill>
                  <a:schemeClr val="bg1"/>
                </a:solidFill>
              </a:rPr>
              <a:t>, </a:t>
            </a:r>
            <a:r>
              <a:rPr lang="en-GB" sz="1600" dirty="0" err="1">
                <a:solidFill>
                  <a:schemeClr val="bg1"/>
                </a:solidFill>
              </a:rPr>
              <a:t>amikor</a:t>
            </a:r>
            <a:r>
              <a:rPr lang="en-GB" sz="1600" dirty="0">
                <a:solidFill>
                  <a:schemeClr val="bg1"/>
                </a:solidFill>
              </a:rPr>
              <a:t> </a:t>
            </a:r>
            <a:r>
              <a:rPr lang="en-GB" sz="1600" dirty="0" err="1">
                <a:solidFill>
                  <a:schemeClr val="bg1"/>
                </a:solidFill>
              </a:rPr>
              <a:t>látjuk</a:t>
            </a:r>
            <a:r>
              <a:rPr lang="en-GB" sz="1600" dirty="0">
                <a:solidFill>
                  <a:schemeClr val="bg1"/>
                </a:solidFill>
              </a:rPr>
              <a:t>, </a:t>
            </a:r>
            <a:r>
              <a:rPr lang="en-GB" sz="1600" dirty="0" err="1">
                <a:solidFill>
                  <a:schemeClr val="bg1"/>
                </a:solidFill>
              </a:rPr>
              <a:t>hogy</a:t>
            </a:r>
            <a:r>
              <a:rPr lang="en-GB" sz="1600" dirty="0">
                <a:solidFill>
                  <a:schemeClr val="bg1"/>
                </a:solidFill>
              </a:rPr>
              <a:t> pl. Dr. </a:t>
            </a:r>
            <a:r>
              <a:rPr lang="en-GB" sz="1600" dirty="0" err="1">
                <a:solidFill>
                  <a:schemeClr val="bg1"/>
                </a:solidFill>
              </a:rPr>
              <a:t>Krasznay</a:t>
            </a:r>
            <a:r>
              <a:rPr lang="en-GB" sz="1600" dirty="0">
                <a:solidFill>
                  <a:schemeClr val="bg1"/>
                </a:solidFill>
              </a:rPr>
              <a:t> Csaba 🧑‍🏫  </a:t>
            </a:r>
            <a:r>
              <a:rPr lang="en-GB" sz="1600" dirty="0" err="1">
                <a:solidFill>
                  <a:schemeClr val="bg1"/>
                </a:solidFill>
              </a:rPr>
              <a:t>hivatkozza</a:t>
            </a:r>
            <a:r>
              <a:rPr lang="en-GB" sz="1600" dirty="0">
                <a:solidFill>
                  <a:schemeClr val="bg1"/>
                </a:solidFill>
              </a:rPr>
              <a:t> </a:t>
            </a:r>
            <a:r>
              <a:rPr lang="en-GB" sz="1600" dirty="0" err="1">
                <a:solidFill>
                  <a:schemeClr val="bg1"/>
                </a:solidFill>
              </a:rPr>
              <a:t>cikkünket</a:t>
            </a:r>
            <a:r>
              <a:rPr lang="en-GB" sz="1600" dirty="0">
                <a:solidFill>
                  <a:schemeClr val="bg1"/>
                </a:solidFill>
              </a:rPr>
              <a:t> </a:t>
            </a:r>
            <a:r>
              <a:rPr lang="en-GB" sz="1600" dirty="0" err="1">
                <a:solidFill>
                  <a:schemeClr val="bg1"/>
                </a:solidFill>
              </a:rPr>
              <a:t>shortjaiban</a:t>
            </a:r>
            <a:r>
              <a:rPr lang="en-GB" sz="1600" dirty="0">
                <a:solidFill>
                  <a:schemeClr val="bg1"/>
                </a:solidFill>
              </a:rPr>
              <a:t> 🩳 , </a:t>
            </a:r>
            <a:r>
              <a:rPr lang="en-GB" sz="1600" dirty="0" err="1">
                <a:solidFill>
                  <a:schemeClr val="bg1"/>
                </a:solidFill>
              </a:rPr>
              <a:t>vagy</a:t>
            </a:r>
            <a:r>
              <a:rPr lang="en-GB" sz="1600" dirty="0">
                <a:solidFill>
                  <a:schemeClr val="bg1"/>
                </a:solidFill>
              </a:rPr>
              <a:t> </a:t>
            </a:r>
            <a:r>
              <a:rPr lang="en-GB" sz="1600" dirty="0" err="1">
                <a:solidFill>
                  <a:schemeClr val="bg1"/>
                </a:solidFill>
              </a:rPr>
              <a:t>máshol</a:t>
            </a:r>
            <a:r>
              <a:rPr lang="en-GB" sz="1600" dirty="0">
                <a:solidFill>
                  <a:schemeClr val="bg1"/>
                </a:solidFill>
              </a:rPr>
              <a:t> </a:t>
            </a:r>
            <a:r>
              <a:rPr lang="en-GB" sz="1600" dirty="0" err="1">
                <a:solidFill>
                  <a:schemeClr val="bg1"/>
                </a:solidFill>
              </a:rPr>
              <a:t>látjuk</a:t>
            </a:r>
            <a:r>
              <a:rPr lang="en-GB" sz="1600" dirty="0">
                <a:solidFill>
                  <a:schemeClr val="bg1"/>
                </a:solidFill>
              </a:rPr>
              <a:t> </a:t>
            </a:r>
            <a:r>
              <a:rPr lang="en-GB" sz="1600" dirty="0" err="1">
                <a:solidFill>
                  <a:schemeClr val="bg1"/>
                </a:solidFill>
              </a:rPr>
              <a:t>viszont</a:t>
            </a:r>
            <a:r>
              <a:rPr lang="en-GB" sz="1600" dirty="0">
                <a:solidFill>
                  <a:schemeClr val="bg1"/>
                </a:solidFill>
              </a:rPr>
              <a:t> </a:t>
            </a:r>
            <a:r>
              <a:rPr lang="en-GB" sz="1600" dirty="0" err="1">
                <a:solidFill>
                  <a:schemeClr val="bg1"/>
                </a:solidFill>
              </a:rPr>
              <a:t>azokat</a:t>
            </a:r>
            <a:r>
              <a:rPr lang="en-GB" sz="1600" dirty="0">
                <a:solidFill>
                  <a:schemeClr val="bg1"/>
                </a:solidFill>
              </a:rPr>
              <a:t> a </a:t>
            </a:r>
            <a:r>
              <a:rPr lang="en-GB" sz="1600" dirty="0" err="1">
                <a:solidFill>
                  <a:schemeClr val="bg1"/>
                </a:solidFill>
              </a:rPr>
              <a:t>címeket</a:t>
            </a:r>
            <a:r>
              <a:rPr lang="en-GB" sz="1600" dirty="0">
                <a:solidFill>
                  <a:schemeClr val="bg1"/>
                </a:solidFill>
              </a:rPr>
              <a:t>, </a:t>
            </a:r>
            <a:r>
              <a:rPr lang="en-GB" sz="1600" dirty="0" err="1">
                <a:solidFill>
                  <a:schemeClr val="bg1"/>
                </a:solidFill>
              </a:rPr>
              <a:t>amiket</a:t>
            </a:r>
            <a:r>
              <a:rPr lang="en-GB" sz="1600" dirty="0">
                <a:solidFill>
                  <a:schemeClr val="bg1"/>
                </a:solidFill>
              </a:rPr>
              <a:t> </a:t>
            </a:r>
            <a:r>
              <a:rPr lang="en-GB" sz="1600" dirty="0" err="1">
                <a:solidFill>
                  <a:schemeClr val="bg1"/>
                </a:solidFill>
              </a:rPr>
              <a:t>korábban</a:t>
            </a:r>
            <a:r>
              <a:rPr lang="en-GB" sz="1600" dirty="0">
                <a:solidFill>
                  <a:schemeClr val="bg1"/>
                </a:solidFill>
              </a:rPr>
              <a:t> mi </a:t>
            </a:r>
            <a:r>
              <a:rPr lang="en-GB" sz="1600" dirty="0" err="1">
                <a:solidFill>
                  <a:schemeClr val="bg1"/>
                </a:solidFill>
              </a:rPr>
              <a:t>már</a:t>
            </a:r>
            <a:r>
              <a:rPr lang="en-GB" sz="1600" dirty="0">
                <a:solidFill>
                  <a:schemeClr val="bg1"/>
                </a:solidFill>
              </a:rPr>
              <a:t> </a:t>
            </a:r>
            <a:r>
              <a:rPr lang="en-GB" sz="1600" dirty="0" err="1">
                <a:solidFill>
                  <a:schemeClr val="bg1"/>
                </a:solidFill>
              </a:rPr>
              <a:t>feldolgoztunk</a:t>
            </a:r>
            <a:r>
              <a:rPr lang="en-GB" sz="1600" dirty="0">
                <a:solidFill>
                  <a:schemeClr val="bg1"/>
                </a:solidFill>
              </a:rPr>
              <a:t>.  📈</a:t>
            </a:r>
          </a:p>
        </p:txBody>
      </p:sp>
    </p:spTree>
    <p:extLst>
      <p:ext uri="{BB962C8B-B14F-4D97-AF65-F5344CB8AC3E}">
        <p14:creationId xmlns:p14="http://schemas.microsoft.com/office/powerpoint/2010/main" val="34165890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0FFF174-CEE5-8602-EEC4-CF14A9E3C8D5}"/>
            </a:ext>
          </a:extLst>
        </p:cNvPr>
        <p:cNvGrpSpPr/>
        <p:nvPr/>
      </p:nvGrpSpPr>
      <p:grpSpPr>
        <a:xfrm>
          <a:off x="0" y="0"/>
          <a:ext cx="0" cy="0"/>
          <a:chOff x="0" y="0"/>
          <a:chExt cx="0" cy="0"/>
        </a:xfrm>
      </p:grpSpPr>
      <p:pic>
        <p:nvPicPr>
          <p:cNvPr id="5" name="Picture 2">
            <a:extLst>
              <a:ext uri="{FF2B5EF4-FFF2-40B4-BE49-F238E27FC236}">
                <a16:creationId xmlns:a16="http://schemas.microsoft.com/office/drawing/2014/main" id="{EF1F01B2-CCFE-95B0-8DFC-62A9A4F91E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634302D-9775-B8E4-4EE9-1FA89279EAF9}"/>
              </a:ext>
            </a:extLst>
          </p:cNvPr>
          <p:cNvSpPr txBox="1"/>
          <p:nvPr/>
        </p:nvSpPr>
        <p:spPr>
          <a:xfrm>
            <a:off x="1872998" y="370214"/>
            <a:ext cx="3209276" cy="769441"/>
          </a:xfrm>
          <a:prstGeom prst="rect">
            <a:avLst/>
          </a:prstGeom>
          <a:noFill/>
        </p:spPr>
        <p:txBody>
          <a:bodyPr wrap="none" rtlCol="0">
            <a:spAutoFit/>
          </a:bodyPr>
          <a:lstStyle/>
          <a:p>
            <a:r>
              <a:rPr lang="hu-HU" sz="4400" dirty="0">
                <a:solidFill>
                  <a:schemeClr val="bg1"/>
                </a:solidFill>
              </a:rPr>
              <a:t>TÁMOGATÁS</a:t>
            </a:r>
          </a:p>
        </p:txBody>
      </p:sp>
      <p:pic>
        <p:nvPicPr>
          <p:cNvPr id="3" name="Picture 2">
            <a:extLst>
              <a:ext uri="{FF2B5EF4-FFF2-40B4-BE49-F238E27FC236}">
                <a16:creationId xmlns:a16="http://schemas.microsoft.com/office/drawing/2014/main" id="{EB8B752C-F172-A4A3-4B8B-F22D79AF96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4069" y="2205700"/>
            <a:ext cx="3574452" cy="4285281"/>
          </a:xfrm>
          <a:prstGeom prst="rect">
            <a:avLst/>
          </a:prstGeom>
        </p:spPr>
      </p:pic>
      <p:sp>
        <p:nvSpPr>
          <p:cNvPr id="7" name="TextBox 6">
            <a:extLst>
              <a:ext uri="{FF2B5EF4-FFF2-40B4-BE49-F238E27FC236}">
                <a16:creationId xmlns:a16="http://schemas.microsoft.com/office/drawing/2014/main" id="{0E2EA162-DA4A-0FAF-F9B0-37F0AFC839CB}"/>
              </a:ext>
            </a:extLst>
          </p:cNvPr>
          <p:cNvSpPr txBox="1"/>
          <p:nvPr/>
        </p:nvSpPr>
        <p:spPr>
          <a:xfrm>
            <a:off x="7487619" y="139381"/>
            <a:ext cx="4190354" cy="461665"/>
          </a:xfrm>
          <a:prstGeom prst="rect">
            <a:avLst/>
          </a:prstGeom>
          <a:noFill/>
        </p:spPr>
        <p:txBody>
          <a:bodyPr wrap="square">
            <a:spAutoFit/>
          </a:bodyPr>
          <a:lstStyle/>
          <a:p>
            <a:r>
              <a:rPr lang="en-GB" sz="2400" dirty="0">
                <a:solidFill>
                  <a:schemeClr val="bg1"/>
                </a:solidFill>
              </a:rPr>
              <a:t>https://yanac.hu/tamogatas/</a:t>
            </a:r>
          </a:p>
        </p:txBody>
      </p:sp>
      <p:sp>
        <p:nvSpPr>
          <p:cNvPr id="9" name="TextBox 8">
            <a:extLst>
              <a:ext uri="{FF2B5EF4-FFF2-40B4-BE49-F238E27FC236}">
                <a16:creationId xmlns:a16="http://schemas.microsoft.com/office/drawing/2014/main" id="{6AD6F9F8-3C96-DECA-AA88-BDB5859ADC61}"/>
              </a:ext>
            </a:extLst>
          </p:cNvPr>
          <p:cNvSpPr txBox="1"/>
          <p:nvPr/>
        </p:nvSpPr>
        <p:spPr>
          <a:xfrm>
            <a:off x="8173439" y="1443637"/>
            <a:ext cx="935712" cy="584775"/>
          </a:xfrm>
          <a:prstGeom prst="rect">
            <a:avLst/>
          </a:prstGeom>
          <a:noFill/>
        </p:spPr>
        <p:txBody>
          <a:bodyPr wrap="square">
            <a:spAutoFit/>
          </a:bodyPr>
          <a:lstStyle/>
          <a:p>
            <a:r>
              <a:rPr lang="hu-HU" sz="3200" dirty="0">
                <a:solidFill>
                  <a:schemeClr val="bg1"/>
                </a:solidFill>
              </a:rPr>
              <a:t>10 €</a:t>
            </a:r>
          </a:p>
        </p:txBody>
      </p:sp>
      <p:pic>
        <p:nvPicPr>
          <p:cNvPr id="13" name="Picture 12">
            <a:extLst>
              <a:ext uri="{FF2B5EF4-FFF2-40B4-BE49-F238E27FC236}">
                <a16:creationId xmlns:a16="http://schemas.microsoft.com/office/drawing/2014/main" id="{8AA19028-8DA2-A83D-B1CC-333E38128E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63481" y="2205700"/>
            <a:ext cx="3574452" cy="4285281"/>
          </a:xfrm>
          <a:prstGeom prst="rect">
            <a:avLst/>
          </a:prstGeom>
        </p:spPr>
      </p:pic>
      <p:sp>
        <p:nvSpPr>
          <p:cNvPr id="14" name="TextBox 13">
            <a:extLst>
              <a:ext uri="{FF2B5EF4-FFF2-40B4-BE49-F238E27FC236}">
                <a16:creationId xmlns:a16="http://schemas.microsoft.com/office/drawing/2014/main" id="{AEC12FEB-F7F1-25C9-5069-E302D397A3FC}"/>
              </a:ext>
            </a:extLst>
          </p:cNvPr>
          <p:cNvSpPr txBox="1"/>
          <p:nvPr/>
        </p:nvSpPr>
        <p:spPr>
          <a:xfrm>
            <a:off x="3136186" y="1443637"/>
            <a:ext cx="829041" cy="584775"/>
          </a:xfrm>
          <a:prstGeom prst="rect">
            <a:avLst/>
          </a:prstGeom>
          <a:noFill/>
        </p:spPr>
        <p:txBody>
          <a:bodyPr wrap="square">
            <a:spAutoFit/>
          </a:bodyPr>
          <a:lstStyle/>
          <a:p>
            <a:r>
              <a:rPr lang="hu-HU" sz="3200" dirty="0">
                <a:solidFill>
                  <a:schemeClr val="bg1"/>
                </a:solidFill>
              </a:rPr>
              <a:t>5 €</a:t>
            </a:r>
          </a:p>
        </p:txBody>
      </p:sp>
    </p:spTree>
    <p:extLst>
      <p:ext uri="{BB962C8B-B14F-4D97-AF65-F5344CB8AC3E}">
        <p14:creationId xmlns:p14="http://schemas.microsoft.com/office/powerpoint/2010/main" val="27193849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D2B6620E-CC54-212B-EBD7-9559AF5908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6FF17A8-2A06-5C7C-FFD6-5D761233B5BC}"/>
              </a:ext>
            </a:extLst>
          </p:cNvPr>
          <p:cNvSpPr txBox="1"/>
          <p:nvPr/>
        </p:nvSpPr>
        <p:spPr>
          <a:xfrm>
            <a:off x="1872998" y="370214"/>
            <a:ext cx="6661695" cy="769441"/>
          </a:xfrm>
          <a:prstGeom prst="rect">
            <a:avLst/>
          </a:prstGeom>
          <a:noFill/>
        </p:spPr>
        <p:txBody>
          <a:bodyPr wrap="none" rtlCol="0">
            <a:spAutoFit/>
          </a:bodyPr>
          <a:lstStyle/>
          <a:p>
            <a:r>
              <a:rPr lang="hu-HU" sz="4400" dirty="0">
                <a:solidFill>
                  <a:schemeClr val="bg1"/>
                </a:solidFill>
              </a:rPr>
              <a:t>KÖSZÖNÖM A FIGYELMET!</a:t>
            </a:r>
          </a:p>
        </p:txBody>
      </p:sp>
      <p:sp>
        <p:nvSpPr>
          <p:cNvPr id="8" name="TextBox 7">
            <a:extLst>
              <a:ext uri="{FF2B5EF4-FFF2-40B4-BE49-F238E27FC236}">
                <a16:creationId xmlns:a16="http://schemas.microsoft.com/office/drawing/2014/main" id="{9D7F81C3-05BB-B52A-1E42-41589BD6B5AB}"/>
              </a:ext>
            </a:extLst>
          </p:cNvPr>
          <p:cNvSpPr txBox="1"/>
          <p:nvPr/>
        </p:nvSpPr>
        <p:spPr>
          <a:xfrm>
            <a:off x="7591312" y="5824331"/>
            <a:ext cx="4411336" cy="769441"/>
          </a:xfrm>
          <a:prstGeom prst="rect">
            <a:avLst/>
          </a:prstGeom>
          <a:noFill/>
        </p:spPr>
        <p:txBody>
          <a:bodyPr wrap="none" rtlCol="0">
            <a:spAutoFit/>
          </a:bodyPr>
          <a:lstStyle/>
          <a:p>
            <a:r>
              <a:rPr lang="hu-HU" sz="4400" dirty="0">
                <a:solidFill>
                  <a:schemeClr val="bg1"/>
                </a:solidFill>
              </a:rPr>
              <a:t>https://yanac.hu/</a:t>
            </a:r>
          </a:p>
        </p:txBody>
      </p:sp>
      <p:pic>
        <p:nvPicPr>
          <p:cNvPr id="2050" name="Picture 2" descr="Photo fire alphabet question mark isolated on black background.">
            <a:extLst>
              <a:ext uri="{FF2B5EF4-FFF2-40B4-BE49-F238E27FC236}">
                <a16:creationId xmlns:a16="http://schemas.microsoft.com/office/drawing/2014/main" id="{C6B5AC52-8001-CCE9-0965-CE61AD77C2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10934" y="1880479"/>
            <a:ext cx="3570131" cy="35701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25480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C0A3E416-13B0-4CFE-8B85-8989D8AEFB5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333</TotalTime>
  <Words>1107</Words>
  <Application>Microsoft Office PowerPoint</Application>
  <PresentationFormat>Widescreen</PresentationFormat>
  <Paragraphs>199</Paragraphs>
  <Slides>14</Slides>
  <Notes>9</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Aptos Display</vt:lpstr>
      <vt:lpstr>Arial</vt:lpstr>
      <vt:lpstr>inherit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Peter Biro</dc:creator>
  <cp:lastModifiedBy>Peter Biro</cp:lastModifiedBy>
  <cp:revision>43</cp:revision>
  <dcterms:created xsi:type="dcterms:W3CDTF">2024-04-29T16:11:51Z</dcterms:created>
  <dcterms:modified xsi:type="dcterms:W3CDTF">2026-05-13T19:27:34Z</dcterms:modified>
</cp:coreProperties>
</file>